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4"/>
  </p:notesMasterIdLst>
  <p:sldIdLst>
    <p:sldId id="256" r:id="rId2"/>
    <p:sldId id="258" r:id="rId3"/>
    <p:sldId id="257" r:id="rId4"/>
    <p:sldId id="262" r:id="rId5"/>
    <p:sldId id="263" r:id="rId6"/>
    <p:sldId id="265" r:id="rId7"/>
    <p:sldId id="266" r:id="rId8"/>
    <p:sldId id="267" r:id="rId9"/>
    <p:sldId id="268" r:id="rId10"/>
    <p:sldId id="269" r:id="rId11"/>
    <p:sldId id="270" r:id="rId12"/>
    <p:sldId id="271" r:id="rId13"/>
    <p:sldId id="272" r:id="rId14"/>
    <p:sldId id="273" r:id="rId15"/>
    <p:sldId id="274" r:id="rId16"/>
    <p:sldId id="275" r:id="rId17"/>
    <p:sldId id="276" r:id="rId18"/>
    <p:sldId id="277" r:id="rId19"/>
    <p:sldId id="278" r:id="rId20"/>
    <p:sldId id="279" r:id="rId21"/>
    <p:sldId id="280" r:id="rId22"/>
    <p:sldId id="281" r:id="rId23"/>
    <p:sldId id="282" r:id="rId24"/>
    <p:sldId id="283" r:id="rId25"/>
    <p:sldId id="284" r:id="rId26"/>
    <p:sldId id="285" r:id="rId27"/>
    <p:sldId id="286" r:id="rId28"/>
    <p:sldId id="287" r:id="rId29"/>
    <p:sldId id="288" r:id="rId30"/>
    <p:sldId id="289" r:id="rId31"/>
    <p:sldId id="290" r:id="rId32"/>
    <p:sldId id="291" r:id="rId33"/>
    <p:sldId id="292" r:id="rId34"/>
    <p:sldId id="293" r:id="rId35"/>
    <p:sldId id="294" r:id="rId36"/>
    <p:sldId id="295" r:id="rId37"/>
    <p:sldId id="296" r:id="rId38"/>
    <p:sldId id="297" r:id="rId39"/>
    <p:sldId id="298" r:id="rId40"/>
    <p:sldId id="299" r:id="rId41"/>
    <p:sldId id="300" r:id="rId42"/>
    <p:sldId id="301" r:id="rId43"/>
  </p:sldIdLst>
  <p:sldSz cx="12680950" cy="71326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47" userDrawn="1">
          <p15:clr>
            <a:srgbClr val="A4A3A4"/>
          </p15:clr>
        </p15:guide>
        <p15:guide id="2" pos="399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B3041"/>
    <a:srgbClr val="001848"/>
    <a:srgbClr val="000000"/>
    <a:srgbClr val="F2C450"/>
    <a:srgbClr val="4B4B4B"/>
    <a:srgbClr val="853D17"/>
    <a:srgbClr val="FC885A"/>
    <a:srgbClr val="07186B"/>
    <a:srgbClr val="F8F8F8"/>
    <a:srgbClr val="4F129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79065" autoAdjust="0"/>
  </p:normalViewPr>
  <p:slideViewPr>
    <p:cSldViewPr snapToGrid="0">
      <p:cViewPr varScale="1">
        <p:scale>
          <a:sx n="50" d="100"/>
          <a:sy n="50" d="100"/>
        </p:scale>
        <p:origin x="1422" y="48"/>
      </p:cViewPr>
      <p:guideLst>
        <p:guide orient="horz" pos="2247"/>
        <p:guide pos="3994"/>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1" Type="http://schemas.openxmlformats.org/officeDocument/2006/relationships/image" Target="../media/image4.png"/></Relationships>
</file>

<file path=ppt/diagrams/_rels/drawing1.xml.rels><?xml version="1.0" encoding="UTF-8" standalone="yes"?>
<Relationships xmlns="http://schemas.openxmlformats.org/package/2006/relationships"><Relationship Id="rId1" Type="http://schemas.openxmlformats.org/officeDocument/2006/relationships/image" Target="../media/image4.png"/></Relationships>
</file>

<file path=ppt/diagrams/colors1.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7A7F2F9-14D9-4E94-AE36-CDC4740E4819}" type="doc">
      <dgm:prSet loTypeId="urn:microsoft.com/office/officeart/2005/8/layout/vList3" loCatId="list" qsTypeId="urn:microsoft.com/office/officeart/2005/8/quickstyle/simple1" qsCatId="simple" csTypeId="urn:microsoft.com/office/officeart/2005/8/colors/accent1_5" csCatId="accent1" phldr="1"/>
      <dgm:spPr/>
      <dgm:t>
        <a:bodyPr/>
        <a:lstStyle/>
        <a:p>
          <a:endParaRPr lang="en-US"/>
        </a:p>
      </dgm:t>
    </dgm:pt>
    <dgm:pt modelId="{D1068633-137A-4744-86F3-7F375EC12F67}">
      <dgm:prSet phldrT="[Text]" phldr="0" custT="1"/>
      <dgm:spPr>
        <a:solidFill>
          <a:schemeClr val="bg1">
            <a:lumMod val="50000"/>
            <a:alpha val="47000"/>
          </a:schemeClr>
        </a:solidFill>
        <a:effectLst>
          <a:outerShdw blurRad="50800" dist="50800" dir="5400000" algn="ctr" rotWithShape="0">
            <a:srgbClr val="000000"/>
          </a:outerShdw>
          <a:reflection endPos="0" dist="50800" dir="5400000" sy="-100000" algn="bl" rotWithShape="0"/>
        </a:effectLst>
      </dgm:spPr>
      <dgm:t>
        <a:bodyPr/>
        <a:lstStyle/>
        <a:p>
          <a:r>
            <a:rPr lang="en-US" sz="2800" b="1" dirty="0">
              <a:latin typeface="Amasis MT Pro Black" panose="02040A04050005020304" pitchFamily="18" charset="0"/>
            </a:rPr>
            <a:t>TOOLS USED</a:t>
          </a:r>
        </a:p>
      </dgm:t>
    </dgm:pt>
    <dgm:pt modelId="{BD7A429A-4655-4DEC-9A23-3FF47E87A157}" type="parTrans" cxnId="{83E016F7-9C28-4CB0-B180-05852A048FEB}">
      <dgm:prSet/>
      <dgm:spPr/>
      <dgm:t>
        <a:bodyPr/>
        <a:lstStyle/>
        <a:p>
          <a:endParaRPr lang="en-US"/>
        </a:p>
      </dgm:t>
    </dgm:pt>
    <dgm:pt modelId="{3B52AA39-E67B-4CC6-AF97-DA754114A3A7}" type="sibTrans" cxnId="{83E016F7-9C28-4CB0-B180-05852A048FEB}">
      <dgm:prSet/>
      <dgm:spPr/>
      <dgm:t>
        <a:bodyPr/>
        <a:lstStyle/>
        <a:p>
          <a:endParaRPr lang="en-US"/>
        </a:p>
      </dgm:t>
    </dgm:pt>
    <dgm:pt modelId="{C116232F-47E0-4FF4-9FDC-B4C23A5FDCF7}" type="pres">
      <dgm:prSet presAssocID="{27A7F2F9-14D9-4E94-AE36-CDC4740E4819}" presName="linearFlow" presStyleCnt="0">
        <dgm:presLayoutVars>
          <dgm:dir/>
          <dgm:resizeHandles val="exact"/>
        </dgm:presLayoutVars>
      </dgm:prSet>
      <dgm:spPr/>
    </dgm:pt>
    <dgm:pt modelId="{161B4C08-0541-49BD-98C1-8FFFC1BE9CA4}" type="pres">
      <dgm:prSet presAssocID="{D1068633-137A-4744-86F3-7F375EC12F67}" presName="composite" presStyleCnt="0"/>
      <dgm:spPr/>
    </dgm:pt>
    <dgm:pt modelId="{701568F6-F54E-436A-8AFF-41BE5FCA1437}" type="pres">
      <dgm:prSet presAssocID="{D1068633-137A-4744-86F3-7F375EC12F67}" presName="imgShp" presStyleLbl="fgImgPlace1" presStyleIdx="0" presStyleCnt="1"/>
      <dgm:spPr>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l="-25000" r="-25000"/>
          </a:stretch>
        </a:blipFill>
        <a:ln>
          <a:solidFill>
            <a:schemeClr val="bg2">
              <a:lumMod val="10000"/>
            </a:schemeClr>
          </a:solidFill>
        </a:ln>
        <a:effectLst>
          <a:reflection endPos="0" dist="50800" dir="5400000" sy="-100000" algn="bl" rotWithShape="0"/>
        </a:effectLst>
      </dgm:spPr>
      <dgm:extLst>
        <a:ext uri="{E40237B7-FDA0-4F09-8148-C483321AD2D9}">
          <dgm14:cNvPr xmlns:dgm14="http://schemas.microsoft.com/office/drawing/2010/diagram" id="0" name="" descr="A logo of a dolphin&#10;&#10;AI-generated content may be incorrect.">
            <a:extLst>
              <a:ext uri="{FF2B5EF4-FFF2-40B4-BE49-F238E27FC236}">
                <a16:creationId xmlns:a16="http://schemas.microsoft.com/office/drawing/2014/main" id="{ED02F0D9-8287-7AD1-F59E-EF82B3058D2E}"/>
              </a:ext>
            </a:extLst>
          </dgm14:cNvPr>
        </a:ext>
      </dgm:extLst>
    </dgm:pt>
    <dgm:pt modelId="{65177767-6B5F-4065-9AFB-FB1A86ED9493}" type="pres">
      <dgm:prSet presAssocID="{D1068633-137A-4744-86F3-7F375EC12F67}" presName="txShp" presStyleLbl="node1" presStyleIdx="0" presStyleCnt="1" custLinFactNeighborX="-3418" custLinFactNeighborY="6208">
        <dgm:presLayoutVars>
          <dgm:bulletEnabled val="1"/>
        </dgm:presLayoutVars>
      </dgm:prSet>
      <dgm:spPr/>
    </dgm:pt>
  </dgm:ptLst>
  <dgm:cxnLst>
    <dgm:cxn modelId="{47BDF003-7D2C-462F-855D-3283BE114B12}" type="presOf" srcId="{D1068633-137A-4744-86F3-7F375EC12F67}" destId="{65177767-6B5F-4065-9AFB-FB1A86ED9493}" srcOrd="0" destOrd="0" presId="urn:microsoft.com/office/officeart/2005/8/layout/vList3"/>
    <dgm:cxn modelId="{61333052-BA65-44DA-B2B0-F02451BE4A05}" type="presOf" srcId="{27A7F2F9-14D9-4E94-AE36-CDC4740E4819}" destId="{C116232F-47E0-4FF4-9FDC-B4C23A5FDCF7}" srcOrd="0" destOrd="0" presId="urn:microsoft.com/office/officeart/2005/8/layout/vList3"/>
    <dgm:cxn modelId="{83E016F7-9C28-4CB0-B180-05852A048FEB}" srcId="{27A7F2F9-14D9-4E94-AE36-CDC4740E4819}" destId="{D1068633-137A-4744-86F3-7F375EC12F67}" srcOrd="0" destOrd="0" parTransId="{BD7A429A-4655-4DEC-9A23-3FF47E87A157}" sibTransId="{3B52AA39-E67B-4CC6-AF97-DA754114A3A7}"/>
    <dgm:cxn modelId="{78A7821D-6D73-4772-9107-FFA6D1F4DA59}" type="presParOf" srcId="{C116232F-47E0-4FF4-9FDC-B4C23A5FDCF7}" destId="{161B4C08-0541-49BD-98C1-8FFFC1BE9CA4}" srcOrd="0" destOrd="0" presId="urn:microsoft.com/office/officeart/2005/8/layout/vList3"/>
    <dgm:cxn modelId="{CFF0C463-579C-46E3-8230-6B2D02B7C56C}" type="presParOf" srcId="{161B4C08-0541-49BD-98C1-8FFFC1BE9CA4}" destId="{701568F6-F54E-436A-8AFF-41BE5FCA1437}" srcOrd="0" destOrd="0" presId="urn:microsoft.com/office/officeart/2005/8/layout/vList3"/>
    <dgm:cxn modelId="{52A29BBD-9A5F-4F51-A270-B3ED6BCD4A59}" type="presParOf" srcId="{161B4C08-0541-49BD-98C1-8FFFC1BE9CA4}" destId="{65177767-6B5F-4065-9AFB-FB1A86ED9493}" srcOrd="1" destOrd="0" presId="urn:microsoft.com/office/officeart/2005/8/layout/vList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177767-6B5F-4065-9AFB-FB1A86ED9493}">
      <dsp:nvSpPr>
        <dsp:cNvPr id="0" name=""/>
        <dsp:cNvSpPr/>
      </dsp:nvSpPr>
      <dsp:spPr>
        <a:xfrm rot="10800000">
          <a:off x="809143" y="419437"/>
          <a:ext cx="2354630" cy="1186166"/>
        </a:xfrm>
        <a:prstGeom prst="homePlate">
          <a:avLst/>
        </a:prstGeom>
        <a:solidFill>
          <a:schemeClr val="bg1">
            <a:lumMod val="50000"/>
            <a:alpha val="47000"/>
          </a:schemeClr>
        </a:solidFill>
        <a:ln w="19050" cap="flat" cmpd="sng" algn="ctr">
          <a:solidFill>
            <a:schemeClr val="lt1">
              <a:hueOff val="0"/>
              <a:satOff val="0"/>
              <a:lumOff val="0"/>
              <a:alphaOff val="0"/>
            </a:schemeClr>
          </a:solidFill>
          <a:prstDash val="solid"/>
          <a:miter lim="800000"/>
        </a:ln>
        <a:effectLst>
          <a:outerShdw blurRad="50800" dist="50800" dir="5400000" algn="ctr" rotWithShape="0">
            <a:srgbClr val="000000"/>
          </a:outerShdw>
          <a:reflection endPos="0" dist="50800" dir="5400000" sy="-100000" algn="bl" rotWithShape="0"/>
        </a:effectLst>
      </dsp:spPr>
      <dsp:style>
        <a:lnRef idx="2">
          <a:scrgbClr r="0" g="0" b="0"/>
        </a:lnRef>
        <a:fillRef idx="1">
          <a:scrgbClr r="0" g="0" b="0"/>
        </a:fillRef>
        <a:effectRef idx="0">
          <a:scrgbClr r="0" g="0" b="0"/>
        </a:effectRef>
        <a:fontRef idx="minor">
          <a:schemeClr val="lt1"/>
        </a:fontRef>
      </dsp:style>
      <dsp:txBody>
        <a:bodyPr spcFirstLastPara="0" vert="horz" wrap="square" lIns="523067" tIns="106680" rIns="199136"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a:latin typeface="Amasis MT Pro Black" panose="02040A04050005020304" pitchFamily="18" charset="0"/>
            </a:rPr>
            <a:t>TOOLS USED</a:t>
          </a:r>
        </a:p>
      </dsp:txBody>
      <dsp:txXfrm rot="10800000">
        <a:off x="1105684" y="419437"/>
        <a:ext cx="2058089" cy="1186166"/>
      </dsp:txXfrm>
    </dsp:sp>
    <dsp:sp modelId="{701568F6-F54E-436A-8AFF-41BE5FCA1437}">
      <dsp:nvSpPr>
        <dsp:cNvPr id="0" name=""/>
        <dsp:cNvSpPr/>
      </dsp:nvSpPr>
      <dsp:spPr>
        <a:xfrm>
          <a:off x="296541" y="345800"/>
          <a:ext cx="1186166" cy="1186166"/>
        </a:xfrm>
        <a:prstGeom prst="ellipse">
          <a:avLst/>
        </a:prstGeom>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l="-25000" r="-25000"/>
          </a:stretch>
        </a:blipFill>
        <a:ln w="19050" cap="flat" cmpd="sng" algn="ctr">
          <a:solidFill>
            <a:schemeClr val="bg2">
              <a:lumMod val="10000"/>
            </a:schemeClr>
          </a:solidFill>
          <a:prstDash val="solid"/>
          <a:miter lim="800000"/>
        </a:ln>
        <a:effectLst>
          <a:reflection endPos="0" dist="50800" dir="5400000" sy="-100000" algn="bl" rotWithShape="0"/>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3T11:57:37.491"/>
    </inkml:context>
    <inkml:brush xml:id="br0">
      <inkml:brushProperty name="width" value="0.035" units="cm"/>
      <inkml:brushProperty name="height" value="0.035" units="cm"/>
      <inkml:brushProperty name="color" value="#BB5B18"/>
      <inkml:brushProperty name="inkEffects" value="bronze"/>
      <inkml:brushProperty name="anchorX" value="-5103.28857"/>
      <inkml:brushProperty name="anchorY" value="-205.55835"/>
      <inkml:brushProperty name="scaleFactor" value="0.5"/>
    </inkml:brush>
  </inkml:definitions>
  <inkml:trace contextRef="#ctx0" brushRef="#br0">1 0 24575,'0'0'0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23T12:06:04.153"/>
    </inkml:context>
    <inkml:brush xml:id="br0">
      <inkml:brushProperty name="width" value="0.035" units="cm"/>
      <inkml:brushProperty name="height" value="0.035" units="cm"/>
      <inkml:brushProperty name="color" value="#F8F8F8"/>
      <inkml:brushProperty name="ignorePressure" value="1"/>
    </inkml:brush>
  </inkml:definitions>
  <inkml:trace contextRef="#ctx0" brushRef="#br0">1 1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0411FF-A5FB-4A85-A9E4-9E1CCACB6A14}" type="datetimeFigureOut">
              <a:rPr lang="en-US" smtClean="0"/>
              <a:t>12/27/2025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DCC6CF-951B-4C57-A596-3AAE11A80A46}" type="slidenum">
              <a:rPr lang="en-US" smtClean="0"/>
              <a:t>‹#›</a:t>
            </a:fld>
            <a:endParaRPr lang="en-US"/>
          </a:p>
        </p:txBody>
      </p:sp>
    </p:spTree>
    <p:extLst>
      <p:ext uri="{BB962C8B-B14F-4D97-AF65-F5344CB8AC3E}">
        <p14:creationId xmlns:p14="http://schemas.microsoft.com/office/powerpoint/2010/main" val="5925493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DCC6CF-951B-4C57-A596-3AAE11A80A46}" type="slidenum">
              <a:rPr lang="en-US" smtClean="0"/>
              <a:t>3</a:t>
            </a:fld>
            <a:endParaRPr lang="en-US"/>
          </a:p>
        </p:txBody>
      </p:sp>
    </p:spTree>
    <p:extLst>
      <p:ext uri="{BB962C8B-B14F-4D97-AF65-F5344CB8AC3E}">
        <p14:creationId xmlns:p14="http://schemas.microsoft.com/office/powerpoint/2010/main" val="32443591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DCC6CF-951B-4C57-A596-3AAE11A80A46}" type="slidenum">
              <a:rPr lang="en-US" smtClean="0"/>
              <a:t>18</a:t>
            </a:fld>
            <a:endParaRPr lang="en-US"/>
          </a:p>
        </p:txBody>
      </p:sp>
    </p:spTree>
    <p:extLst>
      <p:ext uri="{BB962C8B-B14F-4D97-AF65-F5344CB8AC3E}">
        <p14:creationId xmlns:p14="http://schemas.microsoft.com/office/powerpoint/2010/main" val="38281715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DCC6CF-951B-4C57-A596-3AAE11A80A46}" type="slidenum">
              <a:rPr lang="en-US" smtClean="0"/>
              <a:t>35</a:t>
            </a:fld>
            <a:endParaRPr lang="en-US"/>
          </a:p>
        </p:txBody>
      </p:sp>
    </p:spTree>
    <p:extLst>
      <p:ext uri="{BB962C8B-B14F-4D97-AF65-F5344CB8AC3E}">
        <p14:creationId xmlns:p14="http://schemas.microsoft.com/office/powerpoint/2010/main" val="12590222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25801-6D4A-B12D-DFA0-3CF3811D0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CC2566-7DA8-61C0-775F-5CD57A3ED8E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4777B05-DCEA-9E3B-95E2-B908B964C7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8E030A-278E-4D43-5E0F-3B05C9A6C047}"/>
              </a:ext>
            </a:extLst>
          </p:cNvPr>
          <p:cNvSpPr>
            <a:spLocks noGrp="1"/>
          </p:cNvSpPr>
          <p:nvPr>
            <p:ph type="sldNum" sz="quarter" idx="5"/>
          </p:nvPr>
        </p:nvSpPr>
        <p:spPr/>
        <p:txBody>
          <a:bodyPr/>
          <a:lstStyle/>
          <a:p>
            <a:fld id="{92DCC6CF-951B-4C57-A596-3AAE11A80A46}" type="slidenum">
              <a:rPr lang="en-US" smtClean="0"/>
              <a:t>36</a:t>
            </a:fld>
            <a:endParaRPr lang="en-US"/>
          </a:p>
        </p:txBody>
      </p:sp>
    </p:spTree>
    <p:extLst>
      <p:ext uri="{BB962C8B-B14F-4D97-AF65-F5344CB8AC3E}">
        <p14:creationId xmlns:p14="http://schemas.microsoft.com/office/powerpoint/2010/main" val="39653873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D7343-8DAA-92BE-7912-BA6E5976EC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D3A471-2C7F-2DBB-34B1-6B6BBAB213D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C684F9F-A9F2-EB8A-E8FF-782B5B5DAD3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D97B89-B6DB-CEA0-F1E4-C78846F8ACDB}"/>
              </a:ext>
            </a:extLst>
          </p:cNvPr>
          <p:cNvSpPr>
            <a:spLocks noGrp="1"/>
          </p:cNvSpPr>
          <p:nvPr>
            <p:ph type="sldNum" sz="quarter" idx="5"/>
          </p:nvPr>
        </p:nvSpPr>
        <p:spPr/>
        <p:txBody>
          <a:bodyPr/>
          <a:lstStyle/>
          <a:p>
            <a:fld id="{92DCC6CF-951B-4C57-A596-3AAE11A80A46}" type="slidenum">
              <a:rPr lang="en-US" smtClean="0"/>
              <a:t>37</a:t>
            </a:fld>
            <a:endParaRPr lang="en-US"/>
          </a:p>
        </p:txBody>
      </p:sp>
    </p:spTree>
    <p:extLst>
      <p:ext uri="{BB962C8B-B14F-4D97-AF65-F5344CB8AC3E}">
        <p14:creationId xmlns:p14="http://schemas.microsoft.com/office/powerpoint/2010/main" val="25122987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4EC5B-C988-DC8E-9B16-7FB072AD9E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00C191-9B53-CD92-D2C7-813E9270002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075F285-4461-7F1D-CBDE-D8BAFBDA8E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4B12CF-9BCF-A57F-66B8-80C89F0E132E}"/>
              </a:ext>
            </a:extLst>
          </p:cNvPr>
          <p:cNvSpPr>
            <a:spLocks noGrp="1"/>
          </p:cNvSpPr>
          <p:nvPr>
            <p:ph type="sldNum" sz="quarter" idx="5"/>
          </p:nvPr>
        </p:nvSpPr>
        <p:spPr/>
        <p:txBody>
          <a:bodyPr/>
          <a:lstStyle/>
          <a:p>
            <a:fld id="{92DCC6CF-951B-4C57-A596-3AAE11A80A46}" type="slidenum">
              <a:rPr lang="en-US" smtClean="0"/>
              <a:t>38</a:t>
            </a:fld>
            <a:endParaRPr lang="en-US"/>
          </a:p>
        </p:txBody>
      </p:sp>
    </p:spTree>
    <p:extLst>
      <p:ext uri="{BB962C8B-B14F-4D97-AF65-F5344CB8AC3E}">
        <p14:creationId xmlns:p14="http://schemas.microsoft.com/office/powerpoint/2010/main" val="5810849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E9C6E-5F7E-A2E1-84DA-74576B8C7B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E0106D-BD98-CB8E-8D0F-2558663559D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0B01A7A-DFE1-C242-C44C-9BAA1568EB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EF521B-286B-F236-58B9-C4B7AD7B3E02}"/>
              </a:ext>
            </a:extLst>
          </p:cNvPr>
          <p:cNvSpPr>
            <a:spLocks noGrp="1"/>
          </p:cNvSpPr>
          <p:nvPr>
            <p:ph type="sldNum" sz="quarter" idx="5"/>
          </p:nvPr>
        </p:nvSpPr>
        <p:spPr/>
        <p:txBody>
          <a:bodyPr/>
          <a:lstStyle/>
          <a:p>
            <a:fld id="{92DCC6CF-951B-4C57-A596-3AAE11A80A46}" type="slidenum">
              <a:rPr lang="en-US" smtClean="0"/>
              <a:t>39</a:t>
            </a:fld>
            <a:endParaRPr lang="en-US"/>
          </a:p>
        </p:txBody>
      </p:sp>
    </p:spTree>
    <p:extLst>
      <p:ext uri="{BB962C8B-B14F-4D97-AF65-F5344CB8AC3E}">
        <p14:creationId xmlns:p14="http://schemas.microsoft.com/office/powerpoint/2010/main" val="3472398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89689-EB85-C5DC-E7A6-7DF17DAC2A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D2432F-1AD2-9A2D-D9E9-C451BBB2AC2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165FEEA-08DC-F9D8-644C-1F696B54A5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A48205-6315-13A4-D23C-09156E41F1C4}"/>
              </a:ext>
            </a:extLst>
          </p:cNvPr>
          <p:cNvSpPr>
            <a:spLocks noGrp="1"/>
          </p:cNvSpPr>
          <p:nvPr>
            <p:ph type="sldNum" sz="quarter" idx="5"/>
          </p:nvPr>
        </p:nvSpPr>
        <p:spPr/>
        <p:txBody>
          <a:bodyPr/>
          <a:lstStyle/>
          <a:p>
            <a:fld id="{92DCC6CF-951B-4C57-A596-3AAE11A80A46}" type="slidenum">
              <a:rPr lang="en-US" smtClean="0"/>
              <a:t>40</a:t>
            </a:fld>
            <a:endParaRPr lang="en-US"/>
          </a:p>
        </p:txBody>
      </p:sp>
    </p:spTree>
    <p:extLst>
      <p:ext uri="{BB962C8B-B14F-4D97-AF65-F5344CB8AC3E}">
        <p14:creationId xmlns:p14="http://schemas.microsoft.com/office/powerpoint/2010/main" val="38222041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B7A34-FFEA-22DD-070B-091BD7BD4A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B6BDF5-6AA3-0BB6-67A0-747EC646C47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1788029-47E7-C286-3630-C2076B7F84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A4B35A-BC4E-02DC-0140-4BCE71AC454B}"/>
              </a:ext>
            </a:extLst>
          </p:cNvPr>
          <p:cNvSpPr>
            <a:spLocks noGrp="1"/>
          </p:cNvSpPr>
          <p:nvPr>
            <p:ph type="sldNum" sz="quarter" idx="5"/>
          </p:nvPr>
        </p:nvSpPr>
        <p:spPr/>
        <p:txBody>
          <a:bodyPr/>
          <a:lstStyle/>
          <a:p>
            <a:fld id="{92DCC6CF-951B-4C57-A596-3AAE11A80A46}" type="slidenum">
              <a:rPr lang="en-US" smtClean="0"/>
              <a:t>41</a:t>
            </a:fld>
            <a:endParaRPr lang="en-US"/>
          </a:p>
        </p:txBody>
      </p:sp>
    </p:spTree>
    <p:extLst>
      <p:ext uri="{BB962C8B-B14F-4D97-AF65-F5344CB8AC3E}">
        <p14:creationId xmlns:p14="http://schemas.microsoft.com/office/powerpoint/2010/main" val="20237673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E5392-5594-FC16-C28D-58C19DD2D8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317FE2-3C60-4714-DC59-D43290B4C1D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F470A83-ADEA-0015-482B-AD3C4256EC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ABA242-5875-916C-0F0B-7491A4E5E894}"/>
              </a:ext>
            </a:extLst>
          </p:cNvPr>
          <p:cNvSpPr>
            <a:spLocks noGrp="1"/>
          </p:cNvSpPr>
          <p:nvPr>
            <p:ph type="sldNum" sz="quarter" idx="5"/>
          </p:nvPr>
        </p:nvSpPr>
        <p:spPr/>
        <p:txBody>
          <a:bodyPr/>
          <a:lstStyle/>
          <a:p>
            <a:fld id="{92DCC6CF-951B-4C57-A596-3AAE11A80A46}" type="slidenum">
              <a:rPr lang="en-US" smtClean="0"/>
              <a:t>42</a:t>
            </a:fld>
            <a:endParaRPr lang="en-US"/>
          </a:p>
        </p:txBody>
      </p:sp>
    </p:spTree>
    <p:extLst>
      <p:ext uri="{BB962C8B-B14F-4D97-AF65-F5344CB8AC3E}">
        <p14:creationId xmlns:p14="http://schemas.microsoft.com/office/powerpoint/2010/main" val="22892423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85119" y="1167309"/>
            <a:ext cx="9510713" cy="2483215"/>
          </a:xfrm>
        </p:spPr>
        <p:txBody>
          <a:bodyPr anchor="b"/>
          <a:lstStyle>
            <a:lvl1pPr algn="ctr">
              <a:defRPr sz="6240"/>
            </a:lvl1pPr>
          </a:lstStyle>
          <a:p>
            <a:r>
              <a:rPr lang="en-US"/>
              <a:t>Click to edit Master title style</a:t>
            </a:r>
            <a:endParaRPr lang="en-US" dirty="0"/>
          </a:p>
        </p:txBody>
      </p:sp>
      <p:sp>
        <p:nvSpPr>
          <p:cNvPr id="3" name="Subtitle 2"/>
          <p:cNvSpPr>
            <a:spLocks noGrp="1"/>
          </p:cNvSpPr>
          <p:nvPr>
            <p:ph type="subTitle" idx="1"/>
          </p:nvPr>
        </p:nvSpPr>
        <p:spPr>
          <a:xfrm>
            <a:off x="1585119" y="3746287"/>
            <a:ext cx="9510713" cy="1722069"/>
          </a:xfrm>
        </p:spPr>
        <p:txBody>
          <a:bodyPr/>
          <a:lstStyle>
            <a:lvl1pPr marL="0" indent="0" algn="ctr">
              <a:buNone/>
              <a:defRPr sz="2496"/>
            </a:lvl1pPr>
            <a:lvl2pPr marL="475488" indent="0" algn="ctr">
              <a:buNone/>
              <a:defRPr sz="2080"/>
            </a:lvl2pPr>
            <a:lvl3pPr marL="950976" indent="0" algn="ctr">
              <a:buNone/>
              <a:defRPr sz="1872"/>
            </a:lvl3pPr>
            <a:lvl4pPr marL="1426464" indent="0" algn="ctr">
              <a:buNone/>
              <a:defRPr sz="1664"/>
            </a:lvl4pPr>
            <a:lvl5pPr marL="1901952" indent="0" algn="ctr">
              <a:buNone/>
              <a:defRPr sz="1664"/>
            </a:lvl5pPr>
            <a:lvl6pPr marL="2377440" indent="0" algn="ctr">
              <a:buNone/>
              <a:defRPr sz="1664"/>
            </a:lvl6pPr>
            <a:lvl7pPr marL="2852928" indent="0" algn="ctr">
              <a:buNone/>
              <a:defRPr sz="1664"/>
            </a:lvl7pPr>
            <a:lvl8pPr marL="3328416" indent="0" algn="ctr">
              <a:buNone/>
              <a:defRPr sz="1664"/>
            </a:lvl8pPr>
            <a:lvl9pPr marL="3803904" indent="0" algn="ctr">
              <a:buNone/>
              <a:defRPr sz="1664"/>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A21166D-FE03-4DF2-9999-3D5B67B9698F}" type="datetimeFigureOut">
              <a:rPr lang="en-US" smtClean="0"/>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EDBCDD-F2DD-4BC2-A038-D5DE417FB1E9}" type="slidenum">
              <a:rPr lang="en-US" smtClean="0"/>
              <a:t>‹#›</a:t>
            </a:fld>
            <a:endParaRPr lang="en-US"/>
          </a:p>
        </p:txBody>
      </p:sp>
    </p:spTree>
    <p:extLst>
      <p:ext uri="{BB962C8B-B14F-4D97-AF65-F5344CB8AC3E}">
        <p14:creationId xmlns:p14="http://schemas.microsoft.com/office/powerpoint/2010/main" val="571559593"/>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A21166D-FE03-4DF2-9999-3D5B67B9698F}" type="datetimeFigureOut">
              <a:rPr lang="en-US" smtClean="0"/>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EDBCDD-F2DD-4BC2-A038-D5DE417FB1E9}" type="slidenum">
              <a:rPr lang="en-US" smtClean="0"/>
              <a:t>‹#›</a:t>
            </a:fld>
            <a:endParaRPr lang="en-US"/>
          </a:p>
        </p:txBody>
      </p:sp>
    </p:spTree>
    <p:extLst>
      <p:ext uri="{BB962C8B-B14F-4D97-AF65-F5344CB8AC3E}">
        <p14:creationId xmlns:p14="http://schemas.microsoft.com/office/powerpoint/2010/main" val="3124272981"/>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5211" y="1778207"/>
            <a:ext cx="10937319" cy="2966979"/>
          </a:xfrm>
        </p:spPr>
        <p:txBody>
          <a:bodyPr anchor="b"/>
          <a:lstStyle>
            <a:lvl1pPr>
              <a:defRPr sz="6240"/>
            </a:lvl1pPr>
          </a:lstStyle>
          <a:p>
            <a:r>
              <a:rPr lang="en-US"/>
              <a:t>Click to edit Master title style</a:t>
            </a:r>
            <a:endParaRPr lang="en-US" dirty="0"/>
          </a:p>
        </p:txBody>
      </p:sp>
      <p:sp>
        <p:nvSpPr>
          <p:cNvPr id="3" name="Text Placeholder 2"/>
          <p:cNvSpPr>
            <a:spLocks noGrp="1"/>
          </p:cNvSpPr>
          <p:nvPr>
            <p:ph type="body" idx="1"/>
          </p:nvPr>
        </p:nvSpPr>
        <p:spPr>
          <a:xfrm>
            <a:off x="865211" y="4773255"/>
            <a:ext cx="10937319" cy="1560264"/>
          </a:xfrm>
        </p:spPr>
        <p:txBody>
          <a:bodyPr/>
          <a:lstStyle>
            <a:lvl1pPr marL="0" indent="0">
              <a:buNone/>
              <a:defRPr sz="2496">
                <a:solidFill>
                  <a:schemeClr val="tx1">
                    <a:tint val="82000"/>
                  </a:schemeClr>
                </a:solidFill>
              </a:defRPr>
            </a:lvl1pPr>
            <a:lvl2pPr marL="475488" indent="0">
              <a:buNone/>
              <a:defRPr sz="2080">
                <a:solidFill>
                  <a:schemeClr val="tx1">
                    <a:tint val="82000"/>
                  </a:schemeClr>
                </a:solidFill>
              </a:defRPr>
            </a:lvl2pPr>
            <a:lvl3pPr marL="950976" indent="0">
              <a:buNone/>
              <a:defRPr sz="1872">
                <a:solidFill>
                  <a:schemeClr val="tx1">
                    <a:tint val="82000"/>
                  </a:schemeClr>
                </a:solidFill>
              </a:defRPr>
            </a:lvl3pPr>
            <a:lvl4pPr marL="1426464" indent="0">
              <a:buNone/>
              <a:defRPr sz="1664">
                <a:solidFill>
                  <a:schemeClr val="tx1">
                    <a:tint val="82000"/>
                  </a:schemeClr>
                </a:solidFill>
              </a:defRPr>
            </a:lvl4pPr>
            <a:lvl5pPr marL="1901952" indent="0">
              <a:buNone/>
              <a:defRPr sz="1664">
                <a:solidFill>
                  <a:schemeClr val="tx1">
                    <a:tint val="82000"/>
                  </a:schemeClr>
                </a:solidFill>
              </a:defRPr>
            </a:lvl5pPr>
            <a:lvl6pPr marL="2377440" indent="0">
              <a:buNone/>
              <a:defRPr sz="1664">
                <a:solidFill>
                  <a:schemeClr val="tx1">
                    <a:tint val="82000"/>
                  </a:schemeClr>
                </a:solidFill>
              </a:defRPr>
            </a:lvl6pPr>
            <a:lvl7pPr marL="2852928" indent="0">
              <a:buNone/>
              <a:defRPr sz="1664">
                <a:solidFill>
                  <a:schemeClr val="tx1">
                    <a:tint val="82000"/>
                  </a:schemeClr>
                </a:solidFill>
              </a:defRPr>
            </a:lvl7pPr>
            <a:lvl8pPr marL="3328416" indent="0">
              <a:buNone/>
              <a:defRPr sz="1664">
                <a:solidFill>
                  <a:schemeClr val="tx1">
                    <a:tint val="82000"/>
                  </a:schemeClr>
                </a:solidFill>
              </a:defRPr>
            </a:lvl8pPr>
            <a:lvl9pPr marL="3803904" indent="0">
              <a:buNone/>
              <a:defRPr sz="1664">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A21166D-FE03-4DF2-9999-3D5B67B9698F}" type="datetimeFigureOut">
              <a:rPr lang="en-US" smtClean="0"/>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EDBCDD-F2DD-4BC2-A038-D5DE417FB1E9}" type="slidenum">
              <a:rPr lang="en-US" smtClean="0"/>
              <a:t>‹#›</a:t>
            </a:fld>
            <a:endParaRPr lang="en-US"/>
          </a:p>
        </p:txBody>
      </p:sp>
    </p:spTree>
    <p:extLst>
      <p:ext uri="{BB962C8B-B14F-4D97-AF65-F5344CB8AC3E}">
        <p14:creationId xmlns:p14="http://schemas.microsoft.com/office/powerpoint/2010/main" val="4187799804"/>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71815" y="1898735"/>
            <a:ext cx="5389404" cy="45255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9731" y="1898735"/>
            <a:ext cx="5389404" cy="45255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A21166D-FE03-4DF2-9999-3D5B67B9698F}" type="datetimeFigureOut">
              <a:rPr lang="en-US" smtClean="0"/>
              <a:t>12/27/2025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EDBCDD-F2DD-4BC2-A038-D5DE417FB1E9}" type="slidenum">
              <a:rPr lang="en-US" smtClean="0"/>
              <a:t>‹#›</a:t>
            </a:fld>
            <a:endParaRPr lang="en-US"/>
          </a:p>
        </p:txBody>
      </p:sp>
    </p:spTree>
    <p:extLst>
      <p:ext uri="{BB962C8B-B14F-4D97-AF65-F5344CB8AC3E}">
        <p14:creationId xmlns:p14="http://schemas.microsoft.com/office/powerpoint/2010/main" val="3612101199"/>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73467" y="379747"/>
            <a:ext cx="10937319" cy="137864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73467" y="1748487"/>
            <a:ext cx="5364636" cy="856907"/>
          </a:xfrm>
        </p:spPr>
        <p:txBody>
          <a:bodyPr anchor="b"/>
          <a:lstStyle>
            <a:lvl1pPr marL="0" indent="0">
              <a:buNone/>
              <a:defRPr sz="2496" b="1"/>
            </a:lvl1pPr>
            <a:lvl2pPr marL="475488" indent="0">
              <a:buNone/>
              <a:defRPr sz="2080" b="1"/>
            </a:lvl2pPr>
            <a:lvl3pPr marL="950976" indent="0">
              <a:buNone/>
              <a:defRPr sz="1872" b="1"/>
            </a:lvl3pPr>
            <a:lvl4pPr marL="1426464" indent="0">
              <a:buNone/>
              <a:defRPr sz="1664" b="1"/>
            </a:lvl4pPr>
            <a:lvl5pPr marL="1901952" indent="0">
              <a:buNone/>
              <a:defRPr sz="1664" b="1"/>
            </a:lvl5pPr>
            <a:lvl6pPr marL="2377440" indent="0">
              <a:buNone/>
              <a:defRPr sz="1664" b="1"/>
            </a:lvl6pPr>
            <a:lvl7pPr marL="2852928" indent="0">
              <a:buNone/>
              <a:defRPr sz="1664" b="1"/>
            </a:lvl7pPr>
            <a:lvl8pPr marL="3328416" indent="0">
              <a:buNone/>
              <a:defRPr sz="1664" b="1"/>
            </a:lvl8pPr>
            <a:lvl9pPr marL="3803904" indent="0">
              <a:buNone/>
              <a:defRPr sz="1664" b="1"/>
            </a:lvl9pPr>
          </a:lstStyle>
          <a:p>
            <a:pPr lvl="0"/>
            <a:r>
              <a:rPr lang="en-US"/>
              <a:t>Click to edit Master text styles</a:t>
            </a:r>
          </a:p>
        </p:txBody>
      </p:sp>
      <p:sp>
        <p:nvSpPr>
          <p:cNvPr id="4" name="Content Placeholder 3"/>
          <p:cNvSpPr>
            <a:spLocks noGrp="1"/>
          </p:cNvSpPr>
          <p:nvPr>
            <p:ph sz="half" idx="2"/>
          </p:nvPr>
        </p:nvSpPr>
        <p:spPr>
          <a:xfrm>
            <a:off x="873467" y="2605394"/>
            <a:ext cx="5364636" cy="38321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9731" y="1748487"/>
            <a:ext cx="5391055" cy="856907"/>
          </a:xfrm>
        </p:spPr>
        <p:txBody>
          <a:bodyPr anchor="b"/>
          <a:lstStyle>
            <a:lvl1pPr marL="0" indent="0">
              <a:buNone/>
              <a:defRPr sz="2496" b="1"/>
            </a:lvl1pPr>
            <a:lvl2pPr marL="475488" indent="0">
              <a:buNone/>
              <a:defRPr sz="2080" b="1"/>
            </a:lvl2pPr>
            <a:lvl3pPr marL="950976" indent="0">
              <a:buNone/>
              <a:defRPr sz="1872" b="1"/>
            </a:lvl3pPr>
            <a:lvl4pPr marL="1426464" indent="0">
              <a:buNone/>
              <a:defRPr sz="1664" b="1"/>
            </a:lvl4pPr>
            <a:lvl5pPr marL="1901952" indent="0">
              <a:buNone/>
              <a:defRPr sz="1664" b="1"/>
            </a:lvl5pPr>
            <a:lvl6pPr marL="2377440" indent="0">
              <a:buNone/>
              <a:defRPr sz="1664" b="1"/>
            </a:lvl6pPr>
            <a:lvl7pPr marL="2852928" indent="0">
              <a:buNone/>
              <a:defRPr sz="1664" b="1"/>
            </a:lvl7pPr>
            <a:lvl8pPr marL="3328416" indent="0">
              <a:buNone/>
              <a:defRPr sz="1664" b="1"/>
            </a:lvl8pPr>
            <a:lvl9pPr marL="3803904" indent="0">
              <a:buNone/>
              <a:defRPr sz="1664" b="1"/>
            </a:lvl9pPr>
          </a:lstStyle>
          <a:p>
            <a:pPr lvl="0"/>
            <a:r>
              <a:rPr lang="en-US"/>
              <a:t>Click to edit Master text styles</a:t>
            </a:r>
          </a:p>
        </p:txBody>
      </p:sp>
      <p:sp>
        <p:nvSpPr>
          <p:cNvPr id="6" name="Content Placeholder 5"/>
          <p:cNvSpPr>
            <a:spLocks noGrp="1"/>
          </p:cNvSpPr>
          <p:nvPr>
            <p:ph sz="quarter" idx="4"/>
          </p:nvPr>
        </p:nvSpPr>
        <p:spPr>
          <a:xfrm>
            <a:off x="6419731" y="2605394"/>
            <a:ext cx="5391055" cy="38321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A21166D-FE03-4DF2-9999-3D5B67B9698F}" type="datetimeFigureOut">
              <a:rPr lang="en-US" smtClean="0"/>
              <a:t>12/27/2025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EEDBCDD-F2DD-4BC2-A038-D5DE417FB1E9}" type="slidenum">
              <a:rPr lang="en-US" smtClean="0"/>
              <a:t>‹#›</a:t>
            </a:fld>
            <a:endParaRPr lang="en-US"/>
          </a:p>
        </p:txBody>
      </p:sp>
    </p:spTree>
    <p:extLst>
      <p:ext uri="{BB962C8B-B14F-4D97-AF65-F5344CB8AC3E}">
        <p14:creationId xmlns:p14="http://schemas.microsoft.com/office/powerpoint/2010/main" val="280646960"/>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A21166D-FE03-4DF2-9999-3D5B67B9698F}" type="datetimeFigureOut">
              <a:rPr lang="en-US" smtClean="0"/>
              <a:t>12/27/2025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EDBCDD-F2DD-4BC2-A038-D5DE417FB1E9}" type="slidenum">
              <a:rPr lang="en-US" smtClean="0"/>
              <a:t>‹#›</a:t>
            </a:fld>
            <a:endParaRPr lang="en-US"/>
          </a:p>
        </p:txBody>
      </p:sp>
    </p:spTree>
    <p:extLst>
      <p:ext uri="{BB962C8B-B14F-4D97-AF65-F5344CB8AC3E}">
        <p14:creationId xmlns:p14="http://schemas.microsoft.com/office/powerpoint/2010/main" val="2538936638"/>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21166D-FE03-4DF2-9999-3D5B67B9698F}" type="datetimeFigureOut">
              <a:rPr lang="en-US" smtClean="0"/>
              <a:t>12/27/2025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EEDBCDD-F2DD-4BC2-A038-D5DE417FB1E9}" type="slidenum">
              <a:rPr lang="en-US" smtClean="0"/>
              <a:t>‹#›</a:t>
            </a:fld>
            <a:endParaRPr lang="en-US"/>
          </a:p>
        </p:txBody>
      </p:sp>
    </p:spTree>
    <p:extLst>
      <p:ext uri="{BB962C8B-B14F-4D97-AF65-F5344CB8AC3E}">
        <p14:creationId xmlns:p14="http://schemas.microsoft.com/office/powerpoint/2010/main" val="625808001"/>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73468" y="475509"/>
            <a:ext cx="4089936" cy="1664282"/>
          </a:xfrm>
        </p:spPr>
        <p:txBody>
          <a:bodyPr anchor="b"/>
          <a:lstStyle>
            <a:lvl1pPr>
              <a:defRPr sz="3328"/>
            </a:lvl1pPr>
          </a:lstStyle>
          <a:p>
            <a:r>
              <a:rPr lang="en-US"/>
              <a:t>Click to edit Master title style</a:t>
            </a:r>
            <a:endParaRPr lang="en-US" dirty="0"/>
          </a:p>
        </p:txBody>
      </p:sp>
      <p:sp>
        <p:nvSpPr>
          <p:cNvPr id="3" name="Content Placeholder 2"/>
          <p:cNvSpPr>
            <a:spLocks noGrp="1"/>
          </p:cNvSpPr>
          <p:nvPr>
            <p:ph idx="1"/>
          </p:nvPr>
        </p:nvSpPr>
        <p:spPr>
          <a:xfrm>
            <a:off x="5391055" y="1026968"/>
            <a:ext cx="6419731" cy="5068796"/>
          </a:xfrm>
        </p:spPr>
        <p:txBody>
          <a:bodyPr/>
          <a:lstStyle>
            <a:lvl1pPr>
              <a:defRPr sz="3328"/>
            </a:lvl1pPr>
            <a:lvl2pPr>
              <a:defRPr sz="2912"/>
            </a:lvl2pPr>
            <a:lvl3pPr>
              <a:defRPr sz="2496"/>
            </a:lvl3pPr>
            <a:lvl4pPr>
              <a:defRPr sz="2080"/>
            </a:lvl4pPr>
            <a:lvl5pPr>
              <a:defRPr sz="2080"/>
            </a:lvl5pPr>
            <a:lvl6pPr>
              <a:defRPr sz="2080"/>
            </a:lvl6pPr>
            <a:lvl7pPr>
              <a:defRPr sz="2080"/>
            </a:lvl7pPr>
            <a:lvl8pPr>
              <a:defRPr sz="2080"/>
            </a:lvl8pPr>
            <a:lvl9pPr>
              <a:defRPr sz="20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73468" y="2139792"/>
            <a:ext cx="4089936" cy="3964228"/>
          </a:xfrm>
        </p:spPr>
        <p:txBody>
          <a:bodyPr/>
          <a:lstStyle>
            <a:lvl1pPr marL="0" indent="0">
              <a:buNone/>
              <a:defRPr sz="1664"/>
            </a:lvl1pPr>
            <a:lvl2pPr marL="475488" indent="0">
              <a:buNone/>
              <a:defRPr sz="1456"/>
            </a:lvl2pPr>
            <a:lvl3pPr marL="950976" indent="0">
              <a:buNone/>
              <a:defRPr sz="1248"/>
            </a:lvl3pPr>
            <a:lvl4pPr marL="1426464" indent="0">
              <a:buNone/>
              <a:defRPr sz="1040"/>
            </a:lvl4pPr>
            <a:lvl5pPr marL="1901952" indent="0">
              <a:buNone/>
              <a:defRPr sz="1040"/>
            </a:lvl5pPr>
            <a:lvl6pPr marL="2377440" indent="0">
              <a:buNone/>
              <a:defRPr sz="1040"/>
            </a:lvl6pPr>
            <a:lvl7pPr marL="2852928" indent="0">
              <a:buNone/>
              <a:defRPr sz="1040"/>
            </a:lvl7pPr>
            <a:lvl8pPr marL="3328416" indent="0">
              <a:buNone/>
              <a:defRPr sz="1040"/>
            </a:lvl8pPr>
            <a:lvl9pPr marL="3803904" indent="0">
              <a:buNone/>
              <a:defRPr sz="1040"/>
            </a:lvl9pPr>
          </a:lstStyle>
          <a:p>
            <a:pPr lvl="0"/>
            <a:r>
              <a:rPr lang="en-US"/>
              <a:t>Click to edit Master text styles</a:t>
            </a:r>
          </a:p>
        </p:txBody>
      </p:sp>
      <p:sp>
        <p:nvSpPr>
          <p:cNvPr id="5" name="Date Placeholder 4"/>
          <p:cNvSpPr>
            <a:spLocks noGrp="1"/>
          </p:cNvSpPr>
          <p:nvPr>
            <p:ph type="dt" sz="half" idx="10"/>
          </p:nvPr>
        </p:nvSpPr>
        <p:spPr/>
        <p:txBody>
          <a:bodyPr/>
          <a:lstStyle/>
          <a:p>
            <a:fld id="{9A21166D-FE03-4DF2-9999-3D5B67B9698F}" type="datetimeFigureOut">
              <a:rPr lang="en-US" smtClean="0"/>
              <a:t>12/27/2025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EDBCDD-F2DD-4BC2-A038-D5DE417FB1E9}" type="slidenum">
              <a:rPr lang="en-US" smtClean="0"/>
              <a:t>‹#›</a:t>
            </a:fld>
            <a:endParaRPr lang="en-US"/>
          </a:p>
        </p:txBody>
      </p:sp>
    </p:spTree>
    <p:extLst>
      <p:ext uri="{BB962C8B-B14F-4D97-AF65-F5344CB8AC3E}">
        <p14:creationId xmlns:p14="http://schemas.microsoft.com/office/powerpoint/2010/main" val="577411962"/>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73468" y="475509"/>
            <a:ext cx="4089936" cy="1664282"/>
          </a:xfrm>
        </p:spPr>
        <p:txBody>
          <a:bodyPr anchor="b"/>
          <a:lstStyle>
            <a:lvl1pPr>
              <a:defRPr sz="3328"/>
            </a:lvl1pPr>
          </a:lstStyle>
          <a:p>
            <a:r>
              <a:rPr lang="en-US"/>
              <a:t>Click to edit Master title style</a:t>
            </a:r>
            <a:endParaRPr lang="en-US" dirty="0"/>
          </a:p>
        </p:txBody>
      </p:sp>
      <p:sp>
        <p:nvSpPr>
          <p:cNvPr id="3" name="Picture Placeholder 2"/>
          <p:cNvSpPr>
            <a:spLocks noGrp="1" noChangeAspect="1"/>
          </p:cNvSpPr>
          <p:nvPr>
            <p:ph type="pic" idx="1"/>
          </p:nvPr>
        </p:nvSpPr>
        <p:spPr>
          <a:xfrm>
            <a:off x="5391055" y="1026968"/>
            <a:ext cx="6419731" cy="5068796"/>
          </a:xfrm>
        </p:spPr>
        <p:txBody>
          <a:bodyPr anchor="t"/>
          <a:lstStyle>
            <a:lvl1pPr marL="0" indent="0">
              <a:buNone/>
              <a:defRPr sz="3328"/>
            </a:lvl1pPr>
            <a:lvl2pPr marL="475488" indent="0">
              <a:buNone/>
              <a:defRPr sz="2912"/>
            </a:lvl2pPr>
            <a:lvl3pPr marL="950976" indent="0">
              <a:buNone/>
              <a:defRPr sz="2496"/>
            </a:lvl3pPr>
            <a:lvl4pPr marL="1426464" indent="0">
              <a:buNone/>
              <a:defRPr sz="2080"/>
            </a:lvl4pPr>
            <a:lvl5pPr marL="1901952" indent="0">
              <a:buNone/>
              <a:defRPr sz="2080"/>
            </a:lvl5pPr>
            <a:lvl6pPr marL="2377440" indent="0">
              <a:buNone/>
              <a:defRPr sz="2080"/>
            </a:lvl6pPr>
            <a:lvl7pPr marL="2852928" indent="0">
              <a:buNone/>
              <a:defRPr sz="2080"/>
            </a:lvl7pPr>
            <a:lvl8pPr marL="3328416" indent="0">
              <a:buNone/>
              <a:defRPr sz="2080"/>
            </a:lvl8pPr>
            <a:lvl9pPr marL="3803904" indent="0">
              <a:buNone/>
              <a:defRPr sz="2080"/>
            </a:lvl9pPr>
          </a:lstStyle>
          <a:p>
            <a:r>
              <a:rPr lang="en-US"/>
              <a:t>Click icon to add picture</a:t>
            </a:r>
            <a:endParaRPr lang="en-US" dirty="0"/>
          </a:p>
        </p:txBody>
      </p:sp>
      <p:sp>
        <p:nvSpPr>
          <p:cNvPr id="4" name="Text Placeholder 3"/>
          <p:cNvSpPr>
            <a:spLocks noGrp="1"/>
          </p:cNvSpPr>
          <p:nvPr>
            <p:ph type="body" sz="half" idx="2"/>
          </p:nvPr>
        </p:nvSpPr>
        <p:spPr>
          <a:xfrm>
            <a:off x="873468" y="2139792"/>
            <a:ext cx="4089936" cy="3964228"/>
          </a:xfrm>
        </p:spPr>
        <p:txBody>
          <a:bodyPr/>
          <a:lstStyle>
            <a:lvl1pPr marL="0" indent="0">
              <a:buNone/>
              <a:defRPr sz="1664"/>
            </a:lvl1pPr>
            <a:lvl2pPr marL="475488" indent="0">
              <a:buNone/>
              <a:defRPr sz="1456"/>
            </a:lvl2pPr>
            <a:lvl3pPr marL="950976" indent="0">
              <a:buNone/>
              <a:defRPr sz="1248"/>
            </a:lvl3pPr>
            <a:lvl4pPr marL="1426464" indent="0">
              <a:buNone/>
              <a:defRPr sz="1040"/>
            </a:lvl4pPr>
            <a:lvl5pPr marL="1901952" indent="0">
              <a:buNone/>
              <a:defRPr sz="1040"/>
            </a:lvl5pPr>
            <a:lvl6pPr marL="2377440" indent="0">
              <a:buNone/>
              <a:defRPr sz="1040"/>
            </a:lvl6pPr>
            <a:lvl7pPr marL="2852928" indent="0">
              <a:buNone/>
              <a:defRPr sz="1040"/>
            </a:lvl7pPr>
            <a:lvl8pPr marL="3328416" indent="0">
              <a:buNone/>
              <a:defRPr sz="1040"/>
            </a:lvl8pPr>
            <a:lvl9pPr marL="3803904" indent="0">
              <a:buNone/>
              <a:defRPr sz="1040"/>
            </a:lvl9pPr>
          </a:lstStyle>
          <a:p>
            <a:pPr lvl="0"/>
            <a:r>
              <a:rPr lang="en-US"/>
              <a:t>Click to edit Master text styles</a:t>
            </a:r>
          </a:p>
        </p:txBody>
      </p:sp>
      <p:sp>
        <p:nvSpPr>
          <p:cNvPr id="5" name="Date Placeholder 4"/>
          <p:cNvSpPr>
            <a:spLocks noGrp="1"/>
          </p:cNvSpPr>
          <p:nvPr>
            <p:ph type="dt" sz="half" idx="10"/>
          </p:nvPr>
        </p:nvSpPr>
        <p:spPr/>
        <p:txBody>
          <a:bodyPr/>
          <a:lstStyle/>
          <a:p>
            <a:fld id="{9A21166D-FE03-4DF2-9999-3D5B67B9698F}" type="datetimeFigureOut">
              <a:rPr lang="en-US" smtClean="0"/>
              <a:t>12/27/2025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EDBCDD-F2DD-4BC2-A038-D5DE417FB1E9}" type="slidenum">
              <a:rPr lang="en-US" smtClean="0"/>
              <a:t>‹#›</a:t>
            </a:fld>
            <a:endParaRPr lang="en-US"/>
          </a:p>
        </p:txBody>
      </p:sp>
    </p:spTree>
    <p:extLst>
      <p:ext uri="{BB962C8B-B14F-4D97-AF65-F5344CB8AC3E}">
        <p14:creationId xmlns:p14="http://schemas.microsoft.com/office/powerpoint/2010/main" val="3627208731"/>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A21166D-FE03-4DF2-9999-3D5B67B9698F}" type="datetimeFigureOut">
              <a:rPr lang="en-US" smtClean="0"/>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EDBCDD-F2DD-4BC2-A038-D5DE417FB1E9}" type="slidenum">
              <a:rPr lang="en-US" smtClean="0"/>
              <a:t>‹#›</a:t>
            </a:fld>
            <a:endParaRPr lang="en-US"/>
          </a:p>
        </p:txBody>
      </p:sp>
    </p:spTree>
    <p:extLst>
      <p:ext uri="{BB962C8B-B14F-4D97-AF65-F5344CB8AC3E}">
        <p14:creationId xmlns:p14="http://schemas.microsoft.com/office/powerpoint/2010/main" val="1076063645"/>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74805" y="379747"/>
            <a:ext cx="2734330" cy="604458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71815" y="379747"/>
            <a:ext cx="8044478" cy="604458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A21166D-FE03-4DF2-9999-3D5B67B9698F}" type="datetimeFigureOut">
              <a:rPr lang="en-US" smtClean="0"/>
              <a:t>12/27/2025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EDBCDD-F2DD-4BC2-A038-D5DE417FB1E9}" type="slidenum">
              <a:rPr lang="en-US" smtClean="0"/>
              <a:t>‹#›</a:t>
            </a:fld>
            <a:endParaRPr lang="en-US"/>
          </a:p>
        </p:txBody>
      </p:sp>
    </p:spTree>
    <p:extLst>
      <p:ext uri="{BB962C8B-B14F-4D97-AF65-F5344CB8AC3E}">
        <p14:creationId xmlns:p14="http://schemas.microsoft.com/office/powerpoint/2010/main" val="2119691933"/>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71816" y="379747"/>
            <a:ext cx="10937319" cy="137864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71816" y="1898735"/>
            <a:ext cx="10937319" cy="452559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71815" y="6610899"/>
            <a:ext cx="2853214" cy="379747"/>
          </a:xfrm>
          <a:prstGeom prst="rect">
            <a:avLst/>
          </a:prstGeom>
        </p:spPr>
        <p:txBody>
          <a:bodyPr vert="horz" lIns="91440" tIns="45720" rIns="91440" bIns="45720" rtlCol="0" anchor="ctr"/>
          <a:lstStyle>
            <a:lvl1pPr algn="l">
              <a:defRPr sz="1248">
                <a:solidFill>
                  <a:schemeClr val="tx1">
                    <a:tint val="82000"/>
                  </a:schemeClr>
                </a:solidFill>
              </a:defRPr>
            </a:lvl1pPr>
          </a:lstStyle>
          <a:p>
            <a:fld id="{9A21166D-FE03-4DF2-9999-3D5B67B9698F}" type="datetimeFigureOut">
              <a:rPr lang="en-US" smtClean="0"/>
              <a:t>12/27/2025</a:t>
            </a:fld>
            <a:endParaRPr lang="en-US"/>
          </a:p>
        </p:txBody>
      </p:sp>
      <p:sp>
        <p:nvSpPr>
          <p:cNvPr id="5" name="Footer Placeholder 4"/>
          <p:cNvSpPr>
            <a:spLocks noGrp="1"/>
          </p:cNvSpPr>
          <p:nvPr>
            <p:ph type="ftr" sz="quarter" idx="3"/>
          </p:nvPr>
        </p:nvSpPr>
        <p:spPr>
          <a:xfrm>
            <a:off x="4200565" y="6610899"/>
            <a:ext cx="4279821" cy="379747"/>
          </a:xfrm>
          <a:prstGeom prst="rect">
            <a:avLst/>
          </a:prstGeom>
        </p:spPr>
        <p:txBody>
          <a:bodyPr vert="horz" lIns="91440" tIns="45720" rIns="91440" bIns="45720" rtlCol="0" anchor="ctr"/>
          <a:lstStyle>
            <a:lvl1pPr algn="ctr">
              <a:defRPr sz="1248">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955921" y="6610899"/>
            <a:ext cx="2853214" cy="379747"/>
          </a:xfrm>
          <a:prstGeom prst="rect">
            <a:avLst/>
          </a:prstGeom>
        </p:spPr>
        <p:txBody>
          <a:bodyPr vert="horz" lIns="91440" tIns="45720" rIns="91440" bIns="45720" rtlCol="0" anchor="ctr"/>
          <a:lstStyle>
            <a:lvl1pPr algn="r">
              <a:defRPr sz="1248">
                <a:solidFill>
                  <a:schemeClr val="tx1">
                    <a:tint val="82000"/>
                  </a:schemeClr>
                </a:solidFill>
              </a:defRPr>
            </a:lvl1pPr>
          </a:lstStyle>
          <a:p>
            <a:fld id="{BEEDBCDD-F2DD-4BC2-A038-D5DE417FB1E9}" type="slidenum">
              <a:rPr lang="en-US" smtClean="0"/>
              <a:t>‹#›</a:t>
            </a:fld>
            <a:endParaRPr lang="en-US"/>
          </a:p>
        </p:txBody>
      </p:sp>
    </p:spTree>
    <p:extLst>
      <p:ext uri="{BB962C8B-B14F-4D97-AF65-F5344CB8AC3E}">
        <p14:creationId xmlns:p14="http://schemas.microsoft.com/office/powerpoint/2010/main" val="310438719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xStyles>
    <p:titleStyle>
      <a:lvl1pPr algn="l" defTabSz="950976" rtl="0" eaLnBrk="1" latinLnBrk="0" hangingPunct="1">
        <a:lnSpc>
          <a:spcPct val="90000"/>
        </a:lnSpc>
        <a:spcBef>
          <a:spcPct val="0"/>
        </a:spcBef>
        <a:buNone/>
        <a:defRPr sz="4576" kern="1200">
          <a:solidFill>
            <a:schemeClr val="tx1"/>
          </a:solidFill>
          <a:latin typeface="+mj-lt"/>
          <a:ea typeface="+mj-ea"/>
          <a:cs typeface="+mj-cs"/>
        </a:defRPr>
      </a:lvl1pPr>
    </p:titleStyle>
    <p:bodyStyle>
      <a:lvl1pPr marL="237744" indent="-237744" algn="l" defTabSz="950976" rtl="0" eaLnBrk="1" latinLnBrk="0" hangingPunct="1">
        <a:lnSpc>
          <a:spcPct val="90000"/>
        </a:lnSpc>
        <a:spcBef>
          <a:spcPts val="1040"/>
        </a:spcBef>
        <a:buFont typeface="Arial" panose="020B0604020202020204" pitchFamily="34" charset="0"/>
        <a:buChar char="•"/>
        <a:defRPr sz="2912" kern="1200">
          <a:solidFill>
            <a:schemeClr val="tx1"/>
          </a:solidFill>
          <a:latin typeface="+mn-lt"/>
          <a:ea typeface="+mn-ea"/>
          <a:cs typeface="+mn-cs"/>
        </a:defRPr>
      </a:lvl1pPr>
      <a:lvl2pPr marL="713232" indent="-237744" algn="l" defTabSz="950976" rtl="0" eaLnBrk="1" latinLnBrk="0" hangingPunct="1">
        <a:lnSpc>
          <a:spcPct val="90000"/>
        </a:lnSpc>
        <a:spcBef>
          <a:spcPts val="520"/>
        </a:spcBef>
        <a:buFont typeface="Arial" panose="020B0604020202020204" pitchFamily="34" charset="0"/>
        <a:buChar char="•"/>
        <a:defRPr sz="2496" kern="1200">
          <a:solidFill>
            <a:schemeClr val="tx1"/>
          </a:solidFill>
          <a:latin typeface="+mn-lt"/>
          <a:ea typeface="+mn-ea"/>
          <a:cs typeface="+mn-cs"/>
        </a:defRPr>
      </a:lvl2pPr>
      <a:lvl3pPr marL="1188720" indent="-237744" algn="l" defTabSz="950976" rtl="0" eaLnBrk="1" latinLnBrk="0" hangingPunct="1">
        <a:lnSpc>
          <a:spcPct val="90000"/>
        </a:lnSpc>
        <a:spcBef>
          <a:spcPts val="520"/>
        </a:spcBef>
        <a:buFont typeface="Arial" panose="020B0604020202020204" pitchFamily="34" charset="0"/>
        <a:buChar char="•"/>
        <a:defRPr sz="2080" kern="1200">
          <a:solidFill>
            <a:schemeClr val="tx1"/>
          </a:solidFill>
          <a:latin typeface="+mn-lt"/>
          <a:ea typeface="+mn-ea"/>
          <a:cs typeface="+mn-cs"/>
        </a:defRPr>
      </a:lvl3pPr>
      <a:lvl4pPr marL="1664208" indent="-237744" algn="l" defTabSz="950976" rtl="0" eaLnBrk="1" latinLnBrk="0" hangingPunct="1">
        <a:lnSpc>
          <a:spcPct val="90000"/>
        </a:lnSpc>
        <a:spcBef>
          <a:spcPts val="520"/>
        </a:spcBef>
        <a:buFont typeface="Arial" panose="020B0604020202020204" pitchFamily="34" charset="0"/>
        <a:buChar char="•"/>
        <a:defRPr sz="1872" kern="1200">
          <a:solidFill>
            <a:schemeClr val="tx1"/>
          </a:solidFill>
          <a:latin typeface="+mn-lt"/>
          <a:ea typeface="+mn-ea"/>
          <a:cs typeface="+mn-cs"/>
        </a:defRPr>
      </a:lvl4pPr>
      <a:lvl5pPr marL="2139696" indent="-237744" algn="l" defTabSz="950976" rtl="0" eaLnBrk="1" latinLnBrk="0" hangingPunct="1">
        <a:lnSpc>
          <a:spcPct val="90000"/>
        </a:lnSpc>
        <a:spcBef>
          <a:spcPts val="520"/>
        </a:spcBef>
        <a:buFont typeface="Arial" panose="020B0604020202020204" pitchFamily="34" charset="0"/>
        <a:buChar char="•"/>
        <a:defRPr sz="1872" kern="1200">
          <a:solidFill>
            <a:schemeClr val="tx1"/>
          </a:solidFill>
          <a:latin typeface="+mn-lt"/>
          <a:ea typeface="+mn-ea"/>
          <a:cs typeface="+mn-cs"/>
        </a:defRPr>
      </a:lvl5pPr>
      <a:lvl6pPr marL="2615184" indent="-237744" algn="l" defTabSz="950976" rtl="0" eaLnBrk="1" latinLnBrk="0" hangingPunct="1">
        <a:lnSpc>
          <a:spcPct val="90000"/>
        </a:lnSpc>
        <a:spcBef>
          <a:spcPts val="520"/>
        </a:spcBef>
        <a:buFont typeface="Arial" panose="020B0604020202020204" pitchFamily="34" charset="0"/>
        <a:buChar char="•"/>
        <a:defRPr sz="1872" kern="1200">
          <a:solidFill>
            <a:schemeClr val="tx1"/>
          </a:solidFill>
          <a:latin typeface="+mn-lt"/>
          <a:ea typeface="+mn-ea"/>
          <a:cs typeface="+mn-cs"/>
        </a:defRPr>
      </a:lvl6pPr>
      <a:lvl7pPr marL="3090672" indent="-237744" algn="l" defTabSz="950976" rtl="0" eaLnBrk="1" latinLnBrk="0" hangingPunct="1">
        <a:lnSpc>
          <a:spcPct val="90000"/>
        </a:lnSpc>
        <a:spcBef>
          <a:spcPts val="520"/>
        </a:spcBef>
        <a:buFont typeface="Arial" panose="020B0604020202020204" pitchFamily="34" charset="0"/>
        <a:buChar char="•"/>
        <a:defRPr sz="1872" kern="1200">
          <a:solidFill>
            <a:schemeClr val="tx1"/>
          </a:solidFill>
          <a:latin typeface="+mn-lt"/>
          <a:ea typeface="+mn-ea"/>
          <a:cs typeface="+mn-cs"/>
        </a:defRPr>
      </a:lvl7pPr>
      <a:lvl8pPr marL="3566160" indent="-237744" algn="l" defTabSz="950976" rtl="0" eaLnBrk="1" latinLnBrk="0" hangingPunct="1">
        <a:lnSpc>
          <a:spcPct val="90000"/>
        </a:lnSpc>
        <a:spcBef>
          <a:spcPts val="520"/>
        </a:spcBef>
        <a:buFont typeface="Arial" panose="020B0604020202020204" pitchFamily="34" charset="0"/>
        <a:buChar char="•"/>
        <a:defRPr sz="1872" kern="1200">
          <a:solidFill>
            <a:schemeClr val="tx1"/>
          </a:solidFill>
          <a:latin typeface="+mn-lt"/>
          <a:ea typeface="+mn-ea"/>
          <a:cs typeface="+mn-cs"/>
        </a:defRPr>
      </a:lvl8pPr>
      <a:lvl9pPr marL="4041648" indent="-237744" algn="l" defTabSz="950976" rtl="0" eaLnBrk="1" latinLnBrk="0" hangingPunct="1">
        <a:lnSpc>
          <a:spcPct val="90000"/>
        </a:lnSpc>
        <a:spcBef>
          <a:spcPts val="520"/>
        </a:spcBef>
        <a:buFont typeface="Arial" panose="020B0604020202020204" pitchFamily="34" charset="0"/>
        <a:buChar char="•"/>
        <a:defRPr sz="1872" kern="1200">
          <a:solidFill>
            <a:schemeClr val="tx1"/>
          </a:solidFill>
          <a:latin typeface="+mn-lt"/>
          <a:ea typeface="+mn-ea"/>
          <a:cs typeface="+mn-cs"/>
        </a:defRPr>
      </a:lvl9pPr>
    </p:bodyStyle>
    <p:otherStyle>
      <a:defPPr>
        <a:defRPr lang="en-US"/>
      </a:defPPr>
      <a:lvl1pPr marL="0" algn="l" defTabSz="950976" rtl="0" eaLnBrk="1" latinLnBrk="0" hangingPunct="1">
        <a:defRPr sz="1872" kern="1200">
          <a:solidFill>
            <a:schemeClr val="tx1"/>
          </a:solidFill>
          <a:latin typeface="+mn-lt"/>
          <a:ea typeface="+mn-ea"/>
          <a:cs typeface="+mn-cs"/>
        </a:defRPr>
      </a:lvl1pPr>
      <a:lvl2pPr marL="475488" algn="l" defTabSz="950976" rtl="0" eaLnBrk="1" latinLnBrk="0" hangingPunct="1">
        <a:defRPr sz="1872" kern="1200">
          <a:solidFill>
            <a:schemeClr val="tx1"/>
          </a:solidFill>
          <a:latin typeface="+mn-lt"/>
          <a:ea typeface="+mn-ea"/>
          <a:cs typeface="+mn-cs"/>
        </a:defRPr>
      </a:lvl2pPr>
      <a:lvl3pPr marL="950976" algn="l" defTabSz="950976" rtl="0" eaLnBrk="1" latinLnBrk="0" hangingPunct="1">
        <a:defRPr sz="1872" kern="1200">
          <a:solidFill>
            <a:schemeClr val="tx1"/>
          </a:solidFill>
          <a:latin typeface="+mn-lt"/>
          <a:ea typeface="+mn-ea"/>
          <a:cs typeface="+mn-cs"/>
        </a:defRPr>
      </a:lvl3pPr>
      <a:lvl4pPr marL="1426464" algn="l" defTabSz="950976" rtl="0" eaLnBrk="1" latinLnBrk="0" hangingPunct="1">
        <a:defRPr sz="1872" kern="1200">
          <a:solidFill>
            <a:schemeClr val="tx1"/>
          </a:solidFill>
          <a:latin typeface="+mn-lt"/>
          <a:ea typeface="+mn-ea"/>
          <a:cs typeface="+mn-cs"/>
        </a:defRPr>
      </a:lvl4pPr>
      <a:lvl5pPr marL="1901952" algn="l" defTabSz="950976" rtl="0" eaLnBrk="1" latinLnBrk="0" hangingPunct="1">
        <a:defRPr sz="1872" kern="1200">
          <a:solidFill>
            <a:schemeClr val="tx1"/>
          </a:solidFill>
          <a:latin typeface="+mn-lt"/>
          <a:ea typeface="+mn-ea"/>
          <a:cs typeface="+mn-cs"/>
        </a:defRPr>
      </a:lvl5pPr>
      <a:lvl6pPr marL="2377440" algn="l" defTabSz="950976" rtl="0" eaLnBrk="1" latinLnBrk="0" hangingPunct="1">
        <a:defRPr sz="1872" kern="1200">
          <a:solidFill>
            <a:schemeClr val="tx1"/>
          </a:solidFill>
          <a:latin typeface="+mn-lt"/>
          <a:ea typeface="+mn-ea"/>
          <a:cs typeface="+mn-cs"/>
        </a:defRPr>
      </a:lvl6pPr>
      <a:lvl7pPr marL="2852928" algn="l" defTabSz="950976" rtl="0" eaLnBrk="1" latinLnBrk="0" hangingPunct="1">
        <a:defRPr sz="1872" kern="1200">
          <a:solidFill>
            <a:schemeClr val="tx1"/>
          </a:solidFill>
          <a:latin typeface="+mn-lt"/>
          <a:ea typeface="+mn-ea"/>
          <a:cs typeface="+mn-cs"/>
        </a:defRPr>
      </a:lvl7pPr>
      <a:lvl8pPr marL="3328416" algn="l" defTabSz="950976" rtl="0" eaLnBrk="1" latinLnBrk="0" hangingPunct="1">
        <a:defRPr sz="1872" kern="1200">
          <a:solidFill>
            <a:schemeClr val="tx1"/>
          </a:solidFill>
          <a:latin typeface="+mn-lt"/>
          <a:ea typeface="+mn-ea"/>
          <a:cs typeface="+mn-cs"/>
        </a:defRPr>
      </a:lvl8pPr>
      <a:lvl9pPr marL="3803904" algn="l" defTabSz="950976" rtl="0" eaLnBrk="1" latinLnBrk="0" hangingPunct="1">
        <a:defRPr sz="187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diagramLayout" Target="../diagrams/layout1.xml"/><Relationship Id="rId3" Type="http://schemas.openxmlformats.org/officeDocument/2006/relationships/customXml" Target="../ink/ink1.xml"/><Relationship Id="rId7" Type="http://schemas.openxmlformats.org/officeDocument/2006/relationships/diagramData" Target="../diagrams/data1.xm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png"/><Relationship Id="rId11" Type="http://schemas.microsoft.com/office/2007/relationships/diagramDrawing" Target="../diagrams/drawing1.xml"/><Relationship Id="rId5" Type="http://schemas.openxmlformats.org/officeDocument/2006/relationships/customXml" Target="../ink/ink2.xml"/><Relationship Id="rId10" Type="http://schemas.openxmlformats.org/officeDocument/2006/relationships/diagramColors" Target="../diagrams/colors1.xml"/><Relationship Id="rId4" Type="http://schemas.openxmlformats.org/officeDocument/2006/relationships/image" Target="../media/image2.png"/><Relationship Id="rId9"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4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xmlns:aink="http://schemas.microsoft.com/office/drawing/2016/ink">
        <mc:Choice Requires="p14 aink">
          <p:contentPart p14:bwMode="auto" r:id="rId3">
            <p14:nvContentPartPr>
              <p14:cNvPr id="26" name="Ink 25">
                <a:extLst>
                  <a:ext uri="{FF2B5EF4-FFF2-40B4-BE49-F238E27FC236}">
                    <a16:creationId xmlns:a16="http://schemas.microsoft.com/office/drawing/2014/main" id="{C8C38C7B-C308-B73C-BD14-D76E8BCA5827}"/>
                  </a:ext>
                </a:extLst>
              </p14:cNvPr>
              <p14:cNvContentPartPr/>
              <p14:nvPr/>
            </p14:nvContentPartPr>
            <p14:xfrm>
              <a:off x="8722832" y="4033501"/>
              <a:ext cx="374" cy="374"/>
            </p14:xfrm>
          </p:contentPart>
        </mc:Choice>
        <mc:Fallback xmlns="">
          <p:pic>
            <p:nvPicPr>
              <p:cNvPr id="26" name="Ink 25">
                <a:extLst>
                  <a:ext uri="{FF2B5EF4-FFF2-40B4-BE49-F238E27FC236}">
                    <a16:creationId xmlns:a16="http://schemas.microsoft.com/office/drawing/2014/main" id="{C8C38C7B-C308-B73C-BD14-D76E8BCA5827}"/>
                  </a:ext>
                </a:extLst>
              </p:cNvPr>
              <p:cNvPicPr/>
              <p:nvPr/>
            </p:nvPicPr>
            <p:blipFill>
              <a:blip r:embed="rId4"/>
              <a:stretch>
                <a:fillRect/>
              </a:stretch>
            </p:blipFill>
            <p:spPr>
              <a:xfrm>
                <a:off x="8716474" y="4027143"/>
                <a:ext cx="13090" cy="13090"/>
              </a:xfrm>
              <a:prstGeom prst="rect">
                <a:avLst/>
              </a:prstGeom>
            </p:spPr>
          </p:pic>
        </mc:Fallback>
      </mc:AlternateContent>
      <p:sp>
        <p:nvSpPr>
          <p:cNvPr id="37" name="TextBox 36">
            <a:extLst>
              <a:ext uri="{FF2B5EF4-FFF2-40B4-BE49-F238E27FC236}">
                <a16:creationId xmlns:a16="http://schemas.microsoft.com/office/drawing/2014/main" id="{35221BA0-0BBA-ABEE-FF00-824899678BD3}"/>
              </a:ext>
            </a:extLst>
          </p:cNvPr>
          <p:cNvSpPr txBox="1"/>
          <p:nvPr/>
        </p:nvSpPr>
        <p:spPr>
          <a:xfrm>
            <a:off x="3393784" y="327047"/>
            <a:ext cx="8970147" cy="1821140"/>
          </a:xfrm>
          <a:prstGeom prst="rect">
            <a:avLst/>
          </a:prstGeom>
          <a:solidFill>
            <a:schemeClr val="bg1">
              <a:lumMod val="50000"/>
              <a:alpha val="50000"/>
            </a:schemeClr>
          </a:solidFill>
          <a:ln>
            <a:noFill/>
          </a:ln>
        </p:spPr>
        <p:txBody>
          <a:bodyPr wrap="square" rtlCol="0">
            <a:spAutoFit/>
          </a:bodyPr>
          <a:lstStyle/>
          <a:p>
            <a:pPr algn="ctr"/>
            <a:r>
              <a:rPr lang="en-US" sz="5617" dirty="0">
                <a:ln w="0">
                  <a:solidFill>
                    <a:schemeClr val="tx1"/>
                  </a:solidFill>
                </a:ln>
                <a:solidFill>
                  <a:schemeClr val="bg1"/>
                </a:solidFill>
                <a:effectLst/>
                <a:latin typeface="Aptos Slab ExtraBold" panose="020B0004020202020204" pitchFamily="34" charset="0"/>
              </a:rPr>
              <a:t>RAILWAY MANAGEMENT SYSTEM</a:t>
            </a:r>
          </a:p>
        </p:txBody>
      </p:sp>
      <mc:AlternateContent xmlns:mc="http://schemas.openxmlformats.org/markup-compatibility/2006" xmlns:p14="http://schemas.microsoft.com/office/powerpoint/2010/main">
        <mc:Choice Requires="p14">
          <p:contentPart p14:bwMode="auto" r:id="rId5">
            <p14:nvContentPartPr>
              <p14:cNvPr id="41" name="Ink 40">
                <a:extLst>
                  <a:ext uri="{FF2B5EF4-FFF2-40B4-BE49-F238E27FC236}">
                    <a16:creationId xmlns:a16="http://schemas.microsoft.com/office/drawing/2014/main" id="{F2B51CDD-ABC4-C29E-E68D-F0FF5638C228}"/>
                  </a:ext>
                </a:extLst>
              </p14:cNvPr>
              <p14:cNvContentPartPr/>
              <p14:nvPr/>
            </p14:nvContentPartPr>
            <p14:xfrm>
              <a:off x="9748186" y="1120386"/>
              <a:ext cx="374" cy="374"/>
            </p14:xfrm>
          </p:contentPart>
        </mc:Choice>
        <mc:Fallback xmlns="">
          <p:pic>
            <p:nvPicPr>
              <p:cNvPr id="41" name="Ink 40">
                <a:extLst>
                  <a:ext uri="{FF2B5EF4-FFF2-40B4-BE49-F238E27FC236}">
                    <a16:creationId xmlns:a16="http://schemas.microsoft.com/office/drawing/2014/main" id="{F2B51CDD-ABC4-C29E-E68D-F0FF5638C228}"/>
                  </a:ext>
                </a:extLst>
              </p:cNvPr>
              <p:cNvPicPr/>
              <p:nvPr/>
            </p:nvPicPr>
            <p:blipFill>
              <a:blip r:embed="rId6"/>
              <a:stretch>
                <a:fillRect/>
              </a:stretch>
            </p:blipFill>
            <p:spPr>
              <a:xfrm>
                <a:off x="9741828" y="1114028"/>
                <a:ext cx="13090" cy="13090"/>
              </a:xfrm>
              <a:prstGeom prst="rect">
                <a:avLst/>
              </a:prstGeom>
            </p:spPr>
          </p:pic>
        </mc:Fallback>
      </mc:AlternateContent>
      <p:graphicFrame>
        <p:nvGraphicFramePr>
          <p:cNvPr id="48" name="Diagram 47">
            <a:extLst>
              <a:ext uri="{FF2B5EF4-FFF2-40B4-BE49-F238E27FC236}">
                <a16:creationId xmlns:a16="http://schemas.microsoft.com/office/drawing/2014/main" id="{01FF6F9D-1667-EC15-9A57-8F4E2A988C6A}"/>
              </a:ext>
            </a:extLst>
          </p:cNvPr>
          <p:cNvGraphicFramePr/>
          <p:nvPr>
            <p:extLst>
              <p:ext uri="{D42A27DB-BD31-4B8C-83A1-F6EECF244321}">
                <p14:modId xmlns:p14="http://schemas.microsoft.com/office/powerpoint/2010/main" val="4107291853"/>
              </p:ext>
            </p:extLst>
          </p:nvPr>
        </p:nvGraphicFramePr>
        <p:xfrm>
          <a:off x="0" y="181503"/>
          <a:ext cx="3540797" cy="187776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49" name="TextBox 48">
            <a:extLst>
              <a:ext uri="{FF2B5EF4-FFF2-40B4-BE49-F238E27FC236}">
                <a16:creationId xmlns:a16="http://schemas.microsoft.com/office/drawing/2014/main" id="{D8EBA0E4-BE06-D0AD-8153-CDF2BF40FB5D}"/>
              </a:ext>
            </a:extLst>
          </p:cNvPr>
          <p:cNvSpPr txBox="1"/>
          <p:nvPr/>
        </p:nvSpPr>
        <p:spPr>
          <a:xfrm>
            <a:off x="6784511" y="6413861"/>
            <a:ext cx="5691579" cy="476412"/>
          </a:xfrm>
          <a:prstGeom prst="rect">
            <a:avLst/>
          </a:prstGeom>
          <a:solidFill>
            <a:srgbClr val="4B4B4B">
              <a:alpha val="46000"/>
            </a:srgbClr>
          </a:solidFill>
          <a:ln>
            <a:solidFill>
              <a:schemeClr val="tx2">
                <a:lumMod val="10000"/>
                <a:lumOff val="90000"/>
              </a:schemeClr>
            </a:solidFill>
          </a:ln>
        </p:spPr>
        <p:txBody>
          <a:bodyPr wrap="square" rtlCol="0">
            <a:spAutoFit/>
          </a:bodyPr>
          <a:lstStyle/>
          <a:p>
            <a:pPr algn="ctr"/>
            <a:r>
              <a:rPr lang="en-US" sz="2496" b="1" dirty="0">
                <a:ln>
                  <a:solidFill>
                    <a:schemeClr val="tx1"/>
                  </a:solidFill>
                </a:ln>
                <a:solidFill>
                  <a:schemeClr val="bg1"/>
                </a:solidFill>
                <a:latin typeface="Amasis MT Pro Black" panose="02040A04050005020304" pitchFamily="18" charset="0"/>
              </a:rPr>
              <a:t>PRESENTED BY : NISHA VALAND</a:t>
            </a:r>
          </a:p>
        </p:txBody>
      </p:sp>
    </p:spTree>
    <p:extLst>
      <p:ext uri="{BB962C8B-B14F-4D97-AF65-F5344CB8AC3E}">
        <p14:creationId xmlns:p14="http://schemas.microsoft.com/office/powerpoint/2010/main" val="439924442"/>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A1FB10-0DD1-4A85-0C3F-6C40111A31A4}"/>
              </a:ext>
            </a:extLst>
          </p:cNvPr>
          <p:cNvSpPr txBox="1"/>
          <p:nvPr/>
        </p:nvSpPr>
        <p:spPr>
          <a:xfrm>
            <a:off x="1437680" y="207920"/>
            <a:ext cx="9805589" cy="668516"/>
          </a:xfrm>
          <a:prstGeom prst="rect">
            <a:avLst/>
          </a:prstGeom>
          <a:solidFill>
            <a:schemeClr val="accent4">
              <a:lumMod val="50000"/>
            </a:schemeClr>
          </a:solidFill>
        </p:spPr>
        <p:txBody>
          <a:bodyPr wrap="square" rtlCol="0">
            <a:spAutoFit/>
          </a:bodyPr>
          <a:lstStyle/>
          <a:p>
            <a:pPr algn="ctr"/>
            <a:r>
              <a:rPr lang="en-US" sz="3600" dirty="0">
                <a:latin typeface="ADLaM Display" panose="020F0502020204030204" pitchFamily="2" charset="0"/>
                <a:ea typeface="ADLaM Display" panose="020F0502020204030204" pitchFamily="2" charset="0"/>
                <a:cs typeface="ADLaM Display" panose="020F0502020204030204" pitchFamily="2" charset="0"/>
              </a:rPr>
              <a:t> </a:t>
            </a:r>
            <a:r>
              <a:rPr lang="en-US" sz="3600" dirty="0"/>
              <a:t> </a:t>
            </a:r>
            <a:r>
              <a:rPr lang="en-US" sz="36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INTRODUCTION &amp; PROJECT OVERVIEW</a:t>
            </a:r>
            <a:endParaRPr lang="en-US" sz="3600" dirty="0">
              <a:solidFill>
                <a:schemeClr val="bg1"/>
              </a:solidFill>
              <a:latin typeface="ADLaM Display" panose="02010000000000000000" pitchFamily="2" charset="0"/>
              <a:ea typeface="ADLaM Display" panose="02010000000000000000" pitchFamily="2" charset="0"/>
              <a:cs typeface="ADLaM Display" panose="02010000000000000000" pitchFamily="2" charset="0"/>
            </a:endParaRPr>
          </a:p>
        </p:txBody>
      </p:sp>
      <p:pic>
        <p:nvPicPr>
          <p:cNvPr id="7" name="Picture 6" descr="A blue and white circular sign with a circular design&#10;&#10;AI-generated content may be incorrect.">
            <a:extLst>
              <a:ext uri="{FF2B5EF4-FFF2-40B4-BE49-F238E27FC236}">
                <a16:creationId xmlns:a16="http://schemas.microsoft.com/office/drawing/2014/main" id="{4F951C42-11AB-97F5-9A3F-B8471815B6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1574" y="-163928"/>
            <a:ext cx="1412212" cy="1412212"/>
          </a:xfrm>
          <a:prstGeom prst="rect">
            <a:avLst/>
          </a:prstGeom>
        </p:spPr>
      </p:pic>
      <p:sp>
        <p:nvSpPr>
          <p:cNvPr id="10" name="Rectangle 9">
            <a:extLst>
              <a:ext uri="{FF2B5EF4-FFF2-40B4-BE49-F238E27FC236}">
                <a16:creationId xmlns:a16="http://schemas.microsoft.com/office/drawing/2014/main" id="{8B708ACB-3C79-DC45-08DC-6380A61548BD}"/>
              </a:ext>
            </a:extLst>
          </p:cNvPr>
          <p:cNvSpPr/>
          <p:nvPr/>
        </p:nvSpPr>
        <p:spPr>
          <a:xfrm>
            <a:off x="731574" y="1132496"/>
            <a:ext cx="11574726" cy="5940088"/>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11" name="TextBox 10">
            <a:extLst>
              <a:ext uri="{FF2B5EF4-FFF2-40B4-BE49-F238E27FC236}">
                <a16:creationId xmlns:a16="http://schemas.microsoft.com/office/drawing/2014/main" id="{FD43F261-E755-E9A7-7466-E0135E802E9D}"/>
              </a:ext>
            </a:extLst>
          </p:cNvPr>
          <p:cNvSpPr txBox="1"/>
          <p:nvPr/>
        </p:nvSpPr>
        <p:spPr>
          <a:xfrm>
            <a:off x="7448550" y="2362200"/>
            <a:ext cx="45719" cy="369332"/>
          </a:xfrm>
          <a:prstGeom prst="rect">
            <a:avLst/>
          </a:prstGeom>
          <a:noFill/>
        </p:spPr>
        <p:txBody>
          <a:bodyPr wrap="square" rtlCol="0">
            <a:spAutoFit/>
          </a:bodyPr>
          <a:lstStyle/>
          <a:p>
            <a:endParaRPr lang="en-US" dirty="0"/>
          </a:p>
        </p:txBody>
      </p:sp>
      <p:sp>
        <p:nvSpPr>
          <p:cNvPr id="17" name="Rectangle 4">
            <a:extLst>
              <a:ext uri="{FF2B5EF4-FFF2-40B4-BE49-F238E27FC236}">
                <a16:creationId xmlns:a16="http://schemas.microsoft.com/office/drawing/2014/main" id="{C60D27CC-5430-B380-E9F0-66D5E2F13958}"/>
              </a:ext>
            </a:extLst>
          </p:cNvPr>
          <p:cNvSpPr>
            <a:spLocks noChangeArrowheads="1"/>
          </p:cNvSpPr>
          <p:nvPr/>
        </p:nvSpPr>
        <p:spPr bwMode="auto">
          <a:xfrm>
            <a:off x="1437680" y="1132496"/>
            <a:ext cx="10511696" cy="6247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buFont typeface="Arial" panose="020B0604020202020204" pitchFamily="34" charset="0"/>
              <a:buChar char="•"/>
            </a:pPr>
            <a:r>
              <a:rPr lang="en-US" sz="2000" dirty="0">
                <a:latin typeface="Segoe UI Black" panose="020B0A02040204020203" pitchFamily="34" charset="0"/>
                <a:ea typeface="Segoe UI Black" panose="020B0A02040204020203" pitchFamily="34" charset="0"/>
              </a:rPr>
              <a:t>The </a:t>
            </a:r>
            <a:r>
              <a:rPr lang="en-US" sz="2000" b="1" dirty="0">
                <a:latin typeface="Segoe UI Black" panose="020B0A02040204020203" pitchFamily="34" charset="0"/>
                <a:ea typeface="Segoe UI Black" panose="020B0A02040204020203" pitchFamily="34" charset="0"/>
              </a:rPr>
              <a:t>Railway Booking Management and Analysis System</a:t>
            </a:r>
            <a:r>
              <a:rPr lang="en-US" sz="2000" dirty="0">
                <a:latin typeface="Segoe UI Black" panose="020B0A02040204020203" pitchFamily="34" charset="0"/>
                <a:ea typeface="Segoe UI Black" panose="020B0A02040204020203" pitchFamily="34" charset="0"/>
              </a:rPr>
              <a:t> is an SQL-based project developed to efficiently manage and analyze railway booking data.</a:t>
            </a:r>
          </a:p>
          <a:p>
            <a:pPr marL="285750" indent="-285750">
              <a:buFont typeface="Arial" panose="020B0604020202020204" pitchFamily="34" charset="0"/>
              <a:buChar char="•"/>
            </a:pPr>
            <a:r>
              <a:rPr lang="en-US" sz="2000" dirty="0">
                <a:latin typeface="Segoe UI Black" panose="020B0A02040204020203" pitchFamily="34" charset="0"/>
                <a:ea typeface="Segoe UI Black" panose="020B0A02040204020203" pitchFamily="34" charset="0"/>
              </a:rPr>
              <a:t>The project focuses on understanding passenger travel behavior, booking trends, and operational performance of trains.</a:t>
            </a:r>
          </a:p>
          <a:p>
            <a:pPr marL="285750" indent="-285750">
              <a:buFont typeface="Arial" panose="020B0604020202020204" pitchFamily="34" charset="0"/>
              <a:buChar char="•"/>
            </a:pPr>
            <a:r>
              <a:rPr lang="en-US" sz="2000" dirty="0">
                <a:latin typeface="Segoe UI Black" panose="020B0A02040204020203" pitchFamily="34" charset="0"/>
                <a:ea typeface="Segoe UI Black" panose="020B0A02040204020203" pitchFamily="34" charset="0"/>
              </a:rPr>
              <a:t>The database is designed using </a:t>
            </a:r>
            <a:r>
              <a:rPr lang="en-US" sz="2000" b="1" dirty="0">
                <a:latin typeface="Segoe UI Black" panose="020B0A02040204020203" pitchFamily="34" charset="0"/>
                <a:ea typeface="Segoe UI Black" panose="020B0A02040204020203" pitchFamily="34" charset="0"/>
              </a:rPr>
              <a:t>four core tables</a:t>
            </a:r>
            <a:r>
              <a:rPr lang="en-US" sz="2000" dirty="0">
                <a:latin typeface="Segoe UI Black" panose="020B0A02040204020203" pitchFamily="34" charset="0"/>
                <a:ea typeface="Segoe UI Black" panose="020B0A02040204020203" pitchFamily="34" charset="0"/>
              </a:rPr>
              <a:t>: </a:t>
            </a:r>
            <a:r>
              <a:rPr lang="en-US" sz="2000" b="1" dirty="0">
                <a:latin typeface="Segoe UI Black" panose="020B0A02040204020203" pitchFamily="34" charset="0"/>
                <a:ea typeface="Segoe UI Black" panose="020B0A02040204020203" pitchFamily="34" charset="0"/>
              </a:rPr>
              <a:t>Train, Route, Booking, and Payment</a:t>
            </a:r>
            <a:r>
              <a:rPr lang="en-US" sz="2000" dirty="0">
                <a:latin typeface="Segoe UI Black" panose="020B0A02040204020203" pitchFamily="34" charset="0"/>
                <a:ea typeface="Segoe UI Black" panose="020B0A02040204020203" pitchFamily="34" charset="0"/>
              </a:rPr>
              <a:t>, which store complete information about trains, travel routes, passenger bookings, and payment transactions.</a:t>
            </a:r>
          </a:p>
          <a:p>
            <a:pPr marL="285750" indent="-285750">
              <a:buFont typeface="Arial" panose="020B0604020202020204" pitchFamily="34" charset="0"/>
              <a:buChar char="•"/>
            </a:pPr>
            <a:r>
              <a:rPr lang="en-US" sz="2000" dirty="0">
                <a:latin typeface="Segoe UI Black" panose="020B0A02040204020203" pitchFamily="34" charset="0"/>
                <a:ea typeface="Segoe UI Black" panose="020B0A02040204020203" pitchFamily="34" charset="0"/>
              </a:rPr>
              <a:t>Relationships between these tables help in tracking journeys from source to destination along with fare and payment details.</a:t>
            </a:r>
          </a:p>
          <a:p>
            <a:pPr marL="285750" indent="-285750">
              <a:buFont typeface="Arial" panose="020B0604020202020204" pitchFamily="34" charset="0"/>
              <a:buChar char="•"/>
            </a:pPr>
            <a:r>
              <a:rPr lang="en-US" sz="2000" dirty="0">
                <a:latin typeface="Segoe UI Black" panose="020B0A02040204020203" pitchFamily="34" charset="0"/>
                <a:ea typeface="Segoe UI Black" panose="020B0A02040204020203" pitchFamily="34" charset="0"/>
              </a:rPr>
              <a:t>Various SQL queries are used to analyze:</a:t>
            </a:r>
          </a:p>
          <a:p>
            <a:pPr marL="742950" lvl="1" indent="-285750">
              <a:buFont typeface="Arial" panose="020B0604020202020204" pitchFamily="34" charset="0"/>
              <a:buChar char="•"/>
            </a:pPr>
            <a:r>
              <a:rPr lang="en-US" sz="2000" dirty="0">
                <a:latin typeface="Segoe UI Black" panose="020B0A02040204020203" pitchFamily="34" charset="0"/>
                <a:ea typeface="Segoe UI Black" panose="020B0A02040204020203" pitchFamily="34" charset="0"/>
              </a:rPr>
              <a:t>Most popular source–destination routes</a:t>
            </a:r>
          </a:p>
          <a:p>
            <a:pPr marL="742950" lvl="1" indent="-285750">
              <a:buFont typeface="Arial" panose="020B0604020202020204" pitchFamily="34" charset="0"/>
              <a:buChar char="•"/>
            </a:pPr>
            <a:r>
              <a:rPr lang="en-US" sz="2000" dirty="0">
                <a:latin typeface="Segoe UI Black" panose="020B0A02040204020203" pitchFamily="34" charset="0"/>
                <a:ea typeface="Segoe UI Black" panose="020B0A02040204020203" pitchFamily="34" charset="0"/>
              </a:rPr>
              <a:t>Trains with the highest number of cancelled bookings</a:t>
            </a:r>
          </a:p>
          <a:p>
            <a:pPr marL="742950" lvl="1" indent="-285750">
              <a:buFont typeface="Arial" panose="020B0604020202020204" pitchFamily="34" charset="0"/>
              <a:buChar char="•"/>
            </a:pPr>
            <a:r>
              <a:rPr lang="en-US" sz="2000" dirty="0">
                <a:latin typeface="Segoe UI Black" panose="020B0A02040204020203" pitchFamily="34" charset="0"/>
                <a:ea typeface="Segoe UI Black" panose="020B0A02040204020203" pitchFamily="34" charset="0"/>
              </a:rPr>
              <a:t>Passenger preferences across different seat classes</a:t>
            </a:r>
          </a:p>
          <a:p>
            <a:pPr marL="742950" lvl="1" indent="-285750">
              <a:buFont typeface="Arial" panose="020B0604020202020204" pitchFamily="34" charset="0"/>
              <a:buChar char="•"/>
            </a:pPr>
            <a:r>
              <a:rPr lang="en-US" sz="2000" dirty="0">
                <a:latin typeface="Segoe UI Black" panose="020B0A02040204020203" pitchFamily="34" charset="0"/>
                <a:ea typeface="Segoe UI Black" panose="020B0A02040204020203" pitchFamily="34" charset="0"/>
              </a:rPr>
              <a:t>Total distance travelled by passengers</a:t>
            </a:r>
          </a:p>
          <a:p>
            <a:pPr marL="285750" indent="-285750">
              <a:buFont typeface="Arial" panose="020B0604020202020204" pitchFamily="34" charset="0"/>
              <a:buChar char="•"/>
            </a:pPr>
            <a:r>
              <a:rPr lang="en-US" sz="2000" dirty="0">
                <a:latin typeface="Segoe UI Black" panose="020B0A02040204020203" pitchFamily="34" charset="0"/>
                <a:ea typeface="Segoe UI Black" panose="020B0A02040204020203" pitchFamily="34" charset="0"/>
              </a:rPr>
              <a:t>This project demonstrates practical use of </a:t>
            </a:r>
            <a:r>
              <a:rPr lang="en-US" sz="2000" b="1" dirty="0">
                <a:latin typeface="Segoe UI Black" panose="020B0A02040204020203" pitchFamily="34" charset="0"/>
                <a:ea typeface="Segoe UI Black" panose="020B0A02040204020203" pitchFamily="34" charset="0"/>
              </a:rPr>
              <a:t>SQL concepts</a:t>
            </a:r>
            <a:r>
              <a:rPr lang="en-US" sz="2000" dirty="0">
                <a:latin typeface="Segoe UI Black" panose="020B0A02040204020203" pitchFamily="34" charset="0"/>
                <a:ea typeface="Segoe UI Black" panose="020B0A02040204020203" pitchFamily="34" charset="0"/>
              </a:rPr>
              <a:t> such as joins, aggregation functions, grouping, filtering, and sorting to extract meaningful insights.</a:t>
            </a:r>
          </a:p>
          <a:p>
            <a:r>
              <a:rPr lang="en-US" sz="2000" dirty="0">
                <a:latin typeface="Segoe UI Black" panose="020B0A02040204020203" pitchFamily="34" charset="0"/>
                <a:ea typeface="Segoe UI Black" panose="020B0A02040204020203" pitchFamily="34" charset="0"/>
              </a:rPr>
              <a:t>Overall, the system helps in better </a:t>
            </a:r>
            <a:r>
              <a:rPr lang="en-US" sz="2000" b="1" dirty="0">
                <a:latin typeface="Segoe UI Black" panose="020B0A02040204020203" pitchFamily="34" charset="0"/>
                <a:ea typeface="Segoe UI Black" panose="020B0A02040204020203" pitchFamily="34" charset="0"/>
              </a:rPr>
              <a:t>data management, analysis, and decision-making</a:t>
            </a:r>
            <a:r>
              <a:rPr lang="en-US" sz="2000" dirty="0">
                <a:latin typeface="Segoe UI Black" panose="020B0A02040204020203" pitchFamily="34" charset="0"/>
                <a:ea typeface="Segoe UI Black" panose="020B0A02040204020203" pitchFamily="34" charset="0"/>
              </a:rPr>
              <a:t> in railway operations.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Daytona" panose="020B0604030500040204" pitchFamily="34" charset="0"/>
            </a:endParaRPr>
          </a:p>
        </p:txBody>
      </p:sp>
    </p:spTree>
    <p:extLst>
      <p:ext uri="{BB962C8B-B14F-4D97-AF65-F5344CB8AC3E}">
        <p14:creationId xmlns:p14="http://schemas.microsoft.com/office/powerpoint/2010/main" val="2664058265"/>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AE4FDC3-FA76-38D6-1523-B2582E3DEB4D}"/>
              </a:ext>
            </a:extLst>
          </p:cNvPr>
          <p:cNvSpPr txBox="1"/>
          <p:nvPr/>
        </p:nvSpPr>
        <p:spPr>
          <a:xfrm>
            <a:off x="1148777" y="226970"/>
            <a:ext cx="9805589" cy="668516"/>
          </a:xfrm>
          <a:prstGeom prst="rect">
            <a:avLst/>
          </a:prstGeom>
          <a:solidFill>
            <a:schemeClr val="accent4">
              <a:lumMod val="50000"/>
            </a:schemeClr>
          </a:solidFill>
        </p:spPr>
        <p:txBody>
          <a:bodyPr wrap="square" rtlCol="0">
            <a:spAutoFit/>
          </a:bodyPr>
          <a:lstStyle/>
          <a:p>
            <a:pPr algn="ctr"/>
            <a:r>
              <a:rPr lang="en-US" sz="36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 Train Table</a:t>
            </a:r>
          </a:p>
        </p:txBody>
      </p:sp>
      <p:sp>
        <p:nvSpPr>
          <p:cNvPr id="5" name="Rectangle: Top Corners Rounded 4">
            <a:extLst>
              <a:ext uri="{FF2B5EF4-FFF2-40B4-BE49-F238E27FC236}">
                <a16:creationId xmlns:a16="http://schemas.microsoft.com/office/drawing/2014/main" id="{E55D55C7-F531-132D-6A52-4C12087BA3CF}"/>
              </a:ext>
            </a:extLst>
          </p:cNvPr>
          <p:cNvSpPr/>
          <p:nvPr/>
        </p:nvSpPr>
        <p:spPr>
          <a:xfrm>
            <a:off x="3074585" y="1114670"/>
            <a:ext cx="6983589" cy="1396907"/>
          </a:xfrm>
          <a:prstGeom prst="round2Same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72"/>
          </a:p>
        </p:txBody>
      </p:sp>
      <p:sp>
        <p:nvSpPr>
          <p:cNvPr id="20" name="TextBox 19">
            <a:extLst>
              <a:ext uri="{FF2B5EF4-FFF2-40B4-BE49-F238E27FC236}">
                <a16:creationId xmlns:a16="http://schemas.microsoft.com/office/drawing/2014/main" id="{B6133DB9-2D6D-1AC5-B4EF-47D282085424}"/>
              </a:ext>
            </a:extLst>
          </p:cNvPr>
          <p:cNvSpPr txBox="1"/>
          <p:nvPr/>
        </p:nvSpPr>
        <p:spPr>
          <a:xfrm>
            <a:off x="3246760" y="1165824"/>
            <a:ext cx="6983590" cy="1384995"/>
          </a:xfrm>
          <a:prstGeom prst="rect">
            <a:avLst/>
          </a:prstGeom>
          <a:noFill/>
        </p:spPr>
        <p:txBody>
          <a:bodyPr wrap="square" rtlCol="0">
            <a:spAutoFit/>
          </a:bodyPr>
          <a:lstStyle/>
          <a:p>
            <a:r>
              <a:rPr lang="en-US" sz="1400" b="1" dirty="0">
                <a:latin typeface="Daytona" panose="020F0502020204030204" pitchFamily="34" charset="0"/>
                <a:cs typeface="Angsana New" panose="020B0502040204020203" pitchFamily="18" charset="-34"/>
              </a:rPr>
              <a:t>CREATE TABLE TRAIN ( TRAINID INT PRIMARY KEY AUTO_INCREMENT,  </a:t>
            </a:r>
          </a:p>
          <a:p>
            <a:r>
              <a:rPr lang="en-US" sz="1400" b="1" dirty="0">
                <a:latin typeface="Daytona" panose="020F0502020204030204" pitchFamily="34" charset="0"/>
                <a:cs typeface="Angsana New" panose="020B0502040204020203" pitchFamily="18" charset="-34"/>
              </a:rPr>
              <a:t>TRAINNAME VARCHAR(100) NOT NULL, </a:t>
            </a:r>
          </a:p>
          <a:p>
            <a:r>
              <a:rPr lang="en-US" sz="1400" b="1" dirty="0">
                <a:latin typeface="Daytona" panose="020F0502020204030204" pitchFamily="34" charset="0"/>
                <a:cs typeface="Angsana New" panose="020B0502040204020203" pitchFamily="18" charset="-34"/>
              </a:rPr>
              <a:t>TRAINTYPE VARCHAR(50),    </a:t>
            </a:r>
          </a:p>
          <a:p>
            <a:r>
              <a:rPr lang="en-US" sz="1400" b="1" dirty="0">
                <a:latin typeface="Daytona" panose="020F0502020204030204" pitchFamily="34" charset="0"/>
                <a:cs typeface="Angsana New" panose="020B0502040204020203" pitchFamily="18" charset="-34"/>
              </a:rPr>
              <a:t>SOURCESTATION VARCHAR(100), </a:t>
            </a:r>
          </a:p>
          <a:p>
            <a:r>
              <a:rPr lang="en-US" sz="1400" b="1" dirty="0">
                <a:latin typeface="Daytona" panose="020F0502020204030204" pitchFamily="34" charset="0"/>
                <a:cs typeface="Angsana New" panose="020B0502040204020203" pitchFamily="18" charset="-34"/>
              </a:rPr>
              <a:t>DESTINATIONSTATION VARCHAR(100),   </a:t>
            </a:r>
          </a:p>
          <a:p>
            <a:r>
              <a:rPr lang="en-US" sz="1400" b="1" dirty="0">
                <a:latin typeface="Daytona" panose="020F0502020204030204" pitchFamily="34" charset="0"/>
                <a:cs typeface="Angsana New" panose="020B0502040204020203" pitchFamily="18" charset="-34"/>
              </a:rPr>
              <a:t> DAYSOFOPERATION VARCHAR(50));</a:t>
            </a:r>
          </a:p>
        </p:txBody>
      </p:sp>
      <p:pic>
        <p:nvPicPr>
          <p:cNvPr id="22" name="Picture 21" descr="A screenshot of a computer&#10;&#10;AI-generated content may be incorrect.">
            <a:extLst>
              <a:ext uri="{FF2B5EF4-FFF2-40B4-BE49-F238E27FC236}">
                <a16:creationId xmlns:a16="http://schemas.microsoft.com/office/drawing/2014/main" id="{ABD106E6-D367-F86B-B95B-5E08FE114121}"/>
              </a:ext>
            </a:extLst>
          </p:cNvPr>
          <p:cNvPicPr>
            <a:picLocks noChangeAspect="1"/>
          </p:cNvPicPr>
          <p:nvPr/>
        </p:nvPicPr>
        <p:blipFill>
          <a:blip r:embed="rId3">
            <a:extLst>
              <a:ext uri="{28A0092B-C50C-407E-A947-70E740481C1C}">
                <a14:useLocalDpi xmlns:a14="http://schemas.microsoft.com/office/drawing/2010/main" val="0"/>
              </a:ext>
            </a:extLst>
          </a:blip>
          <a:srcRect l="15992" t="40100" r="32656" b="11573"/>
          <a:stretch>
            <a:fillRect/>
          </a:stretch>
        </p:blipFill>
        <p:spPr>
          <a:xfrm>
            <a:off x="3173519" y="2676895"/>
            <a:ext cx="6714912" cy="3068434"/>
          </a:xfrm>
          <a:prstGeom prst="rect">
            <a:avLst/>
          </a:prstGeom>
          <a:ln w="28575">
            <a:solidFill>
              <a:schemeClr val="tx1">
                <a:lumMod val="95000"/>
                <a:lumOff val="5000"/>
              </a:schemeClr>
            </a:solidFill>
          </a:ln>
          <a:effectLst>
            <a:reflection stA="45000" endPos="0" dist="50800" dir="5400000" sy="-100000" algn="bl" rotWithShape="0"/>
          </a:effectLst>
        </p:spPr>
      </p:pic>
      <p:sp>
        <p:nvSpPr>
          <p:cNvPr id="18" name="Arrow: Right 17">
            <a:extLst>
              <a:ext uri="{FF2B5EF4-FFF2-40B4-BE49-F238E27FC236}">
                <a16:creationId xmlns:a16="http://schemas.microsoft.com/office/drawing/2014/main" id="{5BE37FFC-7E5B-2819-11E9-8F26ED754B8D}"/>
              </a:ext>
            </a:extLst>
          </p:cNvPr>
          <p:cNvSpPr/>
          <p:nvPr/>
        </p:nvSpPr>
        <p:spPr>
          <a:xfrm>
            <a:off x="1" y="1101444"/>
            <a:ext cx="1772667" cy="1575452"/>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DF612C12-844B-7860-C177-66443B468A80}"/>
              </a:ext>
            </a:extLst>
          </p:cNvPr>
          <p:cNvSpPr txBox="1"/>
          <p:nvPr/>
        </p:nvSpPr>
        <p:spPr>
          <a:xfrm>
            <a:off x="-165386" y="1622002"/>
            <a:ext cx="1766604" cy="584775"/>
          </a:xfrm>
          <a:prstGeom prst="rect">
            <a:avLst/>
          </a:prstGeom>
          <a:noFill/>
        </p:spPr>
        <p:txBody>
          <a:bodyPr wrap="square" rtlCol="0">
            <a:spAutoFit/>
          </a:bodyPr>
          <a:lstStyle/>
          <a:p>
            <a:pPr algn="ctr"/>
            <a:r>
              <a:rPr lang="en-US" sz="3200" b="1" dirty="0"/>
              <a:t>QUERY</a:t>
            </a:r>
          </a:p>
        </p:txBody>
      </p:sp>
      <p:pic>
        <p:nvPicPr>
          <p:cNvPr id="27" name="Picture 26" descr="A blue and white circular sign with a circular design&#10;&#10;AI-generated content may be incorrect.">
            <a:extLst>
              <a:ext uri="{FF2B5EF4-FFF2-40B4-BE49-F238E27FC236}">
                <a16:creationId xmlns:a16="http://schemas.microsoft.com/office/drawing/2014/main" id="{632E8A6A-D4D6-3553-504F-416F3D85CD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2473" y="-121065"/>
            <a:ext cx="1412212" cy="1412212"/>
          </a:xfrm>
          <a:prstGeom prst="rect">
            <a:avLst/>
          </a:prstGeom>
        </p:spPr>
      </p:pic>
      <p:sp>
        <p:nvSpPr>
          <p:cNvPr id="29" name="Rectangle: Top Corners Rounded 28">
            <a:extLst>
              <a:ext uri="{FF2B5EF4-FFF2-40B4-BE49-F238E27FC236}">
                <a16:creationId xmlns:a16="http://schemas.microsoft.com/office/drawing/2014/main" id="{100FD12C-3B9D-1DBA-D685-DEE559215D88}"/>
              </a:ext>
            </a:extLst>
          </p:cNvPr>
          <p:cNvSpPr/>
          <p:nvPr/>
        </p:nvSpPr>
        <p:spPr>
          <a:xfrm>
            <a:off x="333422" y="5907289"/>
            <a:ext cx="11903314" cy="998379"/>
          </a:xfrm>
          <a:prstGeom prst="round2SameRect">
            <a:avLst>
              <a:gd name="adj1" fmla="val 16667"/>
              <a:gd name="adj2" fmla="val 7074"/>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72" dirty="0"/>
          </a:p>
        </p:txBody>
      </p:sp>
      <p:sp>
        <p:nvSpPr>
          <p:cNvPr id="30" name="TextBox 29">
            <a:extLst>
              <a:ext uri="{FF2B5EF4-FFF2-40B4-BE49-F238E27FC236}">
                <a16:creationId xmlns:a16="http://schemas.microsoft.com/office/drawing/2014/main" id="{D4F34110-0F70-2489-665F-93EE2E93D8DA}"/>
              </a:ext>
            </a:extLst>
          </p:cNvPr>
          <p:cNvSpPr txBox="1"/>
          <p:nvPr/>
        </p:nvSpPr>
        <p:spPr>
          <a:xfrm>
            <a:off x="596614" y="5906416"/>
            <a:ext cx="11652536" cy="1015663"/>
          </a:xfrm>
          <a:prstGeom prst="rect">
            <a:avLst/>
          </a:prstGeom>
          <a:noFill/>
        </p:spPr>
        <p:txBody>
          <a:bodyPr wrap="square" rtlCol="0">
            <a:spAutoFit/>
          </a:bodyPr>
          <a:lstStyle/>
          <a:p>
            <a:r>
              <a:rPr lang="en-US" sz="2000" b="1" dirty="0">
                <a:solidFill>
                  <a:schemeClr val="bg1"/>
                </a:solidFill>
                <a:latin typeface="Segoe UI Black" panose="020B0A02040204020203" pitchFamily="34" charset="0"/>
                <a:ea typeface="Segoe UI Black" panose="020B0A02040204020203" pitchFamily="34" charset="0"/>
                <a:cs typeface="Aharoni" panose="020F0502020204030204" pitchFamily="2" charset="-79"/>
              </a:rPr>
              <a:t>SUMMARY : Shows train details ID, name, type, start &amp; end stations, and days of running. Train ID gives a unique number for each train. Helps to check train schedules and types. Used with Booking, Route, and Payment tables.</a:t>
            </a:r>
          </a:p>
        </p:txBody>
      </p:sp>
    </p:spTree>
    <p:extLst>
      <p:ext uri="{BB962C8B-B14F-4D97-AF65-F5344CB8AC3E}">
        <p14:creationId xmlns:p14="http://schemas.microsoft.com/office/powerpoint/2010/main" val="1636231938"/>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C943B26B-0CF5-5F71-40FA-D09D72FA128D}"/>
            </a:ext>
          </a:extLst>
        </p:cNvPr>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86F28EF7-C03C-256F-37F4-23A08FA586BA}"/>
              </a:ext>
            </a:extLst>
          </p:cNvPr>
          <p:cNvSpPr/>
          <p:nvPr/>
        </p:nvSpPr>
        <p:spPr>
          <a:xfrm>
            <a:off x="3074586" y="969683"/>
            <a:ext cx="6907614" cy="1837949"/>
          </a:xfrm>
          <a:prstGeom prst="round2Same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 name="Rectangle: Top Corners Rounded 6">
            <a:extLst>
              <a:ext uri="{FF2B5EF4-FFF2-40B4-BE49-F238E27FC236}">
                <a16:creationId xmlns:a16="http://schemas.microsoft.com/office/drawing/2014/main" id="{9839B62C-C931-79D5-C10A-8BF8837E40C8}"/>
              </a:ext>
            </a:extLst>
          </p:cNvPr>
          <p:cNvSpPr/>
          <p:nvPr/>
        </p:nvSpPr>
        <p:spPr>
          <a:xfrm>
            <a:off x="333422" y="5907289"/>
            <a:ext cx="11903314" cy="998379"/>
          </a:xfrm>
          <a:prstGeom prst="round2SameRect">
            <a:avLst>
              <a:gd name="adj1" fmla="val 16667"/>
              <a:gd name="adj2" fmla="val 7074"/>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72" dirty="0"/>
          </a:p>
        </p:txBody>
      </p:sp>
      <p:sp>
        <p:nvSpPr>
          <p:cNvPr id="20" name="TextBox 19">
            <a:extLst>
              <a:ext uri="{FF2B5EF4-FFF2-40B4-BE49-F238E27FC236}">
                <a16:creationId xmlns:a16="http://schemas.microsoft.com/office/drawing/2014/main" id="{0FA46851-EEB0-E572-2A72-10079EFC9798}"/>
              </a:ext>
            </a:extLst>
          </p:cNvPr>
          <p:cNvSpPr txBox="1"/>
          <p:nvPr/>
        </p:nvSpPr>
        <p:spPr>
          <a:xfrm>
            <a:off x="3246757" y="1029850"/>
            <a:ext cx="7268057" cy="1815882"/>
          </a:xfrm>
          <a:prstGeom prst="rect">
            <a:avLst/>
          </a:prstGeom>
          <a:noFill/>
        </p:spPr>
        <p:txBody>
          <a:bodyPr wrap="square" rtlCol="0">
            <a:spAutoFit/>
          </a:bodyPr>
          <a:lstStyle/>
          <a:p>
            <a:r>
              <a:rPr lang="en-US" sz="1400" b="1" dirty="0">
                <a:latin typeface="Daytona" panose="020F0502020204030204" pitchFamily="34" charset="0"/>
                <a:cs typeface="Angsana New" panose="020B0502040204020203" pitchFamily="18" charset="-34"/>
              </a:rPr>
              <a:t>CREATE TABLE Route (RouteID INT PRIMARY KEY AUTO_INCREMENT,   </a:t>
            </a:r>
          </a:p>
          <a:p>
            <a:r>
              <a:rPr lang="en-US" sz="1400" b="1" dirty="0">
                <a:latin typeface="Daytona" panose="020F0502020204030204" pitchFamily="34" charset="0"/>
                <a:cs typeface="Angsana New" panose="020B0502040204020203" pitchFamily="18" charset="-34"/>
              </a:rPr>
              <a:t>TrainID INT,    </a:t>
            </a:r>
          </a:p>
          <a:p>
            <a:r>
              <a:rPr lang="en-US" sz="1400" b="1" dirty="0">
                <a:latin typeface="Daytona" panose="020F0502020204030204" pitchFamily="34" charset="0"/>
                <a:cs typeface="Angsana New" panose="020B0502040204020203" pitchFamily="18" charset="-34"/>
              </a:rPr>
              <a:t>StationName VARCHAR(100),   </a:t>
            </a:r>
          </a:p>
          <a:p>
            <a:r>
              <a:rPr lang="en-US" sz="1400" b="1" dirty="0">
                <a:latin typeface="Daytona" panose="020F0502020204030204" pitchFamily="34" charset="0"/>
                <a:cs typeface="Angsana New" panose="020B0502040204020203" pitchFamily="18" charset="-34"/>
              </a:rPr>
              <a:t>ArrivalTime TIME,  </a:t>
            </a:r>
          </a:p>
          <a:p>
            <a:r>
              <a:rPr lang="en-US" sz="1400" b="1" dirty="0">
                <a:latin typeface="Daytona" panose="020F0502020204030204" pitchFamily="34" charset="0"/>
                <a:cs typeface="Angsana New" panose="020B0502040204020203" pitchFamily="18" charset="-34"/>
              </a:rPr>
              <a:t>DepartureTime TIME, </a:t>
            </a:r>
          </a:p>
          <a:p>
            <a:r>
              <a:rPr lang="en-US" sz="1400" b="1" dirty="0">
                <a:latin typeface="Daytona" panose="020F0502020204030204" pitchFamily="34" charset="0"/>
                <a:cs typeface="Angsana New" panose="020B0502040204020203" pitchFamily="18" charset="-34"/>
              </a:rPr>
              <a:t>DistanceFromSource INT,   </a:t>
            </a:r>
          </a:p>
          <a:p>
            <a:r>
              <a:rPr lang="en-US" sz="1400" b="1" dirty="0">
                <a:latin typeface="Daytona" panose="020F0502020204030204" pitchFamily="34" charset="0"/>
                <a:cs typeface="Angsana New" panose="020B0502040204020203" pitchFamily="18" charset="-34"/>
              </a:rPr>
              <a:t>StopNumber INT,   </a:t>
            </a:r>
          </a:p>
          <a:p>
            <a:r>
              <a:rPr lang="en-US" sz="1400" b="1" dirty="0">
                <a:latin typeface="Daytona" panose="020F0502020204030204" pitchFamily="34" charset="0"/>
                <a:cs typeface="Angsana New" panose="020B0502040204020203" pitchFamily="18" charset="-34"/>
              </a:rPr>
              <a:t>FOREIGN KEY (TrainID) REFERENCES Train(TrainID));</a:t>
            </a:r>
          </a:p>
        </p:txBody>
      </p:sp>
      <p:sp>
        <p:nvSpPr>
          <p:cNvPr id="24" name="TextBox 23">
            <a:extLst>
              <a:ext uri="{FF2B5EF4-FFF2-40B4-BE49-F238E27FC236}">
                <a16:creationId xmlns:a16="http://schemas.microsoft.com/office/drawing/2014/main" id="{ADF109DD-2D76-F203-BE5F-9E457C5C99C2}"/>
              </a:ext>
            </a:extLst>
          </p:cNvPr>
          <p:cNvSpPr txBox="1"/>
          <p:nvPr/>
        </p:nvSpPr>
        <p:spPr>
          <a:xfrm>
            <a:off x="444214" y="5925466"/>
            <a:ext cx="11652536" cy="1015663"/>
          </a:xfrm>
          <a:prstGeom prst="rect">
            <a:avLst/>
          </a:prstGeom>
          <a:noFill/>
        </p:spPr>
        <p:txBody>
          <a:bodyPr wrap="square" rtlCol="0">
            <a:spAutoFit/>
          </a:bodyPr>
          <a:lstStyle/>
          <a:p>
            <a:r>
              <a:rPr lang="en-US" sz="2000" b="1" dirty="0">
                <a:solidFill>
                  <a:schemeClr val="bg1"/>
                </a:solidFill>
                <a:latin typeface="Segoe UI Black" panose="020B0A02040204020203" pitchFamily="34" charset="0"/>
                <a:ea typeface="Segoe UI Black" panose="020B0A02040204020203" pitchFamily="34" charset="0"/>
              </a:rPr>
              <a:t>SUMMARY : The table has 120 rows for all stations of 20 trains. Shows station </a:t>
            </a:r>
            <a:r>
              <a:rPr lang="en-US" sz="2000" b="1" dirty="0" err="1">
                <a:solidFill>
                  <a:schemeClr val="bg1"/>
                </a:solidFill>
                <a:latin typeface="Segoe UI Black" panose="020B0A02040204020203" pitchFamily="34" charset="0"/>
                <a:ea typeface="Segoe UI Black" panose="020B0A02040204020203" pitchFamily="34" charset="0"/>
              </a:rPr>
              <a:t>name,arrival</a:t>
            </a:r>
            <a:r>
              <a:rPr lang="en-US" sz="2000" b="1" dirty="0">
                <a:solidFill>
                  <a:schemeClr val="bg1"/>
                </a:solidFill>
                <a:latin typeface="Segoe UI Black" panose="020B0A02040204020203" pitchFamily="34" charset="0"/>
                <a:ea typeface="Segoe UI Black" panose="020B0A02040204020203" pitchFamily="34" charset="0"/>
              </a:rPr>
              <a:t> &amp; departure times, distance, and stop number. TrainID links each route to its train. Helps in train schedule and route management.</a:t>
            </a:r>
          </a:p>
        </p:txBody>
      </p:sp>
      <p:pic>
        <p:nvPicPr>
          <p:cNvPr id="4" name="Picture 3" descr="A screenshot of a computer&#10;&#10;AI-generated content may be incorrect.">
            <a:extLst>
              <a:ext uri="{FF2B5EF4-FFF2-40B4-BE49-F238E27FC236}">
                <a16:creationId xmlns:a16="http://schemas.microsoft.com/office/drawing/2014/main" id="{6E03353B-1C54-6386-E69B-C949F2564E16}"/>
              </a:ext>
            </a:extLst>
          </p:cNvPr>
          <p:cNvPicPr>
            <a:picLocks noChangeAspect="1"/>
          </p:cNvPicPr>
          <p:nvPr/>
        </p:nvPicPr>
        <p:blipFill>
          <a:blip r:embed="rId2">
            <a:extLst>
              <a:ext uri="{28A0092B-C50C-407E-A947-70E740481C1C}">
                <a14:useLocalDpi xmlns:a14="http://schemas.microsoft.com/office/drawing/2010/main" val="0"/>
              </a:ext>
            </a:extLst>
          </a:blip>
          <a:srcRect l="16248" t="39682" r="40512" b="12902"/>
          <a:stretch>
            <a:fillRect/>
          </a:stretch>
        </p:blipFill>
        <p:spPr>
          <a:xfrm>
            <a:off x="3246757" y="2830950"/>
            <a:ext cx="6525893" cy="3000139"/>
          </a:xfrm>
          <a:prstGeom prst="rect">
            <a:avLst/>
          </a:prstGeom>
          <a:ln w="19050">
            <a:solidFill>
              <a:schemeClr val="tx1"/>
            </a:solidFill>
          </a:ln>
        </p:spPr>
      </p:pic>
      <p:sp>
        <p:nvSpPr>
          <p:cNvPr id="11" name="TextBox 10">
            <a:extLst>
              <a:ext uri="{FF2B5EF4-FFF2-40B4-BE49-F238E27FC236}">
                <a16:creationId xmlns:a16="http://schemas.microsoft.com/office/drawing/2014/main" id="{B1B3A909-1A06-EBCB-B03F-2383A63D6201}"/>
              </a:ext>
            </a:extLst>
          </p:cNvPr>
          <p:cNvSpPr txBox="1"/>
          <p:nvPr/>
        </p:nvSpPr>
        <p:spPr>
          <a:xfrm>
            <a:off x="1148777" y="226970"/>
            <a:ext cx="9805589" cy="668516"/>
          </a:xfrm>
          <a:prstGeom prst="rect">
            <a:avLst/>
          </a:prstGeom>
          <a:solidFill>
            <a:schemeClr val="accent4">
              <a:lumMod val="50000"/>
            </a:schemeClr>
          </a:solidFill>
        </p:spPr>
        <p:txBody>
          <a:bodyPr wrap="square" rtlCol="0">
            <a:spAutoFit/>
          </a:bodyPr>
          <a:lstStyle/>
          <a:p>
            <a:pPr algn="ctr"/>
            <a:r>
              <a:rPr lang="en-US" sz="36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 Route Table</a:t>
            </a:r>
          </a:p>
        </p:txBody>
      </p:sp>
      <p:pic>
        <p:nvPicPr>
          <p:cNvPr id="12" name="Picture 11" descr="A blue and white circular sign with a circular design&#10;&#10;AI-generated content may be incorrect.">
            <a:extLst>
              <a:ext uri="{FF2B5EF4-FFF2-40B4-BE49-F238E27FC236}">
                <a16:creationId xmlns:a16="http://schemas.microsoft.com/office/drawing/2014/main" id="{90B7D298-C45C-BE55-A614-E8495CBA63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2473" y="-121065"/>
            <a:ext cx="1412212" cy="1412212"/>
          </a:xfrm>
          <a:prstGeom prst="rect">
            <a:avLst/>
          </a:prstGeom>
        </p:spPr>
      </p:pic>
      <p:sp>
        <p:nvSpPr>
          <p:cNvPr id="13" name="Arrow: Right 12">
            <a:extLst>
              <a:ext uri="{FF2B5EF4-FFF2-40B4-BE49-F238E27FC236}">
                <a16:creationId xmlns:a16="http://schemas.microsoft.com/office/drawing/2014/main" id="{72C8E1AF-D359-DB09-B46F-CADEA7A3D8CC}"/>
              </a:ext>
            </a:extLst>
          </p:cNvPr>
          <p:cNvSpPr/>
          <p:nvPr/>
        </p:nvSpPr>
        <p:spPr>
          <a:xfrm>
            <a:off x="1" y="1101444"/>
            <a:ext cx="1772667" cy="1575452"/>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A309B70C-552B-B0B3-695E-1FD7528ADCA0}"/>
              </a:ext>
            </a:extLst>
          </p:cNvPr>
          <p:cNvSpPr txBox="1"/>
          <p:nvPr/>
        </p:nvSpPr>
        <p:spPr>
          <a:xfrm>
            <a:off x="-165386" y="1622002"/>
            <a:ext cx="1766604" cy="584775"/>
          </a:xfrm>
          <a:prstGeom prst="rect">
            <a:avLst/>
          </a:prstGeom>
          <a:noFill/>
        </p:spPr>
        <p:txBody>
          <a:bodyPr wrap="square" rtlCol="0">
            <a:spAutoFit/>
          </a:bodyPr>
          <a:lstStyle/>
          <a:p>
            <a:pPr algn="ctr"/>
            <a:r>
              <a:rPr lang="en-US" sz="3200" b="1" dirty="0"/>
              <a:t>QUERY</a:t>
            </a:r>
          </a:p>
        </p:txBody>
      </p:sp>
    </p:spTree>
    <p:extLst>
      <p:ext uri="{BB962C8B-B14F-4D97-AF65-F5344CB8AC3E}">
        <p14:creationId xmlns:p14="http://schemas.microsoft.com/office/powerpoint/2010/main" val="2370989302"/>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54349A38-1639-7D3F-EDC7-0779411C4B07}"/>
            </a:ext>
          </a:extLst>
        </p:cNvPr>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F836425D-F66A-5F7F-B341-2AB4698A6AA6}"/>
              </a:ext>
            </a:extLst>
          </p:cNvPr>
          <p:cNvSpPr/>
          <p:nvPr/>
        </p:nvSpPr>
        <p:spPr>
          <a:xfrm>
            <a:off x="3074586" y="969684"/>
            <a:ext cx="7326714" cy="1825806"/>
          </a:xfrm>
          <a:prstGeom prst="round2Same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 name="Rectangle: Top Corners Rounded 6">
            <a:extLst>
              <a:ext uri="{FF2B5EF4-FFF2-40B4-BE49-F238E27FC236}">
                <a16:creationId xmlns:a16="http://schemas.microsoft.com/office/drawing/2014/main" id="{491161ED-23ED-6C09-0316-AF689E0542C8}"/>
              </a:ext>
            </a:extLst>
          </p:cNvPr>
          <p:cNvSpPr/>
          <p:nvPr/>
        </p:nvSpPr>
        <p:spPr>
          <a:xfrm>
            <a:off x="333422" y="5907289"/>
            <a:ext cx="11903314" cy="998379"/>
          </a:xfrm>
          <a:prstGeom prst="round2SameRect">
            <a:avLst>
              <a:gd name="adj1" fmla="val 16667"/>
              <a:gd name="adj2" fmla="val 7074"/>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72" dirty="0"/>
          </a:p>
        </p:txBody>
      </p:sp>
      <p:sp>
        <p:nvSpPr>
          <p:cNvPr id="20" name="TextBox 19">
            <a:extLst>
              <a:ext uri="{FF2B5EF4-FFF2-40B4-BE49-F238E27FC236}">
                <a16:creationId xmlns:a16="http://schemas.microsoft.com/office/drawing/2014/main" id="{B522EE9B-653D-1698-1FE9-A752818DD1D1}"/>
              </a:ext>
            </a:extLst>
          </p:cNvPr>
          <p:cNvSpPr txBox="1"/>
          <p:nvPr/>
        </p:nvSpPr>
        <p:spPr>
          <a:xfrm>
            <a:off x="3238500" y="997617"/>
            <a:ext cx="7162800" cy="1815882"/>
          </a:xfrm>
          <a:prstGeom prst="rect">
            <a:avLst/>
          </a:prstGeom>
          <a:noFill/>
        </p:spPr>
        <p:txBody>
          <a:bodyPr wrap="square" rtlCol="0">
            <a:spAutoFit/>
          </a:bodyPr>
          <a:lstStyle/>
          <a:p>
            <a:r>
              <a:rPr lang="en-US" sz="1400" b="1" dirty="0">
                <a:latin typeface="Daytona" panose="020F0502020204030204" pitchFamily="34" charset="0"/>
                <a:cs typeface="Angsana New" panose="020B0502040204020203" pitchFamily="18" charset="-34"/>
              </a:rPr>
              <a:t>CREATE TABLE Booking ( BookingID INT PRIMARY KEY AUTO_INCREMENT,    TrainID INT,   </a:t>
            </a:r>
          </a:p>
          <a:p>
            <a:r>
              <a:rPr lang="en-US" sz="1400" b="1" dirty="0">
                <a:latin typeface="Daytona" panose="020F0502020204030204" pitchFamily="34" charset="0"/>
                <a:cs typeface="Angsana New" panose="020B0502040204020203" pitchFamily="18" charset="-34"/>
              </a:rPr>
              <a:t>PassengerName VARCHAR(100),    </a:t>
            </a:r>
          </a:p>
          <a:p>
            <a:r>
              <a:rPr lang="en-US" sz="1400" b="1" dirty="0">
                <a:latin typeface="Daytona" panose="020F0502020204030204" pitchFamily="34" charset="0"/>
                <a:cs typeface="Angsana New" panose="020B0502040204020203" pitchFamily="18" charset="-34"/>
              </a:rPr>
              <a:t>Age INT,  Gender VARCHAR(10),    </a:t>
            </a:r>
          </a:p>
          <a:p>
            <a:r>
              <a:rPr lang="en-US" sz="1400" b="1" dirty="0">
                <a:latin typeface="Daytona" panose="020F0502020204030204" pitchFamily="34" charset="0"/>
                <a:cs typeface="Angsana New" panose="020B0502040204020203" pitchFamily="18" charset="-34"/>
              </a:rPr>
              <a:t>FromStation VARCHAR(100),    ToStation VARCHAR(100),  </a:t>
            </a:r>
          </a:p>
          <a:p>
            <a:r>
              <a:rPr lang="en-US" sz="1400" b="1" dirty="0">
                <a:latin typeface="Daytona" panose="020F0502020204030204" pitchFamily="34" charset="0"/>
                <a:cs typeface="Angsana New" panose="020B0502040204020203" pitchFamily="18" charset="-34"/>
              </a:rPr>
              <a:t>DateOfJourney DATE, </a:t>
            </a:r>
          </a:p>
          <a:p>
            <a:r>
              <a:rPr lang="en-US" sz="1400" b="1" dirty="0">
                <a:latin typeface="Daytona" panose="020F0502020204030204" pitchFamily="34" charset="0"/>
                <a:cs typeface="Angsana New" panose="020B0502040204020203" pitchFamily="18" charset="-34"/>
              </a:rPr>
              <a:t>SeatClass VARCHAR(50),  Status VARCHAR(20), </a:t>
            </a:r>
          </a:p>
          <a:p>
            <a:r>
              <a:rPr lang="en-US" sz="1400" b="1" dirty="0">
                <a:latin typeface="Daytona" panose="020F0502020204030204" pitchFamily="34" charset="0"/>
                <a:cs typeface="Angsana New" panose="020B0502040204020203" pitchFamily="18" charset="-34"/>
              </a:rPr>
              <a:t>FOREIGN KEY (TrainID) REFERENCES Train(TrainID));</a:t>
            </a:r>
          </a:p>
        </p:txBody>
      </p:sp>
      <p:sp>
        <p:nvSpPr>
          <p:cNvPr id="24" name="TextBox 23">
            <a:extLst>
              <a:ext uri="{FF2B5EF4-FFF2-40B4-BE49-F238E27FC236}">
                <a16:creationId xmlns:a16="http://schemas.microsoft.com/office/drawing/2014/main" id="{22F03879-1819-1C50-6643-E7B800D9C351}"/>
              </a:ext>
            </a:extLst>
          </p:cNvPr>
          <p:cNvSpPr txBox="1"/>
          <p:nvPr/>
        </p:nvSpPr>
        <p:spPr>
          <a:xfrm>
            <a:off x="444214" y="5925466"/>
            <a:ext cx="11792522" cy="1015663"/>
          </a:xfrm>
          <a:prstGeom prst="rect">
            <a:avLst/>
          </a:prstGeom>
          <a:noFill/>
        </p:spPr>
        <p:txBody>
          <a:bodyPr wrap="square" rtlCol="0">
            <a:spAutoFit/>
          </a:bodyPr>
          <a:lstStyle/>
          <a:p>
            <a:r>
              <a:rPr lang="en-US" sz="2000" b="1" dirty="0">
                <a:solidFill>
                  <a:schemeClr val="bg1"/>
                </a:solidFill>
                <a:latin typeface="Segoe UI Black" panose="020B0A02040204020203" pitchFamily="34" charset="0"/>
                <a:ea typeface="Segoe UI Black" panose="020B0A02040204020203" pitchFamily="34" charset="0"/>
              </a:rPr>
              <a:t>SUMMARY : The table has 200 rows of train booking records. Stores passenger details, from &amp; to stations, journey date, and seat class. TrainID connects each booking to a train. Status shows booking confirmation.</a:t>
            </a:r>
          </a:p>
        </p:txBody>
      </p:sp>
      <p:sp>
        <p:nvSpPr>
          <p:cNvPr id="11" name="TextBox 10">
            <a:extLst>
              <a:ext uri="{FF2B5EF4-FFF2-40B4-BE49-F238E27FC236}">
                <a16:creationId xmlns:a16="http://schemas.microsoft.com/office/drawing/2014/main" id="{EC7EDB57-EB4B-EE2D-7CDD-BC071D4313A4}"/>
              </a:ext>
            </a:extLst>
          </p:cNvPr>
          <p:cNvSpPr txBox="1"/>
          <p:nvPr/>
        </p:nvSpPr>
        <p:spPr>
          <a:xfrm>
            <a:off x="1148777" y="226970"/>
            <a:ext cx="9805589" cy="668516"/>
          </a:xfrm>
          <a:prstGeom prst="rect">
            <a:avLst/>
          </a:prstGeom>
          <a:solidFill>
            <a:schemeClr val="accent4">
              <a:lumMod val="50000"/>
            </a:schemeClr>
          </a:solidFill>
        </p:spPr>
        <p:txBody>
          <a:bodyPr wrap="square" rtlCol="0">
            <a:spAutoFit/>
          </a:bodyPr>
          <a:lstStyle/>
          <a:p>
            <a:pPr algn="ctr"/>
            <a:r>
              <a:rPr lang="en-US" sz="36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 Booking  Table</a:t>
            </a:r>
          </a:p>
        </p:txBody>
      </p:sp>
      <p:pic>
        <p:nvPicPr>
          <p:cNvPr id="12" name="Picture 11" descr="A blue and white circular sign with a circular design&#10;&#10;AI-generated content may be incorrect.">
            <a:extLst>
              <a:ext uri="{FF2B5EF4-FFF2-40B4-BE49-F238E27FC236}">
                <a16:creationId xmlns:a16="http://schemas.microsoft.com/office/drawing/2014/main" id="{F2FA82E3-8525-500E-1CB5-EBC7D91503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2473" y="-121065"/>
            <a:ext cx="1412212" cy="1412212"/>
          </a:xfrm>
          <a:prstGeom prst="rect">
            <a:avLst/>
          </a:prstGeom>
        </p:spPr>
      </p:pic>
      <p:sp>
        <p:nvSpPr>
          <p:cNvPr id="13" name="Arrow: Right 12">
            <a:extLst>
              <a:ext uri="{FF2B5EF4-FFF2-40B4-BE49-F238E27FC236}">
                <a16:creationId xmlns:a16="http://schemas.microsoft.com/office/drawing/2014/main" id="{CBA6B623-5D12-ECAD-0A32-29862ABE3D10}"/>
              </a:ext>
            </a:extLst>
          </p:cNvPr>
          <p:cNvSpPr/>
          <p:nvPr/>
        </p:nvSpPr>
        <p:spPr>
          <a:xfrm>
            <a:off x="1" y="1101444"/>
            <a:ext cx="1772667" cy="1575452"/>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B30BD7ED-9242-5C65-084C-C4CBA5DC735B}"/>
              </a:ext>
            </a:extLst>
          </p:cNvPr>
          <p:cNvSpPr txBox="1"/>
          <p:nvPr/>
        </p:nvSpPr>
        <p:spPr>
          <a:xfrm>
            <a:off x="-165386" y="1622002"/>
            <a:ext cx="1766604" cy="584775"/>
          </a:xfrm>
          <a:prstGeom prst="rect">
            <a:avLst/>
          </a:prstGeom>
          <a:noFill/>
        </p:spPr>
        <p:txBody>
          <a:bodyPr wrap="square" rtlCol="0">
            <a:spAutoFit/>
          </a:bodyPr>
          <a:lstStyle/>
          <a:p>
            <a:pPr algn="ctr"/>
            <a:r>
              <a:rPr lang="en-US" sz="3200" b="1" dirty="0"/>
              <a:t>QUERY</a:t>
            </a:r>
          </a:p>
        </p:txBody>
      </p:sp>
      <p:pic>
        <p:nvPicPr>
          <p:cNvPr id="8" name="Picture 7" descr="A screenshot of a computer&#10;&#10;AI-generated content may be incorrect.">
            <a:extLst>
              <a:ext uri="{FF2B5EF4-FFF2-40B4-BE49-F238E27FC236}">
                <a16:creationId xmlns:a16="http://schemas.microsoft.com/office/drawing/2014/main" id="{916FB0E3-777A-D545-E382-9935C839BA0B}"/>
              </a:ext>
            </a:extLst>
          </p:cNvPr>
          <p:cNvPicPr>
            <a:picLocks noChangeAspect="1"/>
          </p:cNvPicPr>
          <p:nvPr/>
        </p:nvPicPr>
        <p:blipFill>
          <a:blip r:embed="rId3"/>
          <a:stretch>
            <a:fillRect/>
          </a:stretch>
        </p:blipFill>
        <p:spPr>
          <a:xfrm>
            <a:off x="3226986" y="2856877"/>
            <a:ext cx="6983815" cy="2976851"/>
          </a:xfrm>
          <a:prstGeom prst="rect">
            <a:avLst/>
          </a:prstGeom>
          <a:ln w="19050">
            <a:solidFill>
              <a:schemeClr val="tx1"/>
            </a:solidFill>
          </a:ln>
        </p:spPr>
      </p:pic>
    </p:spTree>
    <p:extLst>
      <p:ext uri="{BB962C8B-B14F-4D97-AF65-F5344CB8AC3E}">
        <p14:creationId xmlns:p14="http://schemas.microsoft.com/office/powerpoint/2010/main" val="555465420"/>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B7042FCA-F78D-456F-2698-50284A5A0111}"/>
            </a:ext>
          </a:extLst>
        </p:cNvPr>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60F6FA90-A532-F4E9-118B-97C75B2CE7DA}"/>
              </a:ext>
            </a:extLst>
          </p:cNvPr>
          <p:cNvSpPr/>
          <p:nvPr/>
        </p:nvSpPr>
        <p:spPr>
          <a:xfrm>
            <a:off x="3074586" y="969684"/>
            <a:ext cx="7402914" cy="1707212"/>
          </a:xfrm>
          <a:prstGeom prst="round2Same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 name="Rectangle: Top Corners Rounded 6">
            <a:extLst>
              <a:ext uri="{FF2B5EF4-FFF2-40B4-BE49-F238E27FC236}">
                <a16:creationId xmlns:a16="http://schemas.microsoft.com/office/drawing/2014/main" id="{0983DB32-EE63-2DFC-4BDC-E150FAC26ACC}"/>
              </a:ext>
            </a:extLst>
          </p:cNvPr>
          <p:cNvSpPr/>
          <p:nvPr/>
        </p:nvSpPr>
        <p:spPr>
          <a:xfrm>
            <a:off x="333422" y="5907289"/>
            <a:ext cx="11903314" cy="998379"/>
          </a:xfrm>
          <a:prstGeom prst="round2SameRect">
            <a:avLst>
              <a:gd name="adj1" fmla="val 16667"/>
              <a:gd name="adj2" fmla="val 7074"/>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72" dirty="0"/>
          </a:p>
        </p:txBody>
      </p:sp>
      <p:sp>
        <p:nvSpPr>
          <p:cNvPr id="20" name="TextBox 19">
            <a:extLst>
              <a:ext uri="{FF2B5EF4-FFF2-40B4-BE49-F238E27FC236}">
                <a16:creationId xmlns:a16="http://schemas.microsoft.com/office/drawing/2014/main" id="{2AA87EC5-1129-D9F3-111A-07B632D6674B}"/>
              </a:ext>
            </a:extLst>
          </p:cNvPr>
          <p:cNvSpPr txBox="1"/>
          <p:nvPr/>
        </p:nvSpPr>
        <p:spPr>
          <a:xfrm>
            <a:off x="3226986" y="1101444"/>
            <a:ext cx="6983816" cy="1600438"/>
          </a:xfrm>
          <a:prstGeom prst="rect">
            <a:avLst/>
          </a:prstGeom>
          <a:noFill/>
        </p:spPr>
        <p:txBody>
          <a:bodyPr wrap="square" rtlCol="0">
            <a:spAutoFit/>
          </a:bodyPr>
          <a:lstStyle/>
          <a:p>
            <a:r>
              <a:rPr lang="en-US" sz="1400" b="1" dirty="0">
                <a:latin typeface="Daytona" panose="020F0502020204030204" pitchFamily="34" charset="0"/>
                <a:cs typeface="Angsana New" panose="020B0502040204020203" pitchFamily="18" charset="-34"/>
              </a:rPr>
              <a:t>CREATE TABLE Payment ( PaymentID INT PRIMARY KEY,   </a:t>
            </a:r>
          </a:p>
          <a:p>
            <a:r>
              <a:rPr lang="en-US" sz="1400" b="1" dirty="0">
                <a:latin typeface="Daytona" panose="020F0502020204030204" pitchFamily="34" charset="0"/>
                <a:cs typeface="Angsana New" panose="020B0502040204020203" pitchFamily="18" charset="-34"/>
              </a:rPr>
              <a:t> BookingID INT,  </a:t>
            </a:r>
          </a:p>
          <a:p>
            <a:r>
              <a:rPr lang="en-US" sz="1400" b="1" dirty="0">
                <a:latin typeface="Daytona" panose="020F0502020204030204" pitchFamily="34" charset="0"/>
                <a:cs typeface="Angsana New" panose="020B0502040204020203" pitchFamily="18" charset="-34"/>
              </a:rPr>
              <a:t> AmountPaid DECIMAL(10,2),  </a:t>
            </a:r>
          </a:p>
          <a:p>
            <a:r>
              <a:rPr lang="en-US" sz="1400" b="1" dirty="0">
                <a:latin typeface="Daytona" panose="020F0502020204030204" pitchFamily="34" charset="0"/>
                <a:cs typeface="Angsana New" panose="020B0502040204020203" pitchFamily="18" charset="-34"/>
              </a:rPr>
              <a:t> PaymentMode VARCHAR(50),            </a:t>
            </a:r>
          </a:p>
          <a:p>
            <a:r>
              <a:rPr lang="en-US" sz="1400" b="1" dirty="0">
                <a:latin typeface="Daytona" panose="020F0502020204030204" pitchFamily="34" charset="0"/>
                <a:cs typeface="Angsana New" panose="020B0502040204020203" pitchFamily="18" charset="-34"/>
              </a:rPr>
              <a:t> PaymentStatus VARCHAR(20),         </a:t>
            </a:r>
          </a:p>
          <a:p>
            <a:r>
              <a:rPr lang="en-US" sz="1400" b="1" dirty="0">
                <a:latin typeface="Daytona" panose="020F0502020204030204" pitchFamily="34" charset="0"/>
                <a:cs typeface="Angsana New" panose="020B0502040204020203" pitchFamily="18" charset="-34"/>
              </a:rPr>
              <a:t> PaymentDate DATE,    </a:t>
            </a:r>
          </a:p>
          <a:p>
            <a:r>
              <a:rPr lang="en-US" sz="1400" b="1" dirty="0">
                <a:latin typeface="Daytona" panose="020F0502020204030204" pitchFamily="34" charset="0"/>
                <a:cs typeface="Angsana New" panose="020B0502040204020203" pitchFamily="18" charset="-34"/>
              </a:rPr>
              <a:t> FOREIGN KEY (BookingID) REFERENCES Booking(BookingID));</a:t>
            </a:r>
          </a:p>
        </p:txBody>
      </p:sp>
      <p:sp>
        <p:nvSpPr>
          <p:cNvPr id="24" name="TextBox 23">
            <a:extLst>
              <a:ext uri="{FF2B5EF4-FFF2-40B4-BE49-F238E27FC236}">
                <a16:creationId xmlns:a16="http://schemas.microsoft.com/office/drawing/2014/main" id="{9BE02EC9-9632-3ADD-7F57-CC657F42F0B8}"/>
              </a:ext>
            </a:extLst>
          </p:cNvPr>
          <p:cNvSpPr txBox="1"/>
          <p:nvPr/>
        </p:nvSpPr>
        <p:spPr>
          <a:xfrm>
            <a:off x="444214" y="5925466"/>
            <a:ext cx="11792522" cy="1323439"/>
          </a:xfrm>
          <a:prstGeom prst="rect">
            <a:avLst/>
          </a:prstGeom>
          <a:noFill/>
        </p:spPr>
        <p:txBody>
          <a:bodyPr wrap="square" rtlCol="0">
            <a:spAutoFit/>
          </a:bodyPr>
          <a:lstStyle/>
          <a:p>
            <a:r>
              <a:rPr lang="en-US" sz="2000" b="1" dirty="0">
                <a:solidFill>
                  <a:schemeClr val="bg1"/>
                </a:solidFill>
                <a:latin typeface="Segoe UI Black" panose="020B0A02040204020203" pitchFamily="34" charset="0"/>
                <a:ea typeface="Segoe UI Black" panose="020B0A02040204020203" pitchFamily="34" charset="0"/>
              </a:rPr>
              <a:t>SUMMARY : The table has 200 rows of payment records. Stores payment amount, payment mode, status, and date. Each payment is linked to a booking using BookingID. Used to track and manage booking payments.</a:t>
            </a:r>
          </a:p>
          <a:p>
            <a:endParaRPr lang="en-US" sz="2000" b="1" dirty="0">
              <a:solidFill>
                <a:schemeClr val="bg1"/>
              </a:solidFill>
              <a:latin typeface="Segoe UI Black" panose="020B0A02040204020203" pitchFamily="34" charset="0"/>
              <a:ea typeface="Segoe UI Black" panose="020B0A02040204020203" pitchFamily="34" charset="0"/>
            </a:endParaRPr>
          </a:p>
        </p:txBody>
      </p:sp>
      <p:sp>
        <p:nvSpPr>
          <p:cNvPr id="11" name="TextBox 10">
            <a:extLst>
              <a:ext uri="{FF2B5EF4-FFF2-40B4-BE49-F238E27FC236}">
                <a16:creationId xmlns:a16="http://schemas.microsoft.com/office/drawing/2014/main" id="{D67AD830-69D9-6EF1-46A1-1758D10368FB}"/>
              </a:ext>
            </a:extLst>
          </p:cNvPr>
          <p:cNvSpPr txBox="1"/>
          <p:nvPr/>
        </p:nvSpPr>
        <p:spPr>
          <a:xfrm>
            <a:off x="1148777" y="226970"/>
            <a:ext cx="9805589" cy="668516"/>
          </a:xfrm>
          <a:prstGeom prst="rect">
            <a:avLst/>
          </a:prstGeom>
          <a:solidFill>
            <a:schemeClr val="accent4">
              <a:lumMod val="50000"/>
            </a:schemeClr>
          </a:solidFill>
        </p:spPr>
        <p:txBody>
          <a:bodyPr wrap="square" rtlCol="0">
            <a:spAutoFit/>
          </a:bodyPr>
          <a:lstStyle/>
          <a:p>
            <a:pPr algn="ctr"/>
            <a:r>
              <a:rPr lang="en-US" sz="36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 Payment Table</a:t>
            </a:r>
          </a:p>
        </p:txBody>
      </p:sp>
      <p:pic>
        <p:nvPicPr>
          <p:cNvPr id="12" name="Picture 11" descr="A blue and white circular sign with a circular design&#10;&#10;AI-generated content may be incorrect.">
            <a:extLst>
              <a:ext uri="{FF2B5EF4-FFF2-40B4-BE49-F238E27FC236}">
                <a16:creationId xmlns:a16="http://schemas.microsoft.com/office/drawing/2014/main" id="{75F1E0BB-9EF3-6FDD-0F72-918403F305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2473" y="-121065"/>
            <a:ext cx="1412212" cy="1412212"/>
          </a:xfrm>
          <a:prstGeom prst="rect">
            <a:avLst/>
          </a:prstGeom>
        </p:spPr>
      </p:pic>
      <p:sp>
        <p:nvSpPr>
          <p:cNvPr id="13" name="Arrow: Right 12">
            <a:extLst>
              <a:ext uri="{FF2B5EF4-FFF2-40B4-BE49-F238E27FC236}">
                <a16:creationId xmlns:a16="http://schemas.microsoft.com/office/drawing/2014/main" id="{4676EC58-9131-1014-AFE3-DDA312EA8E70}"/>
              </a:ext>
            </a:extLst>
          </p:cNvPr>
          <p:cNvSpPr/>
          <p:nvPr/>
        </p:nvSpPr>
        <p:spPr>
          <a:xfrm>
            <a:off x="1" y="1101444"/>
            <a:ext cx="1772667" cy="1575452"/>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E52EBF12-3D5C-64E0-8C91-F4FD1C2A24C9}"/>
              </a:ext>
            </a:extLst>
          </p:cNvPr>
          <p:cNvSpPr txBox="1"/>
          <p:nvPr/>
        </p:nvSpPr>
        <p:spPr>
          <a:xfrm>
            <a:off x="-165386" y="1622002"/>
            <a:ext cx="1766604" cy="584775"/>
          </a:xfrm>
          <a:prstGeom prst="rect">
            <a:avLst/>
          </a:prstGeom>
          <a:noFill/>
        </p:spPr>
        <p:txBody>
          <a:bodyPr wrap="square" rtlCol="0">
            <a:spAutoFit/>
          </a:bodyPr>
          <a:lstStyle/>
          <a:p>
            <a:pPr algn="ctr"/>
            <a:r>
              <a:rPr lang="en-US" sz="3200" b="1" dirty="0"/>
              <a:t>QUERY</a:t>
            </a:r>
          </a:p>
        </p:txBody>
      </p:sp>
      <p:pic>
        <p:nvPicPr>
          <p:cNvPr id="6" name="Picture 5" descr="A screenshot of a computer&#10;&#10;AI-generated content may be incorrect.">
            <a:extLst>
              <a:ext uri="{FF2B5EF4-FFF2-40B4-BE49-F238E27FC236}">
                <a16:creationId xmlns:a16="http://schemas.microsoft.com/office/drawing/2014/main" id="{803AC51F-C25B-7512-76A5-8B5027D1156B}"/>
              </a:ext>
            </a:extLst>
          </p:cNvPr>
          <p:cNvPicPr>
            <a:picLocks noChangeAspect="1"/>
          </p:cNvPicPr>
          <p:nvPr/>
        </p:nvPicPr>
        <p:blipFill>
          <a:blip r:embed="rId3"/>
          <a:stretch>
            <a:fillRect/>
          </a:stretch>
        </p:blipFill>
        <p:spPr>
          <a:xfrm>
            <a:off x="3371850" y="2720060"/>
            <a:ext cx="6838952" cy="3162243"/>
          </a:xfrm>
          <a:prstGeom prst="rect">
            <a:avLst/>
          </a:prstGeom>
          <a:ln w="19050">
            <a:solidFill>
              <a:schemeClr val="tx1"/>
            </a:solidFill>
          </a:ln>
        </p:spPr>
      </p:pic>
    </p:spTree>
    <p:extLst>
      <p:ext uri="{BB962C8B-B14F-4D97-AF65-F5344CB8AC3E}">
        <p14:creationId xmlns:p14="http://schemas.microsoft.com/office/powerpoint/2010/main" val="4049190297"/>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97AFBA15-191C-AA7B-103C-BC83A311C211}"/>
            </a:ext>
          </a:extLst>
        </p:cNvPr>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EF1AF8DA-23C8-17EE-35CF-B9308948BB6B}"/>
              </a:ext>
            </a:extLst>
          </p:cNvPr>
          <p:cNvSpPr/>
          <p:nvPr/>
        </p:nvSpPr>
        <p:spPr>
          <a:xfrm>
            <a:off x="2312586" y="1160184"/>
            <a:ext cx="8241114" cy="1237093"/>
          </a:xfrm>
          <a:prstGeom prst="round2Same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 name="Rectangle: Top Corners Rounded 6">
            <a:extLst>
              <a:ext uri="{FF2B5EF4-FFF2-40B4-BE49-F238E27FC236}">
                <a16:creationId xmlns:a16="http://schemas.microsoft.com/office/drawing/2014/main" id="{F16B0E6C-3DD4-5451-36CF-3EBBF414D8E9}"/>
              </a:ext>
            </a:extLst>
          </p:cNvPr>
          <p:cNvSpPr/>
          <p:nvPr/>
        </p:nvSpPr>
        <p:spPr>
          <a:xfrm>
            <a:off x="333422" y="5907289"/>
            <a:ext cx="11903314" cy="998379"/>
          </a:xfrm>
          <a:prstGeom prst="round2SameRect">
            <a:avLst>
              <a:gd name="adj1" fmla="val 16667"/>
              <a:gd name="adj2" fmla="val 7074"/>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72" dirty="0"/>
          </a:p>
        </p:txBody>
      </p:sp>
      <p:sp>
        <p:nvSpPr>
          <p:cNvPr id="20" name="TextBox 19">
            <a:extLst>
              <a:ext uri="{FF2B5EF4-FFF2-40B4-BE49-F238E27FC236}">
                <a16:creationId xmlns:a16="http://schemas.microsoft.com/office/drawing/2014/main" id="{127A6FF0-1B68-D9F5-7432-2ED8AF9E8D42}"/>
              </a:ext>
            </a:extLst>
          </p:cNvPr>
          <p:cNvSpPr txBox="1"/>
          <p:nvPr/>
        </p:nvSpPr>
        <p:spPr>
          <a:xfrm>
            <a:off x="2369736" y="1406244"/>
            <a:ext cx="8241114" cy="830997"/>
          </a:xfrm>
          <a:prstGeom prst="rect">
            <a:avLst/>
          </a:prstGeom>
          <a:noFill/>
        </p:spPr>
        <p:txBody>
          <a:bodyPr wrap="square" rtlCol="0">
            <a:spAutoFit/>
          </a:bodyPr>
          <a:lstStyle/>
          <a:p>
            <a:r>
              <a:rPr lang="en-US" sz="1600" b="1" dirty="0">
                <a:latin typeface="Daytona" panose="020F0502020204030204" pitchFamily="34" charset="0"/>
                <a:cs typeface="Angsana New" panose="020B0502040204020203" pitchFamily="18" charset="-34"/>
              </a:rPr>
              <a:t>select </a:t>
            </a:r>
            <a:r>
              <a:rPr lang="en-US" sz="1600" b="1" dirty="0" err="1">
                <a:latin typeface="Daytona" panose="020F0502020204030204" pitchFamily="34" charset="0"/>
                <a:cs typeface="Angsana New" panose="020B0502040204020203" pitchFamily="18" charset="-34"/>
              </a:rPr>
              <a:t>TrainID,TrainName,SourceStation,DestinationStation</a:t>
            </a:r>
            <a:r>
              <a:rPr lang="en-US" sz="1600" b="1" dirty="0">
                <a:latin typeface="Daytona" panose="020F0502020204030204" pitchFamily="34" charset="0"/>
                <a:cs typeface="Angsana New" panose="020B0502040204020203" pitchFamily="18" charset="-34"/>
              </a:rPr>
              <a:t>, DaysOfOperation </a:t>
            </a:r>
          </a:p>
          <a:p>
            <a:r>
              <a:rPr lang="en-US" sz="1600" b="1" dirty="0">
                <a:latin typeface="Daytona" panose="020F0502020204030204" pitchFamily="34" charset="0"/>
                <a:cs typeface="Angsana New" panose="020B0502040204020203" pitchFamily="18" charset="-34"/>
              </a:rPr>
              <a:t>from Train</a:t>
            </a:r>
          </a:p>
          <a:p>
            <a:r>
              <a:rPr lang="en-US" sz="1600" b="1" dirty="0">
                <a:latin typeface="Daytona" panose="020F0502020204030204" pitchFamily="34" charset="0"/>
                <a:cs typeface="Angsana New" panose="020B0502040204020203" pitchFamily="18" charset="-34"/>
              </a:rPr>
              <a:t>where DaysOfOperation = 'Daily';</a:t>
            </a:r>
          </a:p>
        </p:txBody>
      </p:sp>
      <p:sp>
        <p:nvSpPr>
          <p:cNvPr id="24" name="TextBox 23">
            <a:extLst>
              <a:ext uri="{FF2B5EF4-FFF2-40B4-BE49-F238E27FC236}">
                <a16:creationId xmlns:a16="http://schemas.microsoft.com/office/drawing/2014/main" id="{85726C4C-58CE-A423-B96A-766181B0836E}"/>
              </a:ext>
            </a:extLst>
          </p:cNvPr>
          <p:cNvSpPr txBox="1"/>
          <p:nvPr/>
        </p:nvSpPr>
        <p:spPr>
          <a:xfrm>
            <a:off x="672814" y="5925466"/>
            <a:ext cx="11792522" cy="1323439"/>
          </a:xfrm>
          <a:prstGeom prst="rect">
            <a:avLst/>
          </a:prstGeom>
          <a:noFill/>
        </p:spPr>
        <p:txBody>
          <a:bodyPr wrap="square" rtlCol="0">
            <a:spAutoFit/>
          </a:bodyPr>
          <a:lstStyle/>
          <a:p>
            <a:r>
              <a:rPr lang="en-US" sz="2000" b="1" dirty="0">
                <a:solidFill>
                  <a:schemeClr val="bg1"/>
                </a:solidFill>
                <a:latin typeface="Segoe UI Black" panose="020B0A02040204020203" pitchFamily="34" charset="0"/>
                <a:ea typeface="Segoe UI Black" panose="020B0A02040204020203" pitchFamily="34" charset="0"/>
              </a:rPr>
              <a:t>SUMMARY : This query lists all trains that operate daily. It fetches train name, source station, destination station, and operation days. Uses a filter to show only trains with DaysOfOperation = 'Daily'. Helps identify regularly running trains</a:t>
            </a:r>
          </a:p>
          <a:p>
            <a:endParaRPr lang="en-US" sz="2000" b="1" dirty="0">
              <a:solidFill>
                <a:schemeClr val="bg1"/>
              </a:solidFill>
              <a:latin typeface="Segoe UI Black" panose="020B0A02040204020203" pitchFamily="34" charset="0"/>
              <a:ea typeface="Segoe UI Black" panose="020B0A02040204020203" pitchFamily="34" charset="0"/>
            </a:endParaRPr>
          </a:p>
        </p:txBody>
      </p:sp>
      <p:sp>
        <p:nvSpPr>
          <p:cNvPr id="11" name="TextBox 10">
            <a:extLst>
              <a:ext uri="{FF2B5EF4-FFF2-40B4-BE49-F238E27FC236}">
                <a16:creationId xmlns:a16="http://schemas.microsoft.com/office/drawing/2014/main" id="{F2119864-9BD7-6B96-2C06-79551B888EAE}"/>
              </a:ext>
            </a:extLst>
          </p:cNvPr>
          <p:cNvSpPr txBox="1"/>
          <p:nvPr/>
        </p:nvSpPr>
        <p:spPr>
          <a:xfrm>
            <a:off x="1148777" y="226970"/>
            <a:ext cx="9805589" cy="668516"/>
          </a:xfrm>
          <a:prstGeom prst="rect">
            <a:avLst/>
          </a:prstGeom>
          <a:solidFill>
            <a:schemeClr val="accent4">
              <a:lumMod val="50000"/>
            </a:schemeClr>
          </a:solidFill>
        </p:spPr>
        <p:txBody>
          <a:bodyPr wrap="square" rtlCol="0">
            <a:spAutoFit/>
          </a:bodyPr>
          <a:lstStyle/>
          <a:p>
            <a:pPr algn="ctr"/>
            <a:r>
              <a:rPr lang="en-US" sz="36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1. List all trains that operate daily.</a:t>
            </a:r>
          </a:p>
        </p:txBody>
      </p:sp>
      <p:pic>
        <p:nvPicPr>
          <p:cNvPr id="12" name="Picture 11" descr="A blue and white circular sign with a circular design&#10;&#10;AI-generated content may be incorrect.">
            <a:extLst>
              <a:ext uri="{FF2B5EF4-FFF2-40B4-BE49-F238E27FC236}">
                <a16:creationId xmlns:a16="http://schemas.microsoft.com/office/drawing/2014/main" id="{7932493C-50E4-6A00-83E4-9BC5F59EBC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2473" y="-121065"/>
            <a:ext cx="1412212" cy="1412212"/>
          </a:xfrm>
          <a:prstGeom prst="rect">
            <a:avLst/>
          </a:prstGeom>
        </p:spPr>
      </p:pic>
      <p:sp>
        <p:nvSpPr>
          <p:cNvPr id="13" name="Arrow: Right 12">
            <a:extLst>
              <a:ext uri="{FF2B5EF4-FFF2-40B4-BE49-F238E27FC236}">
                <a16:creationId xmlns:a16="http://schemas.microsoft.com/office/drawing/2014/main" id="{3ED39B21-9FC9-BB95-D056-C27A92D9D443}"/>
              </a:ext>
            </a:extLst>
          </p:cNvPr>
          <p:cNvSpPr/>
          <p:nvPr/>
        </p:nvSpPr>
        <p:spPr>
          <a:xfrm>
            <a:off x="1" y="1101444"/>
            <a:ext cx="1772667" cy="1575452"/>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5AE1EE08-0983-45C8-3ADE-FBE3FD202FBC}"/>
              </a:ext>
            </a:extLst>
          </p:cNvPr>
          <p:cNvSpPr txBox="1"/>
          <p:nvPr/>
        </p:nvSpPr>
        <p:spPr>
          <a:xfrm>
            <a:off x="-165386" y="1622002"/>
            <a:ext cx="1766604" cy="584775"/>
          </a:xfrm>
          <a:prstGeom prst="rect">
            <a:avLst/>
          </a:prstGeom>
          <a:noFill/>
        </p:spPr>
        <p:txBody>
          <a:bodyPr wrap="square" rtlCol="0">
            <a:spAutoFit/>
          </a:bodyPr>
          <a:lstStyle/>
          <a:p>
            <a:pPr algn="ctr"/>
            <a:r>
              <a:rPr lang="en-US" sz="3200" b="1" dirty="0"/>
              <a:t>QUERY</a:t>
            </a:r>
          </a:p>
        </p:txBody>
      </p:sp>
      <p:pic>
        <p:nvPicPr>
          <p:cNvPr id="8" name="Picture 7">
            <a:extLst>
              <a:ext uri="{FF2B5EF4-FFF2-40B4-BE49-F238E27FC236}">
                <a16:creationId xmlns:a16="http://schemas.microsoft.com/office/drawing/2014/main" id="{F7B1B4CA-19CE-FBD9-A970-5E616910C03E}"/>
              </a:ext>
            </a:extLst>
          </p:cNvPr>
          <p:cNvPicPr>
            <a:picLocks noChangeAspect="1"/>
          </p:cNvPicPr>
          <p:nvPr/>
        </p:nvPicPr>
        <p:blipFill>
          <a:blip r:embed="rId3"/>
          <a:stretch>
            <a:fillRect/>
          </a:stretch>
        </p:blipFill>
        <p:spPr>
          <a:xfrm>
            <a:off x="2647951" y="2464251"/>
            <a:ext cx="7696200" cy="3415453"/>
          </a:xfrm>
          <a:prstGeom prst="rect">
            <a:avLst/>
          </a:prstGeom>
          <a:ln w="19050">
            <a:solidFill>
              <a:schemeClr val="tx1"/>
            </a:solidFill>
          </a:ln>
        </p:spPr>
      </p:pic>
    </p:spTree>
    <p:extLst>
      <p:ext uri="{BB962C8B-B14F-4D97-AF65-F5344CB8AC3E}">
        <p14:creationId xmlns:p14="http://schemas.microsoft.com/office/powerpoint/2010/main" val="3482516809"/>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8E48BD5A-EEFD-BF89-8888-B6E284A4D92A}"/>
            </a:ext>
          </a:extLst>
        </p:cNvPr>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07753A92-31CF-A34A-957B-0316BC048710}"/>
              </a:ext>
            </a:extLst>
          </p:cNvPr>
          <p:cNvSpPr/>
          <p:nvPr/>
        </p:nvSpPr>
        <p:spPr>
          <a:xfrm>
            <a:off x="2312586" y="1160184"/>
            <a:ext cx="6202764" cy="1046593"/>
          </a:xfrm>
          <a:prstGeom prst="round2Same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1400" dirty="0"/>
          </a:p>
        </p:txBody>
      </p:sp>
      <p:sp>
        <p:nvSpPr>
          <p:cNvPr id="7" name="Rectangle: Top Corners Rounded 6">
            <a:extLst>
              <a:ext uri="{FF2B5EF4-FFF2-40B4-BE49-F238E27FC236}">
                <a16:creationId xmlns:a16="http://schemas.microsoft.com/office/drawing/2014/main" id="{12B9AFFE-367B-4815-F106-923F79F1FA6E}"/>
              </a:ext>
            </a:extLst>
          </p:cNvPr>
          <p:cNvSpPr/>
          <p:nvPr/>
        </p:nvSpPr>
        <p:spPr>
          <a:xfrm>
            <a:off x="333422" y="5907289"/>
            <a:ext cx="11903314" cy="998379"/>
          </a:xfrm>
          <a:prstGeom prst="round2SameRect">
            <a:avLst>
              <a:gd name="adj1" fmla="val 16667"/>
              <a:gd name="adj2" fmla="val 7074"/>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72" dirty="0"/>
          </a:p>
        </p:txBody>
      </p:sp>
      <p:sp>
        <p:nvSpPr>
          <p:cNvPr id="20" name="TextBox 19">
            <a:extLst>
              <a:ext uri="{FF2B5EF4-FFF2-40B4-BE49-F238E27FC236}">
                <a16:creationId xmlns:a16="http://schemas.microsoft.com/office/drawing/2014/main" id="{77B951C1-1CBB-A5FD-F2CF-9EEB6DC62410}"/>
              </a:ext>
            </a:extLst>
          </p:cNvPr>
          <p:cNvSpPr txBox="1"/>
          <p:nvPr/>
        </p:nvSpPr>
        <p:spPr>
          <a:xfrm>
            <a:off x="2674536" y="1406245"/>
            <a:ext cx="5459814" cy="584775"/>
          </a:xfrm>
          <a:prstGeom prst="rect">
            <a:avLst/>
          </a:prstGeom>
          <a:noFill/>
        </p:spPr>
        <p:txBody>
          <a:bodyPr wrap="square" rtlCol="0">
            <a:spAutoFit/>
          </a:bodyPr>
          <a:lstStyle/>
          <a:p>
            <a:r>
              <a:rPr lang="en-US" sz="1600" b="1" dirty="0">
                <a:latin typeface="Daytona" panose="020F0502020204030204" pitchFamily="34" charset="0"/>
                <a:cs typeface="Angsana New" panose="020B0502040204020203" pitchFamily="18" charset="-34"/>
              </a:rPr>
              <a:t>select * from booking</a:t>
            </a:r>
          </a:p>
          <a:p>
            <a:r>
              <a:rPr lang="en-US" sz="1600" b="1" dirty="0">
                <a:latin typeface="Daytona" panose="020F0502020204030204" pitchFamily="34" charset="0"/>
                <a:cs typeface="Angsana New" panose="020B0502040204020203" pitchFamily="18" charset="-34"/>
              </a:rPr>
              <a:t>where Status = 'Confirmed’;  </a:t>
            </a:r>
          </a:p>
        </p:txBody>
      </p:sp>
      <p:sp>
        <p:nvSpPr>
          <p:cNvPr id="24" name="TextBox 23">
            <a:extLst>
              <a:ext uri="{FF2B5EF4-FFF2-40B4-BE49-F238E27FC236}">
                <a16:creationId xmlns:a16="http://schemas.microsoft.com/office/drawing/2014/main" id="{0A6188C1-D060-78DF-95E6-82E81CA1C03E}"/>
              </a:ext>
            </a:extLst>
          </p:cNvPr>
          <p:cNvSpPr txBox="1"/>
          <p:nvPr/>
        </p:nvSpPr>
        <p:spPr>
          <a:xfrm>
            <a:off x="352473" y="6059689"/>
            <a:ext cx="11763328" cy="1261884"/>
          </a:xfrm>
          <a:prstGeom prst="rect">
            <a:avLst/>
          </a:prstGeom>
          <a:noFill/>
        </p:spPr>
        <p:txBody>
          <a:bodyPr wrap="square" rtlCol="0">
            <a:spAutoFit/>
          </a:bodyPr>
          <a:lstStyle/>
          <a:p>
            <a:r>
              <a:rPr lang="en-US" b="1" dirty="0">
                <a:solidFill>
                  <a:schemeClr val="bg1"/>
                </a:solidFill>
                <a:latin typeface="Segoe UI Black" panose="020B0A02040204020203" pitchFamily="34" charset="0"/>
                <a:ea typeface="Segoe UI Black" panose="020B0A02040204020203" pitchFamily="34" charset="0"/>
              </a:rPr>
              <a:t>SUMMARY : This query shows all confirmed bookings . It filters records where Status ='Confirmed’. Total confirmed bookings: 188 rows. Useful for checking successful reservations.</a:t>
            </a:r>
          </a:p>
          <a:p>
            <a:endParaRPr lang="en-US" sz="2000" b="1" dirty="0">
              <a:solidFill>
                <a:schemeClr val="bg1"/>
              </a:solidFill>
              <a:latin typeface="Segoe UI Black" panose="020B0A02040204020203" pitchFamily="34" charset="0"/>
              <a:ea typeface="Segoe UI Black" panose="020B0A02040204020203" pitchFamily="34" charset="0"/>
            </a:endParaRPr>
          </a:p>
          <a:p>
            <a:endParaRPr lang="en-US" sz="2000" b="1" dirty="0">
              <a:solidFill>
                <a:schemeClr val="bg1"/>
              </a:solidFill>
              <a:latin typeface="Segoe UI Black" panose="020B0A02040204020203" pitchFamily="34" charset="0"/>
              <a:ea typeface="Segoe UI Black" panose="020B0A02040204020203" pitchFamily="34" charset="0"/>
            </a:endParaRPr>
          </a:p>
        </p:txBody>
      </p:sp>
      <p:sp>
        <p:nvSpPr>
          <p:cNvPr id="11" name="TextBox 10">
            <a:extLst>
              <a:ext uri="{FF2B5EF4-FFF2-40B4-BE49-F238E27FC236}">
                <a16:creationId xmlns:a16="http://schemas.microsoft.com/office/drawing/2014/main" id="{3F0700BB-77AA-43E5-B01B-8CF45E22576B}"/>
              </a:ext>
            </a:extLst>
          </p:cNvPr>
          <p:cNvSpPr txBox="1"/>
          <p:nvPr/>
        </p:nvSpPr>
        <p:spPr>
          <a:xfrm>
            <a:off x="1148777" y="226970"/>
            <a:ext cx="9805589" cy="668516"/>
          </a:xfrm>
          <a:prstGeom prst="rect">
            <a:avLst/>
          </a:prstGeom>
          <a:solidFill>
            <a:schemeClr val="accent4">
              <a:lumMod val="50000"/>
            </a:schemeClr>
          </a:solidFill>
        </p:spPr>
        <p:txBody>
          <a:bodyPr wrap="square" rtlCol="0">
            <a:spAutoFit/>
          </a:bodyPr>
          <a:lstStyle/>
          <a:p>
            <a:pPr algn="ctr"/>
            <a:r>
              <a:rPr lang="en-US" sz="36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2. Show all confirmed bookings.</a:t>
            </a:r>
          </a:p>
        </p:txBody>
      </p:sp>
      <p:pic>
        <p:nvPicPr>
          <p:cNvPr id="12" name="Picture 11" descr="A blue and white circular sign with a circular design&#10;&#10;AI-generated content may be incorrect.">
            <a:extLst>
              <a:ext uri="{FF2B5EF4-FFF2-40B4-BE49-F238E27FC236}">
                <a16:creationId xmlns:a16="http://schemas.microsoft.com/office/drawing/2014/main" id="{97B4C599-4BC1-5F5C-BC53-F7788AAF5D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2473" y="-121065"/>
            <a:ext cx="1412212" cy="1412212"/>
          </a:xfrm>
          <a:prstGeom prst="rect">
            <a:avLst/>
          </a:prstGeom>
        </p:spPr>
      </p:pic>
      <p:sp>
        <p:nvSpPr>
          <p:cNvPr id="13" name="Arrow: Right 12">
            <a:extLst>
              <a:ext uri="{FF2B5EF4-FFF2-40B4-BE49-F238E27FC236}">
                <a16:creationId xmlns:a16="http://schemas.microsoft.com/office/drawing/2014/main" id="{261865C5-9F6C-CFD4-3D7E-6CFF792DFFC1}"/>
              </a:ext>
            </a:extLst>
          </p:cNvPr>
          <p:cNvSpPr/>
          <p:nvPr/>
        </p:nvSpPr>
        <p:spPr>
          <a:xfrm>
            <a:off x="1" y="1101444"/>
            <a:ext cx="1772667" cy="1575452"/>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E55CDFCF-0896-49A6-5ACB-2286B00E2DF7}"/>
              </a:ext>
            </a:extLst>
          </p:cNvPr>
          <p:cNvSpPr txBox="1"/>
          <p:nvPr/>
        </p:nvSpPr>
        <p:spPr>
          <a:xfrm>
            <a:off x="-165386" y="1622002"/>
            <a:ext cx="1766604" cy="584775"/>
          </a:xfrm>
          <a:prstGeom prst="rect">
            <a:avLst/>
          </a:prstGeom>
          <a:noFill/>
        </p:spPr>
        <p:txBody>
          <a:bodyPr wrap="square" rtlCol="0">
            <a:spAutoFit/>
          </a:bodyPr>
          <a:lstStyle/>
          <a:p>
            <a:pPr algn="ctr"/>
            <a:r>
              <a:rPr lang="en-US" sz="3200" b="1" dirty="0"/>
              <a:t>QUERY</a:t>
            </a:r>
          </a:p>
        </p:txBody>
      </p:sp>
      <p:pic>
        <p:nvPicPr>
          <p:cNvPr id="6" name="Picture 5">
            <a:extLst>
              <a:ext uri="{FF2B5EF4-FFF2-40B4-BE49-F238E27FC236}">
                <a16:creationId xmlns:a16="http://schemas.microsoft.com/office/drawing/2014/main" id="{0776F6FD-ED3A-0880-05FB-5E8C7F8637AB}"/>
              </a:ext>
            </a:extLst>
          </p:cNvPr>
          <p:cNvPicPr>
            <a:picLocks noChangeAspect="1"/>
          </p:cNvPicPr>
          <p:nvPr/>
        </p:nvPicPr>
        <p:blipFill>
          <a:blip r:embed="rId3"/>
          <a:stretch>
            <a:fillRect/>
          </a:stretch>
        </p:blipFill>
        <p:spPr>
          <a:xfrm>
            <a:off x="2545981" y="2413742"/>
            <a:ext cx="5969369" cy="3277790"/>
          </a:xfrm>
          <a:prstGeom prst="rect">
            <a:avLst/>
          </a:prstGeom>
          <a:ln w="19050">
            <a:solidFill>
              <a:schemeClr val="tx1"/>
            </a:solidFill>
          </a:ln>
        </p:spPr>
      </p:pic>
    </p:spTree>
    <p:extLst>
      <p:ext uri="{BB962C8B-B14F-4D97-AF65-F5344CB8AC3E}">
        <p14:creationId xmlns:p14="http://schemas.microsoft.com/office/powerpoint/2010/main" val="3111245285"/>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B1A9EA07-E120-FFF3-9C1E-AF16E3F922C4}"/>
            </a:ext>
          </a:extLst>
        </p:cNvPr>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DBDFC5CC-7FBA-F685-BC6B-0D24A87D034E}"/>
              </a:ext>
            </a:extLst>
          </p:cNvPr>
          <p:cNvSpPr/>
          <p:nvPr/>
        </p:nvSpPr>
        <p:spPr>
          <a:xfrm>
            <a:off x="2312586" y="1160184"/>
            <a:ext cx="6202764" cy="1046593"/>
          </a:xfrm>
          <a:prstGeom prst="round2Same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1400" dirty="0"/>
          </a:p>
        </p:txBody>
      </p:sp>
      <p:sp>
        <p:nvSpPr>
          <p:cNvPr id="7" name="Rectangle: Top Corners Rounded 6">
            <a:extLst>
              <a:ext uri="{FF2B5EF4-FFF2-40B4-BE49-F238E27FC236}">
                <a16:creationId xmlns:a16="http://schemas.microsoft.com/office/drawing/2014/main" id="{302DC349-B180-16DA-A1C1-FB890939A073}"/>
              </a:ext>
            </a:extLst>
          </p:cNvPr>
          <p:cNvSpPr/>
          <p:nvPr/>
        </p:nvSpPr>
        <p:spPr>
          <a:xfrm>
            <a:off x="333422" y="5907289"/>
            <a:ext cx="11903314" cy="998379"/>
          </a:xfrm>
          <a:prstGeom prst="round2SameRect">
            <a:avLst>
              <a:gd name="adj1" fmla="val 16667"/>
              <a:gd name="adj2" fmla="val 7074"/>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72" dirty="0"/>
          </a:p>
        </p:txBody>
      </p:sp>
      <p:sp>
        <p:nvSpPr>
          <p:cNvPr id="20" name="TextBox 19">
            <a:extLst>
              <a:ext uri="{FF2B5EF4-FFF2-40B4-BE49-F238E27FC236}">
                <a16:creationId xmlns:a16="http://schemas.microsoft.com/office/drawing/2014/main" id="{3E383C75-3FCC-BEB2-E959-B4AE4BDDD5BB}"/>
              </a:ext>
            </a:extLst>
          </p:cNvPr>
          <p:cNvSpPr txBox="1"/>
          <p:nvPr/>
        </p:nvSpPr>
        <p:spPr>
          <a:xfrm>
            <a:off x="2674536" y="1406245"/>
            <a:ext cx="5459814" cy="584775"/>
          </a:xfrm>
          <a:prstGeom prst="rect">
            <a:avLst/>
          </a:prstGeom>
          <a:noFill/>
        </p:spPr>
        <p:txBody>
          <a:bodyPr wrap="square" rtlCol="0">
            <a:spAutoFit/>
          </a:bodyPr>
          <a:lstStyle/>
          <a:p>
            <a:r>
              <a:rPr lang="en-US" sz="1600" b="1" dirty="0">
                <a:latin typeface="Daytona" panose="020F0502020204030204" pitchFamily="34" charset="0"/>
                <a:cs typeface="Angsana New" panose="020B0502040204020203" pitchFamily="18" charset="-34"/>
              </a:rPr>
              <a:t>select * from payment</a:t>
            </a:r>
          </a:p>
          <a:p>
            <a:r>
              <a:rPr lang="en-US" sz="1600" b="1" dirty="0">
                <a:latin typeface="Daytona" panose="020F0502020204030204" pitchFamily="34" charset="0"/>
                <a:cs typeface="Angsana New" panose="020B0502040204020203" pitchFamily="18" charset="-34"/>
              </a:rPr>
              <a:t>where PaymentStatus = 'Paid';</a:t>
            </a:r>
          </a:p>
        </p:txBody>
      </p:sp>
      <p:sp>
        <p:nvSpPr>
          <p:cNvPr id="24" name="TextBox 23">
            <a:extLst>
              <a:ext uri="{FF2B5EF4-FFF2-40B4-BE49-F238E27FC236}">
                <a16:creationId xmlns:a16="http://schemas.microsoft.com/office/drawing/2014/main" id="{D4BB236F-F38D-9CD2-3589-6DB555A1B336}"/>
              </a:ext>
            </a:extLst>
          </p:cNvPr>
          <p:cNvSpPr txBox="1"/>
          <p:nvPr/>
        </p:nvSpPr>
        <p:spPr>
          <a:xfrm>
            <a:off x="352473" y="6059689"/>
            <a:ext cx="11763328" cy="954107"/>
          </a:xfrm>
          <a:prstGeom prst="rect">
            <a:avLst/>
          </a:prstGeom>
          <a:noFill/>
        </p:spPr>
        <p:txBody>
          <a:bodyPr wrap="square" rtlCol="0">
            <a:spAutoFit/>
          </a:bodyPr>
          <a:lstStyle/>
          <a:p>
            <a:r>
              <a:rPr lang="en-US" b="1" dirty="0">
                <a:solidFill>
                  <a:schemeClr val="bg1"/>
                </a:solidFill>
                <a:latin typeface="Segoe UI Black" panose="020B0A02040204020203" pitchFamily="34" charset="0"/>
                <a:ea typeface="Segoe UI Black" panose="020B0A02040204020203" pitchFamily="34" charset="0"/>
              </a:rPr>
              <a:t>SUMMARY : This query shows all paid payment records. It filters data where PaymentStatus ='Paid'. Total paid records: 200 rows. Used to track successful payments.</a:t>
            </a:r>
            <a:endParaRPr lang="en-US" sz="2000" b="1" dirty="0">
              <a:solidFill>
                <a:schemeClr val="bg1"/>
              </a:solidFill>
              <a:latin typeface="Segoe UI Black" panose="020B0A02040204020203" pitchFamily="34" charset="0"/>
              <a:ea typeface="Segoe UI Black" panose="020B0A02040204020203" pitchFamily="34" charset="0"/>
            </a:endParaRPr>
          </a:p>
          <a:p>
            <a:endParaRPr lang="en-US" sz="2000" b="1" dirty="0">
              <a:solidFill>
                <a:schemeClr val="bg1"/>
              </a:solidFill>
              <a:latin typeface="Segoe UI Black" panose="020B0A02040204020203" pitchFamily="34" charset="0"/>
              <a:ea typeface="Segoe UI Black" panose="020B0A02040204020203" pitchFamily="34" charset="0"/>
            </a:endParaRPr>
          </a:p>
        </p:txBody>
      </p:sp>
      <p:sp>
        <p:nvSpPr>
          <p:cNvPr id="11" name="TextBox 10">
            <a:extLst>
              <a:ext uri="{FF2B5EF4-FFF2-40B4-BE49-F238E27FC236}">
                <a16:creationId xmlns:a16="http://schemas.microsoft.com/office/drawing/2014/main" id="{1011D2B2-B5C1-3D83-F166-A952524765D9}"/>
              </a:ext>
            </a:extLst>
          </p:cNvPr>
          <p:cNvSpPr txBox="1"/>
          <p:nvPr/>
        </p:nvSpPr>
        <p:spPr>
          <a:xfrm>
            <a:off x="1148777" y="226970"/>
            <a:ext cx="9805589" cy="668516"/>
          </a:xfrm>
          <a:prstGeom prst="rect">
            <a:avLst/>
          </a:prstGeom>
          <a:solidFill>
            <a:schemeClr val="accent4">
              <a:lumMod val="50000"/>
            </a:schemeClr>
          </a:solidFill>
        </p:spPr>
        <p:txBody>
          <a:bodyPr wrap="square" rtlCol="0">
            <a:spAutoFit/>
          </a:bodyPr>
          <a:lstStyle/>
          <a:p>
            <a:pPr algn="ctr"/>
            <a:r>
              <a:rPr lang="en-US" sz="36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3. Show paid payment records.</a:t>
            </a:r>
          </a:p>
        </p:txBody>
      </p:sp>
      <p:pic>
        <p:nvPicPr>
          <p:cNvPr id="12" name="Picture 11" descr="A blue and white circular sign with a circular design&#10;&#10;AI-generated content may be incorrect.">
            <a:extLst>
              <a:ext uri="{FF2B5EF4-FFF2-40B4-BE49-F238E27FC236}">
                <a16:creationId xmlns:a16="http://schemas.microsoft.com/office/drawing/2014/main" id="{4867EA06-BB00-0A31-2898-CC3B9DA2ED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2473" y="-121065"/>
            <a:ext cx="1412212" cy="1412212"/>
          </a:xfrm>
          <a:prstGeom prst="rect">
            <a:avLst/>
          </a:prstGeom>
        </p:spPr>
      </p:pic>
      <p:sp>
        <p:nvSpPr>
          <p:cNvPr id="13" name="Arrow: Right 12">
            <a:extLst>
              <a:ext uri="{FF2B5EF4-FFF2-40B4-BE49-F238E27FC236}">
                <a16:creationId xmlns:a16="http://schemas.microsoft.com/office/drawing/2014/main" id="{A7792B8B-FA05-3275-8CC6-930CDF7FB1E5}"/>
              </a:ext>
            </a:extLst>
          </p:cNvPr>
          <p:cNvSpPr/>
          <p:nvPr/>
        </p:nvSpPr>
        <p:spPr>
          <a:xfrm>
            <a:off x="1" y="1101444"/>
            <a:ext cx="1772667" cy="1575452"/>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91412464-17E7-B80E-A7DE-424ECC0174EB}"/>
              </a:ext>
            </a:extLst>
          </p:cNvPr>
          <p:cNvSpPr txBox="1"/>
          <p:nvPr/>
        </p:nvSpPr>
        <p:spPr>
          <a:xfrm>
            <a:off x="-165386" y="1622002"/>
            <a:ext cx="1766604" cy="584775"/>
          </a:xfrm>
          <a:prstGeom prst="rect">
            <a:avLst/>
          </a:prstGeom>
          <a:noFill/>
        </p:spPr>
        <p:txBody>
          <a:bodyPr wrap="square" rtlCol="0">
            <a:spAutoFit/>
          </a:bodyPr>
          <a:lstStyle/>
          <a:p>
            <a:pPr algn="ctr"/>
            <a:r>
              <a:rPr lang="en-US" sz="3200" b="1" dirty="0"/>
              <a:t>QUERY</a:t>
            </a:r>
          </a:p>
        </p:txBody>
      </p:sp>
      <p:pic>
        <p:nvPicPr>
          <p:cNvPr id="3" name="Picture 2" descr="A screenshot of a computer&#10;&#10;AI-generated content may be incorrect.">
            <a:extLst>
              <a:ext uri="{FF2B5EF4-FFF2-40B4-BE49-F238E27FC236}">
                <a16:creationId xmlns:a16="http://schemas.microsoft.com/office/drawing/2014/main" id="{B688B0E7-4CBB-3840-6C6E-39509A9428F7}"/>
              </a:ext>
            </a:extLst>
          </p:cNvPr>
          <p:cNvPicPr>
            <a:picLocks noChangeAspect="1"/>
          </p:cNvPicPr>
          <p:nvPr/>
        </p:nvPicPr>
        <p:blipFill>
          <a:blip r:embed="rId3"/>
          <a:stretch>
            <a:fillRect/>
          </a:stretch>
        </p:blipFill>
        <p:spPr>
          <a:xfrm>
            <a:off x="2674536" y="2302027"/>
            <a:ext cx="5459814" cy="3525956"/>
          </a:xfrm>
          <a:prstGeom prst="rect">
            <a:avLst/>
          </a:prstGeom>
          <a:ln w="19050">
            <a:solidFill>
              <a:schemeClr val="tx1"/>
            </a:solidFill>
          </a:ln>
        </p:spPr>
      </p:pic>
    </p:spTree>
    <p:extLst>
      <p:ext uri="{BB962C8B-B14F-4D97-AF65-F5344CB8AC3E}">
        <p14:creationId xmlns:p14="http://schemas.microsoft.com/office/powerpoint/2010/main" val="3032520393"/>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DAE5EEF9-70C9-653F-E145-A326EC5E6A71}"/>
            </a:ext>
          </a:extLst>
        </p:cNvPr>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D828AF18-F7F3-1946-800B-5DC00BAB4D93}"/>
              </a:ext>
            </a:extLst>
          </p:cNvPr>
          <p:cNvSpPr/>
          <p:nvPr/>
        </p:nvSpPr>
        <p:spPr>
          <a:xfrm>
            <a:off x="2312586" y="1160184"/>
            <a:ext cx="6202764" cy="1046593"/>
          </a:xfrm>
          <a:prstGeom prst="round2Same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1400" dirty="0"/>
          </a:p>
        </p:txBody>
      </p:sp>
      <p:sp>
        <p:nvSpPr>
          <p:cNvPr id="7" name="Rectangle: Top Corners Rounded 6">
            <a:extLst>
              <a:ext uri="{FF2B5EF4-FFF2-40B4-BE49-F238E27FC236}">
                <a16:creationId xmlns:a16="http://schemas.microsoft.com/office/drawing/2014/main" id="{85BE596A-D5F5-8FCB-11B0-B1CD369AA6E2}"/>
              </a:ext>
            </a:extLst>
          </p:cNvPr>
          <p:cNvSpPr/>
          <p:nvPr/>
        </p:nvSpPr>
        <p:spPr>
          <a:xfrm>
            <a:off x="333422" y="5907289"/>
            <a:ext cx="11903314" cy="998379"/>
          </a:xfrm>
          <a:prstGeom prst="round2SameRect">
            <a:avLst>
              <a:gd name="adj1" fmla="val 16667"/>
              <a:gd name="adj2" fmla="val 7074"/>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72" dirty="0"/>
          </a:p>
        </p:txBody>
      </p:sp>
      <p:sp>
        <p:nvSpPr>
          <p:cNvPr id="20" name="TextBox 19">
            <a:extLst>
              <a:ext uri="{FF2B5EF4-FFF2-40B4-BE49-F238E27FC236}">
                <a16:creationId xmlns:a16="http://schemas.microsoft.com/office/drawing/2014/main" id="{9643D29A-ED1A-1F2A-DF20-CDA40709B3D0}"/>
              </a:ext>
            </a:extLst>
          </p:cNvPr>
          <p:cNvSpPr txBox="1"/>
          <p:nvPr/>
        </p:nvSpPr>
        <p:spPr>
          <a:xfrm>
            <a:off x="2674536" y="1425295"/>
            <a:ext cx="5459814" cy="584775"/>
          </a:xfrm>
          <a:prstGeom prst="rect">
            <a:avLst/>
          </a:prstGeom>
          <a:noFill/>
        </p:spPr>
        <p:txBody>
          <a:bodyPr wrap="square" rtlCol="0">
            <a:spAutoFit/>
          </a:bodyPr>
          <a:lstStyle/>
          <a:p>
            <a:r>
              <a:rPr lang="en-US" sz="1600" b="1" dirty="0">
                <a:latin typeface="Daytona" panose="020F0502020204030204" pitchFamily="34" charset="0"/>
                <a:cs typeface="Angsana New" panose="020B0502040204020203" pitchFamily="18" charset="-34"/>
              </a:rPr>
              <a:t>select * from booking</a:t>
            </a:r>
          </a:p>
          <a:p>
            <a:r>
              <a:rPr lang="en-US" sz="1600" b="1" dirty="0">
                <a:latin typeface="Daytona" panose="020F0502020204030204" pitchFamily="34" charset="0"/>
                <a:cs typeface="Angsana New" panose="020B0502040204020203" pitchFamily="18" charset="-34"/>
              </a:rPr>
              <a:t>where TrainID = '10';</a:t>
            </a:r>
          </a:p>
        </p:txBody>
      </p:sp>
      <p:sp>
        <p:nvSpPr>
          <p:cNvPr id="24" name="TextBox 23">
            <a:extLst>
              <a:ext uri="{FF2B5EF4-FFF2-40B4-BE49-F238E27FC236}">
                <a16:creationId xmlns:a16="http://schemas.microsoft.com/office/drawing/2014/main" id="{B48D2491-943A-559F-658C-1BAB6B20AFD5}"/>
              </a:ext>
            </a:extLst>
          </p:cNvPr>
          <p:cNvSpPr txBox="1"/>
          <p:nvPr/>
        </p:nvSpPr>
        <p:spPr>
          <a:xfrm>
            <a:off x="352473" y="5926339"/>
            <a:ext cx="11763328" cy="1631216"/>
          </a:xfrm>
          <a:prstGeom prst="rect">
            <a:avLst/>
          </a:prstGeom>
          <a:noFill/>
        </p:spPr>
        <p:txBody>
          <a:bodyPr wrap="square" rtlCol="0">
            <a:spAutoFit/>
          </a:bodyPr>
          <a:lstStyle/>
          <a:p>
            <a:r>
              <a:rPr lang="en-US" b="1" dirty="0">
                <a:solidFill>
                  <a:schemeClr val="bg1"/>
                </a:solidFill>
                <a:latin typeface="Segoe UI Black" panose="020B0A02040204020203" pitchFamily="34" charset="0"/>
                <a:ea typeface="Segoe UI Black" panose="020B0A02040204020203" pitchFamily="34" charset="0"/>
              </a:rPr>
              <a:t>SUMMARY </a:t>
            </a:r>
            <a:r>
              <a:rPr lang="en-US" sz="2000" b="1" dirty="0">
                <a:solidFill>
                  <a:schemeClr val="bg1"/>
                </a:solidFill>
                <a:latin typeface="Segoe UI Black" panose="020B0A02040204020203" pitchFamily="34" charset="0"/>
                <a:ea typeface="Segoe UI Black" panose="020B0A02040204020203" pitchFamily="34" charset="0"/>
              </a:rPr>
              <a:t>: This query shows all bookings for a specific train (TrainID = 10).It filters booking records by the given TrainID. Total bookings found: 13 rows. It helps to view train-wise booking details. </a:t>
            </a:r>
          </a:p>
          <a:p>
            <a:endParaRPr lang="en-US" sz="2000" b="1" dirty="0">
              <a:solidFill>
                <a:schemeClr val="bg1"/>
              </a:solidFill>
              <a:latin typeface="Segoe UI Black" panose="020B0A02040204020203" pitchFamily="34" charset="0"/>
              <a:ea typeface="Segoe UI Black" panose="020B0A02040204020203" pitchFamily="34" charset="0"/>
            </a:endParaRPr>
          </a:p>
          <a:p>
            <a:endParaRPr lang="en-US" sz="2000" b="1" dirty="0">
              <a:solidFill>
                <a:schemeClr val="bg1"/>
              </a:solidFill>
              <a:latin typeface="Segoe UI Black" panose="020B0A02040204020203" pitchFamily="34" charset="0"/>
              <a:ea typeface="Segoe UI Black" panose="020B0A02040204020203" pitchFamily="34" charset="0"/>
            </a:endParaRPr>
          </a:p>
        </p:txBody>
      </p:sp>
      <p:sp>
        <p:nvSpPr>
          <p:cNvPr id="11" name="TextBox 10">
            <a:extLst>
              <a:ext uri="{FF2B5EF4-FFF2-40B4-BE49-F238E27FC236}">
                <a16:creationId xmlns:a16="http://schemas.microsoft.com/office/drawing/2014/main" id="{65FCB950-FEF6-A104-06A7-388613398854}"/>
              </a:ext>
            </a:extLst>
          </p:cNvPr>
          <p:cNvSpPr txBox="1"/>
          <p:nvPr/>
        </p:nvSpPr>
        <p:spPr>
          <a:xfrm>
            <a:off x="1148777" y="226970"/>
            <a:ext cx="9805589" cy="668516"/>
          </a:xfrm>
          <a:prstGeom prst="rect">
            <a:avLst/>
          </a:prstGeom>
          <a:solidFill>
            <a:schemeClr val="accent4">
              <a:lumMod val="50000"/>
            </a:schemeClr>
          </a:solidFill>
        </p:spPr>
        <p:txBody>
          <a:bodyPr wrap="square" rtlCol="0">
            <a:spAutoFit/>
          </a:bodyPr>
          <a:lstStyle/>
          <a:p>
            <a:pPr algn="ctr"/>
            <a:r>
              <a:rPr lang="en-US" sz="36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4. Bookings for a specific train</a:t>
            </a:r>
          </a:p>
        </p:txBody>
      </p:sp>
      <p:pic>
        <p:nvPicPr>
          <p:cNvPr id="12" name="Picture 11" descr="A blue and white circular sign with a circular design&#10;&#10;AI-generated content may be incorrect.">
            <a:extLst>
              <a:ext uri="{FF2B5EF4-FFF2-40B4-BE49-F238E27FC236}">
                <a16:creationId xmlns:a16="http://schemas.microsoft.com/office/drawing/2014/main" id="{47690EB4-6755-0797-DCE7-16C62636BF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2473" y="-121065"/>
            <a:ext cx="1412212" cy="1412212"/>
          </a:xfrm>
          <a:prstGeom prst="rect">
            <a:avLst/>
          </a:prstGeom>
        </p:spPr>
      </p:pic>
      <p:sp>
        <p:nvSpPr>
          <p:cNvPr id="13" name="Arrow: Right 12">
            <a:extLst>
              <a:ext uri="{FF2B5EF4-FFF2-40B4-BE49-F238E27FC236}">
                <a16:creationId xmlns:a16="http://schemas.microsoft.com/office/drawing/2014/main" id="{4EE28F17-8793-7A3D-8A0B-98020FD9B42D}"/>
              </a:ext>
            </a:extLst>
          </p:cNvPr>
          <p:cNvSpPr/>
          <p:nvPr/>
        </p:nvSpPr>
        <p:spPr>
          <a:xfrm>
            <a:off x="1" y="1101444"/>
            <a:ext cx="1772667" cy="1575452"/>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36E871A-E845-BB0D-0705-2C732B243209}"/>
              </a:ext>
            </a:extLst>
          </p:cNvPr>
          <p:cNvSpPr txBox="1"/>
          <p:nvPr/>
        </p:nvSpPr>
        <p:spPr>
          <a:xfrm>
            <a:off x="-165386" y="1622002"/>
            <a:ext cx="1766604" cy="584775"/>
          </a:xfrm>
          <a:prstGeom prst="rect">
            <a:avLst/>
          </a:prstGeom>
          <a:noFill/>
        </p:spPr>
        <p:txBody>
          <a:bodyPr wrap="square" rtlCol="0">
            <a:spAutoFit/>
          </a:bodyPr>
          <a:lstStyle/>
          <a:p>
            <a:pPr algn="ctr"/>
            <a:r>
              <a:rPr lang="en-US" sz="3200" b="1" dirty="0"/>
              <a:t>QUERY</a:t>
            </a:r>
          </a:p>
        </p:txBody>
      </p:sp>
      <p:pic>
        <p:nvPicPr>
          <p:cNvPr id="3" name="Picture 2">
            <a:extLst>
              <a:ext uri="{FF2B5EF4-FFF2-40B4-BE49-F238E27FC236}">
                <a16:creationId xmlns:a16="http://schemas.microsoft.com/office/drawing/2014/main" id="{FA9CE0B2-444D-07D6-AB6A-4A8F17F30578}"/>
              </a:ext>
            </a:extLst>
          </p:cNvPr>
          <p:cNvPicPr>
            <a:picLocks noChangeAspect="1"/>
          </p:cNvPicPr>
          <p:nvPr/>
        </p:nvPicPr>
        <p:blipFill>
          <a:blip r:embed="rId3"/>
          <a:stretch>
            <a:fillRect/>
          </a:stretch>
        </p:blipFill>
        <p:spPr>
          <a:xfrm>
            <a:off x="1938055" y="2359178"/>
            <a:ext cx="7211431" cy="3348166"/>
          </a:xfrm>
          <a:prstGeom prst="rect">
            <a:avLst/>
          </a:prstGeom>
          <a:ln w="19050">
            <a:solidFill>
              <a:schemeClr val="tx1"/>
            </a:solidFill>
          </a:ln>
        </p:spPr>
      </p:pic>
    </p:spTree>
    <p:extLst>
      <p:ext uri="{BB962C8B-B14F-4D97-AF65-F5344CB8AC3E}">
        <p14:creationId xmlns:p14="http://schemas.microsoft.com/office/powerpoint/2010/main" val="3170135925"/>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05082730-FE64-FB36-1169-93E0CEBA0075}"/>
            </a:ext>
          </a:extLst>
        </p:cNvPr>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374045D6-8671-59E5-B366-C5AAE620E5C4}"/>
              </a:ext>
            </a:extLst>
          </p:cNvPr>
          <p:cNvSpPr/>
          <p:nvPr/>
        </p:nvSpPr>
        <p:spPr>
          <a:xfrm>
            <a:off x="2312586" y="1160184"/>
            <a:ext cx="6202764" cy="1046593"/>
          </a:xfrm>
          <a:prstGeom prst="round2Same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1400" dirty="0"/>
          </a:p>
        </p:txBody>
      </p:sp>
      <p:sp>
        <p:nvSpPr>
          <p:cNvPr id="7" name="Rectangle: Top Corners Rounded 6">
            <a:extLst>
              <a:ext uri="{FF2B5EF4-FFF2-40B4-BE49-F238E27FC236}">
                <a16:creationId xmlns:a16="http://schemas.microsoft.com/office/drawing/2014/main" id="{B8F41A91-E224-0BDB-A11A-EE16D4C332C2}"/>
              </a:ext>
            </a:extLst>
          </p:cNvPr>
          <p:cNvSpPr/>
          <p:nvPr/>
        </p:nvSpPr>
        <p:spPr>
          <a:xfrm>
            <a:off x="333422" y="5907289"/>
            <a:ext cx="11903314" cy="998379"/>
          </a:xfrm>
          <a:prstGeom prst="round2SameRect">
            <a:avLst>
              <a:gd name="adj1" fmla="val 16667"/>
              <a:gd name="adj2" fmla="val 7074"/>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72" dirty="0"/>
          </a:p>
        </p:txBody>
      </p:sp>
      <p:sp>
        <p:nvSpPr>
          <p:cNvPr id="20" name="TextBox 19">
            <a:extLst>
              <a:ext uri="{FF2B5EF4-FFF2-40B4-BE49-F238E27FC236}">
                <a16:creationId xmlns:a16="http://schemas.microsoft.com/office/drawing/2014/main" id="{45770A17-0689-C0CB-5C3B-F5728EB27944}"/>
              </a:ext>
            </a:extLst>
          </p:cNvPr>
          <p:cNvSpPr txBox="1"/>
          <p:nvPr/>
        </p:nvSpPr>
        <p:spPr>
          <a:xfrm>
            <a:off x="2674536" y="1425295"/>
            <a:ext cx="5459814" cy="584775"/>
          </a:xfrm>
          <a:prstGeom prst="rect">
            <a:avLst/>
          </a:prstGeom>
          <a:noFill/>
        </p:spPr>
        <p:txBody>
          <a:bodyPr wrap="square" rtlCol="0">
            <a:spAutoFit/>
          </a:bodyPr>
          <a:lstStyle/>
          <a:p>
            <a:r>
              <a:rPr lang="en-US" sz="1600" b="1" dirty="0">
                <a:latin typeface="Daytona" panose="020F0502020204030204" pitchFamily="34" charset="0"/>
                <a:cs typeface="Angsana New" panose="020B0502040204020203" pitchFamily="18" charset="-34"/>
              </a:rPr>
              <a:t>select * from payment</a:t>
            </a:r>
          </a:p>
          <a:p>
            <a:r>
              <a:rPr lang="en-US" sz="1600" b="1" dirty="0">
                <a:latin typeface="Daytona" panose="020F0502020204030204" pitchFamily="34" charset="0"/>
                <a:cs typeface="Angsana New" panose="020B0502040204020203" pitchFamily="18" charset="-34"/>
              </a:rPr>
              <a:t>where  paymentMode = 'UPI';</a:t>
            </a:r>
          </a:p>
        </p:txBody>
      </p:sp>
      <p:sp>
        <p:nvSpPr>
          <p:cNvPr id="24" name="TextBox 23">
            <a:extLst>
              <a:ext uri="{FF2B5EF4-FFF2-40B4-BE49-F238E27FC236}">
                <a16:creationId xmlns:a16="http://schemas.microsoft.com/office/drawing/2014/main" id="{6838195F-882D-FB95-1723-F0E2FFE47D09}"/>
              </a:ext>
            </a:extLst>
          </p:cNvPr>
          <p:cNvSpPr txBox="1"/>
          <p:nvPr/>
        </p:nvSpPr>
        <p:spPr>
          <a:xfrm>
            <a:off x="352473" y="5926339"/>
            <a:ext cx="11763328" cy="1631216"/>
          </a:xfrm>
          <a:prstGeom prst="rect">
            <a:avLst/>
          </a:prstGeom>
          <a:noFill/>
        </p:spPr>
        <p:txBody>
          <a:bodyPr wrap="square" rtlCol="0">
            <a:spAutoFit/>
          </a:bodyPr>
          <a:lstStyle/>
          <a:p>
            <a:r>
              <a:rPr lang="en-US" b="1" dirty="0">
                <a:solidFill>
                  <a:schemeClr val="bg1"/>
                </a:solidFill>
                <a:latin typeface="Segoe UI Black" panose="020B0A02040204020203" pitchFamily="34" charset="0"/>
                <a:ea typeface="Segoe UI Black" panose="020B0A02040204020203" pitchFamily="34" charset="0"/>
              </a:rPr>
              <a:t>SUMMARY : </a:t>
            </a:r>
            <a:r>
              <a:rPr lang="en-US" sz="2000" b="1" dirty="0">
                <a:solidFill>
                  <a:schemeClr val="bg1"/>
                </a:solidFill>
                <a:latin typeface="Segoe UI Black" panose="020B0A02040204020203" pitchFamily="34" charset="0"/>
                <a:ea typeface="Segoe UI Black" panose="020B0A02040204020203" pitchFamily="34" charset="0"/>
              </a:rPr>
              <a:t>This query shows all payments made using UPI. It filters records where PaymentMode = 'UPI'. Total UPI payments: 49 rows. It helps analyze UPI-based transactions.</a:t>
            </a:r>
          </a:p>
          <a:p>
            <a:endParaRPr lang="en-US" sz="2000" b="1" dirty="0">
              <a:solidFill>
                <a:schemeClr val="bg1"/>
              </a:solidFill>
              <a:latin typeface="Segoe UI Black" panose="020B0A02040204020203" pitchFamily="34" charset="0"/>
              <a:ea typeface="Segoe UI Black" panose="020B0A02040204020203" pitchFamily="34" charset="0"/>
            </a:endParaRPr>
          </a:p>
          <a:p>
            <a:endParaRPr lang="en-US" sz="2000" b="1" dirty="0">
              <a:solidFill>
                <a:schemeClr val="bg1"/>
              </a:solidFill>
              <a:latin typeface="Segoe UI Black" panose="020B0A02040204020203" pitchFamily="34" charset="0"/>
              <a:ea typeface="Segoe UI Black" panose="020B0A02040204020203" pitchFamily="34" charset="0"/>
            </a:endParaRPr>
          </a:p>
        </p:txBody>
      </p:sp>
      <p:sp>
        <p:nvSpPr>
          <p:cNvPr id="11" name="TextBox 10">
            <a:extLst>
              <a:ext uri="{FF2B5EF4-FFF2-40B4-BE49-F238E27FC236}">
                <a16:creationId xmlns:a16="http://schemas.microsoft.com/office/drawing/2014/main" id="{0A7A4742-88D2-9CF3-2153-9BA5ACAC75D9}"/>
              </a:ext>
            </a:extLst>
          </p:cNvPr>
          <p:cNvSpPr txBox="1"/>
          <p:nvPr/>
        </p:nvSpPr>
        <p:spPr>
          <a:xfrm>
            <a:off x="1148777" y="226970"/>
            <a:ext cx="9805589" cy="668516"/>
          </a:xfrm>
          <a:prstGeom prst="rect">
            <a:avLst/>
          </a:prstGeom>
          <a:solidFill>
            <a:schemeClr val="accent4">
              <a:lumMod val="50000"/>
            </a:schemeClr>
          </a:solidFill>
        </p:spPr>
        <p:txBody>
          <a:bodyPr wrap="square" rtlCol="0">
            <a:spAutoFit/>
          </a:bodyPr>
          <a:lstStyle/>
          <a:p>
            <a:pPr algn="ctr"/>
            <a:r>
              <a:rPr lang="en-US" sz="36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5. Payments done using UPI</a:t>
            </a:r>
          </a:p>
        </p:txBody>
      </p:sp>
      <p:pic>
        <p:nvPicPr>
          <p:cNvPr id="12" name="Picture 11" descr="A blue and white circular sign with a circular design&#10;&#10;AI-generated content may be incorrect.">
            <a:extLst>
              <a:ext uri="{FF2B5EF4-FFF2-40B4-BE49-F238E27FC236}">
                <a16:creationId xmlns:a16="http://schemas.microsoft.com/office/drawing/2014/main" id="{F266FC59-8939-CF37-289C-3D0D0C95D1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2473" y="-121065"/>
            <a:ext cx="1412212" cy="1412212"/>
          </a:xfrm>
          <a:prstGeom prst="rect">
            <a:avLst/>
          </a:prstGeom>
        </p:spPr>
      </p:pic>
      <p:sp>
        <p:nvSpPr>
          <p:cNvPr id="13" name="Arrow: Right 12">
            <a:extLst>
              <a:ext uri="{FF2B5EF4-FFF2-40B4-BE49-F238E27FC236}">
                <a16:creationId xmlns:a16="http://schemas.microsoft.com/office/drawing/2014/main" id="{54EDAA00-46C4-1920-70B0-68199D6336B0}"/>
              </a:ext>
            </a:extLst>
          </p:cNvPr>
          <p:cNvSpPr/>
          <p:nvPr/>
        </p:nvSpPr>
        <p:spPr>
          <a:xfrm>
            <a:off x="1" y="1101444"/>
            <a:ext cx="1772667" cy="1575452"/>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127AB247-036B-6B79-3473-94D9166F1AC0}"/>
              </a:ext>
            </a:extLst>
          </p:cNvPr>
          <p:cNvSpPr txBox="1"/>
          <p:nvPr/>
        </p:nvSpPr>
        <p:spPr>
          <a:xfrm>
            <a:off x="-165386" y="1622002"/>
            <a:ext cx="1766604" cy="584775"/>
          </a:xfrm>
          <a:prstGeom prst="rect">
            <a:avLst/>
          </a:prstGeom>
          <a:noFill/>
        </p:spPr>
        <p:txBody>
          <a:bodyPr wrap="square" rtlCol="0">
            <a:spAutoFit/>
          </a:bodyPr>
          <a:lstStyle/>
          <a:p>
            <a:pPr algn="ctr"/>
            <a:r>
              <a:rPr lang="en-US" sz="3200" b="1" dirty="0"/>
              <a:t>QUERY</a:t>
            </a:r>
          </a:p>
        </p:txBody>
      </p:sp>
      <p:pic>
        <p:nvPicPr>
          <p:cNvPr id="4" name="Picture 3">
            <a:extLst>
              <a:ext uri="{FF2B5EF4-FFF2-40B4-BE49-F238E27FC236}">
                <a16:creationId xmlns:a16="http://schemas.microsoft.com/office/drawing/2014/main" id="{A6F5C884-B384-5328-A89F-2286F2D56440}"/>
              </a:ext>
            </a:extLst>
          </p:cNvPr>
          <p:cNvPicPr>
            <a:picLocks noChangeAspect="1"/>
          </p:cNvPicPr>
          <p:nvPr/>
        </p:nvPicPr>
        <p:blipFill>
          <a:blip r:embed="rId3"/>
          <a:stretch>
            <a:fillRect/>
          </a:stretch>
        </p:blipFill>
        <p:spPr>
          <a:xfrm>
            <a:off x="2914650" y="2278782"/>
            <a:ext cx="5219700" cy="3590407"/>
          </a:xfrm>
          <a:prstGeom prst="rect">
            <a:avLst/>
          </a:prstGeom>
          <a:ln w="19050">
            <a:solidFill>
              <a:schemeClr val="tx1"/>
            </a:solidFill>
          </a:ln>
        </p:spPr>
      </p:pic>
    </p:spTree>
    <p:extLst>
      <p:ext uri="{BB962C8B-B14F-4D97-AF65-F5344CB8AC3E}">
        <p14:creationId xmlns:p14="http://schemas.microsoft.com/office/powerpoint/2010/main" val="890358785"/>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F51859E4-1CBE-9444-8BA1-A2AB80E56E6D}"/>
            </a:ext>
          </a:extLst>
        </p:cNvPr>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40A07450-5EE5-2551-952B-621C237F961B}"/>
              </a:ext>
            </a:extLst>
          </p:cNvPr>
          <p:cNvSpPr/>
          <p:nvPr/>
        </p:nvSpPr>
        <p:spPr>
          <a:xfrm>
            <a:off x="2312586" y="1160184"/>
            <a:ext cx="6202764" cy="1046593"/>
          </a:xfrm>
          <a:prstGeom prst="round2Same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1400" dirty="0"/>
          </a:p>
        </p:txBody>
      </p:sp>
      <p:sp>
        <p:nvSpPr>
          <p:cNvPr id="7" name="Rectangle: Top Corners Rounded 6">
            <a:extLst>
              <a:ext uri="{FF2B5EF4-FFF2-40B4-BE49-F238E27FC236}">
                <a16:creationId xmlns:a16="http://schemas.microsoft.com/office/drawing/2014/main" id="{E86D23F7-8291-D919-044D-01C7C793FDDD}"/>
              </a:ext>
            </a:extLst>
          </p:cNvPr>
          <p:cNvSpPr/>
          <p:nvPr/>
        </p:nvSpPr>
        <p:spPr>
          <a:xfrm>
            <a:off x="333422" y="5907289"/>
            <a:ext cx="11903314" cy="998379"/>
          </a:xfrm>
          <a:prstGeom prst="round2SameRect">
            <a:avLst>
              <a:gd name="adj1" fmla="val 16667"/>
              <a:gd name="adj2" fmla="val 7074"/>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72" dirty="0"/>
          </a:p>
        </p:txBody>
      </p:sp>
      <p:sp>
        <p:nvSpPr>
          <p:cNvPr id="20" name="TextBox 19">
            <a:extLst>
              <a:ext uri="{FF2B5EF4-FFF2-40B4-BE49-F238E27FC236}">
                <a16:creationId xmlns:a16="http://schemas.microsoft.com/office/drawing/2014/main" id="{48902BC4-CC1C-88C3-C69E-FFC5AD1B74A1}"/>
              </a:ext>
            </a:extLst>
          </p:cNvPr>
          <p:cNvSpPr txBox="1"/>
          <p:nvPr/>
        </p:nvSpPr>
        <p:spPr>
          <a:xfrm>
            <a:off x="2674536" y="1291945"/>
            <a:ext cx="5459814" cy="830997"/>
          </a:xfrm>
          <a:prstGeom prst="rect">
            <a:avLst/>
          </a:prstGeom>
          <a:noFill/>
        </p:spPr>
        <p:txBody>
          <a:bodyPr wrap="square" rtlCol="0">
            <a:spAutoFit/>
          </a:bodyPr>
          <a:lstStyle/>
          <a:p>
            <a:r>
              <a:rPr lang="en-US" sz="1600" b="1" dirty="0">
                <a:latin typeface="Daytona" panose="020F0502020204030204" pitchFamily="34" charset="0"/>
                <a:cs typeface="Angsana New" panose="020B0502040204020203" pitchFamily="18" charset="-34"/>
              </a:rPr>
              <a:t>select TrainID ,count(*) AS TotalBooking</a:t>
            </a:r>
          </a:p>
          <a:p>
            <a:r>
              <a:rPr lang="en-US" sz="1600" b="1" dirty="0">
                <a:latin typeface="Daytona" panose="020F0502020204030204" pitchFamily="34" charset="0"/>
                <a:cs typeface="Angsana New" panose="020B0502040204020203" pitchFamily="18" charset="-34"/>
              </a:rPr>
              <a:t>from booking</a:t>
            </a:r>
          </a:p>
          <a:p>
            <a:r>
              <a:rPr lang="en-US" sz="1600" b="1" dirty="0">
                <a:latin typeface="Daytona" panose="020F0502020204030204" pitchFamily="34" charset="0"/>
                <a:cs typeface="Angsana New" panose="020B0502040204020203" pitchFamily="18" charset="-34"/>
              </a:rPr>
              <a:t>Group by TrainID;</a:t>
            </a:r>
          </a:p>
        </p:txBody>
      </p:sp>
      <p:sp>
        <p:nvSpPr>
          <p:cNvPr id="24" name="TextBox 23">
            <a:extLst>
              <a:ext uri="{FF2B5EF4-FFF2-40B4-BE49-F238E27FC236}">
                <a16:creationId xmlns:a16="http://schemas.microsoft.com/office/drawing/2014/main" id="{95608066-6AFF-007E-3E3E-DC36DC988F8C}"/>
              </a:ext>
            </a:extLst>
          </p:cNvPr>
          <p:cNvSpPr txBox="1"/>
          <p:nvPr/>
        </p:nvSpPr>
        <p:spPr>
          <a:xfrm>
            <a:off x="352473" y="5888239"/>
            <a:ext cx="11763328" cy="1631216"/>
          </a:xfrm>
          <a:prstGeom prst="rect">
            <a:avLst/>
          </a:prstGeom>
          <a:noFill/>
        </p:spPr>
        <p:txBody>
          <a:bodyPr wrap="square" rtlCol="0">
            <a:spAutoFit/>
          </a:bodyPr>
          <a:lstStyle/>
          <a:p>
            <a:r>
              <a:rPr lang="en-US" b="1" dirty="0">
                <a:solidFill>
                  <a:schemeClr val="bg1"/>
                </a:solidFill>
                <a:latin typeface="Segoe UI Black" panose="020B0A02040204020203" pitchFamily="34" charset="0"/>
                <a:ea typeface="Segoe UI Black" panose="020B0A02040204020203" pitchFamily="34" charset="0"/>
              </a:rPr>
              <a:t>SUMMARY : </a:t>
            </a:r>
            <a:r>
              <a:rPr lang="en-US" sz="2000" b="1" dirty="0">
                <a:solidFill>
                  <a:schemeClr val="bg1"/>
                </a:solidFill>
                <a:latin typeface="Segoe UI Black" panose="020B0A02040204020203" pitchFamily="34" charset="0"/>
                <a:ea typeface="Segoe UI Black" panose="020B0A02040204020203" pitchFamily="34" charset="0"/>
              </a:rPr>
              <a:t>This query shows the total booking count for each </a:t>
            </a:r>
            <a:r>
              <a:rPr lang="en-US" sz="2000" b="1" dirty="0" err="1">
                <a:solidFill>
                  <a:schemeClr val="bg1"/>
                </a:solidFill>
                <a:latin typeface="Segoe UI Black" panose="020B0A02040204020203" pitchFamily="34" charset="0"/>
                <a:ea typeface="Segoe UI Black" panose="020B0A02040204020203" pitchFamily="34" charset="0"/>
              </a:rPr>
              <a:t>train.It</a:t>
            </a:r>
            <a:r>
              <a:rPr lang="en-US" sz="2000" b="1" dirty="0">
                <a:solidFill>
                  <a:schemeClr val="bg1"/>
                </a:solidFill>
                <a:latin typeface="Segoe UI Black" panose="020B0A02040204020203" pitchFamily="34" charset="0"/>
                <a:ea typeface="Segoe UI Black" panose="020B0A02040204020203" pitchFamily="34" charset="0"/>
              </a:rPr>
              <a:t> groups booking records by TrainID and counts </a:t>
            </a:r>
            <a:r>
              <a:rPr lang="en-US" sz="2000" b="1" dirty="0" err="1">
                <a:solidFill>
                  <a:schemeClr val="bg1"/>
                </a:solidFill>
                <a:latin typeface="Segoe UI Black" panose="020B0A02040204020203" pitchFamily="34" charset="0"/>
                <a:ea typeface="Segoe UI Black" panose="020B0A02040204020203" pitchFamily="34" charset="0"/>
              </a:rPr>
              <a:t>bookings.Total</a:t>
            </a:r>
            <a:r>
              <a:rPr lang="en-US" sz="2000" b="1" dirty="0">
                <a:solidFill>
                  <a:schemeClr val="bg1"/>
                </a:solidFill>
                <a:latin typeface="Segoe UI Black" panose="020B0A02040204020203" pitchFamily="34" charset="0"/>
                <a:ea typeface="Segoe UI Black" panose="020B0A02040204020203" pitchFamily="34" charset="0"/>
              </a:rPr>
              <a:t> rows: 20 (one row per train).For TrainID = 20, the total bookings are 5.It helps analyze train-wise booking performance</a:t>
            </a:r>
          </a:p>
          <a:p>
            <a:endParaRPr lang="en-US" sz="2000" b="1" dirty="0">
              <a:solidFill>
                <a:schemeClr val="bg1"/>
              </a:solidFill>
              <a:latin typeface="Segoe UI Black" panose="020B0A02040204020203" pitchFamily="34" charset="0"/>
              <a:ea typeface="Segoe UI Black" panose="020B0A02040204020203" pitchFamily="34" charset="0"/>
            </a:endParaRPr>
          </a:p>
          <a:p>
            <a:endParaRPr lang="en-US" sz="2000" b="1" dirty="0">
              <a:solidFill>
                <a:schemeClr val="bg1"/>
              </a:solidFill>
              <a:latin typeface="Segoe UI Black" panose="020B0A02040204020203" pitchFamily="34" charset="0"/>
              <a:ea typeface="Segoe UI Black" panose="020B0A02040204020203" pitchFamily="34" charset="0"/>
            </a:endParaRPr>
          </a:p>
        </p:txBody>
      </p:sp>
      <p:sp>
        <p:nvSpPr>
          <p:cNvPr id="11" name="TextBox 10">
            <a:extLst>
              <a:ext uri="{FF2B5EF4-FFF2-40B4-BE49-F238E27FC236}">
                <a16:creationId xmlns:a16="http://schemas.microsoft.com/office/drawing/2014/main" id="{4C489120-170E-D929-492E-2B924D757F5D}"/>
              </a:ext>
            </a:extLst>
          </p:cNvPr>
          <p:cNvSpPr txBox="1"/>
          <p:nvPr/>
        </p:nvSpPr>
        <p:spPr>
          <a:xfrm>
            <a:off x="1148777" y="226970"/>
            <a:ext cx="9805589" cy="668516"/>
          </a:xfrm>
          <a:prstGeom prst="rect">
            <a:avLst/>
          </a:prstGeom>
          <a:solidFill>
            <a:schemeClr val="accent4">
              <a:lumMod val="50000"/>
            </a:schemeClr>
          </a:solidFill>
        </p:spPr>
        <p:txBody>
          <a:bodyPr wrap="square" rtlCol="0">
            <a:spAutoFit/>
          </a:bodyPr>
          <a:lstStyle/>
          <a:p>
            <a:pPr algn="ctr"/>
            <a:r>
              <a:rPr lang="en-US" sz="36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6. Booking count train-wise</a:t>
            </a:r>
          </a:p>
        </p:txBody>
      </p:sp>
      <p:pic>
        <p:nvPicPr>
          <p:cNvPr id="12" name="Picture 11" descr="A blue and white circular sign with a circular design&#10;&#10;AI-generated content may be incorrect.">
            <a:extLst>
              <a:ext uri="{FF2B5EF4-FFF2-40B4-BE49-F238E27FC236}">
                <a16:creationId xmlns:a16="http://schemas.microsoft.com/office/drawing/2014/main" id="{F7D76520-2F73-1402-2C1B-47FB229663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2473" y="-121065"/>
            <a:ext cx="1412212" cy="1412212"/>
          </a:xfrm>
          <a:prstGeom prst="rect">
            <a:avLst/>
          </a:prstGeom>
        </p:spPr>
      </p:pic>
      <p:sp>
        <p:nvSpPr>
          <p:cNvPr id="13" name="Arrow: Right 12">
            <a:extLst>
              <a:ext uri="{FF2B5EF4-FFF2-40B4-BE49-F238E27FC236}">
                <a16:creationId xmlns:a16="http://schemas.microsoft.com/office/drawing/2014/main" id="{98B64B86-3290-8550-8BE1-0DAF339B40BA}"/>
              </a:ext>
            </a:extLst>
          </p:cNvPr>
          <p:cNvSpPr/>
          <p:nvPr/>
        </p:nvSpPr>
        <p:spPr>
          <a:xfrm>
            <a:off x="1" y="1101444"/>
            <a:ext cx="1772667" cy="1575452"/>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9C917017-0B36-DE02-F221-59B3CBA2A0A2}"/>
              </a:ext>
            </a:extLst>
          </p:cNvPr>
          <p:cNvSpPr txBox="1"/>
          <p:nvPr/>
        </p:nvSpPr>
        <p:spPr>
          <a:xfrm>
            <a:off x="-165386" y="1622002"/>
            <a:ext cx="1766604" cy="584775"/>
          </a:xfrm>
          <a:prstGeom prst="rect">
            <a:avLst/>
          </a:prstGeom>
          <a:noFill/>
        </p:spPr>
        <p:txBody>
          <a:bodyPr wrap="square" rtlCol="0">
            <a:spAutoFit/>
          </a:bodyPr>
          <a:lstStyle/>
          <a:p>
            <a:pPr algn="ctr"/>
            <a:r>
              <a:rPr lang="en-US" sz="3200" b="1" dirty="0"/>
              <a:t>QUERY</a:t>
            </a:r>
          </a:p>
        </p:txBody>
      </p:sp>
      <p:pic>
        <p:nvPicPr>
          <p:cNvPr id="3" name="Picture 2" descr="A screenshot of a table&#10;&#10;AI-generated content may be incorrect.">
            <a:extLst>
              <a:ext uri="{FF2B5EF4-FFF2-40B4-BE49-F238E27FC236}">
                <a16:creationId xmlns:a16="http://schemas.microsoft.com/office/drawing/2014/main" id="{64D88AD3-C429-1C75-EE36-A92A49E8ACE0}"/>
              </a:ext>
            </a:extLst>
          </p:cNvPr>
          <p:cNvPicPr>
            <a:picLocks noChangeAspect="1"/>
          </p:cNvPicPr>
          <p:nvPr/>
        </p:nvPicPr>
        <p:blipFill>
          <a:blip r:embed="rId3"/>
          <a:stretch>
            <a:fillRect/>
          </a:stretch>
        </p:blipFill>
        <p:spPr>
          <a:xfrm>
            <a:off x="4044851" y="2275341"/>
            <a:ext cx="2042067" cy="3565351"/>
          </a:xfrm>
          <a:prstGeom prst="rect">
            <a:avLst/>
          </a:prstGeom>
          <a:ln w="19050">
            <a:solidFill>
              <a:schemeClr val="tx1"/>
            </a:solidFill>
          </a:ln>
        </p:spPr>
      </p:pic>
    </p:spTree>
    <p:extLst>
      <p:ext uri="{BB962C8B-B14F-4D97-AF65-F5344CB8AC3E}">
        <p14:creationId xmlns:p14="http://schemas.microsoft.com/office/powerpoint/2010/main" val="2494364108"/>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2BA8F0BD-0514-33F8-D205-C53BB3B89483}"/>
            </a:ext>
          </a:extLst>
        </p:cNvPr>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125A11D5-7B01-F220-6847-A5B532351E6D}"/>
              </a:ext>
            </a:extLst>
          </p:cNvPr>
          <p:cNvSpPr/>
          <p:nvPr/>
        </p:nvSpPr>
        <p:spPr>
          <a:xfrm>
            <a:off x="2484036" y="1750735"/>
            <a:ext cx="6808748" cy="1306032"/>
          </a:xfrm>
          <a:prstGeom prst="round2Same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1400" dirty="0"/>
          </a:p>
        </p:txBody>
      </p:sp>
      <p:sp>
        <p:nvSpPr>
          <p:cNvPr id="7" name="Rectangle: Top Corners Rounded 6">
            <a:extLst>
              <a:ext uri="{FF2B5EF4-FFF2-40B4-BE49-F238E27FC236}">
                <a16:creationId xmlns:a16="http://schemas.microsoft.com/office/drawing/2014/main" id="{2C0F38F3-AD9B-2840-E457-C61293058D4D}"/>
              </a:ext>
            </a:extLst>
          </p:cNvPr>
          <p:cNvSpPr/>
          <p:nvPr/>
        </p:nvSpPr>
        <p:spPr>
          <a:xfrm>
            <a:off x="352472" y="5507239"/>
            <a:ext cx="11884263" cy="1046593"/>
          </a:xfrm>
          <a:prstGeom prst="round2SameRect">
            <a:avLst>
              <a:gd name="adj1" fmla="val 16667"/>
              <a:gd name="adj2" fmla="val 7074"/>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72" dirty="0"/>
          </a:p>
        </p:txBody>
      </p:sp>
      <p:sp>
        <p:nvSpPr>
          <p:cNvPr id="20" name="TextBox 19">
            <a:extLst>
              <a:ext uri="{FF2B5EF4-FFF2-40B4-BE49-F238E27FC236}">
                <a16:creationId xmlns:a16="http://schemas.microsoft.com/office/drawing/2014/main" id="{CED41DF7-3732-7AA8-6F6C-32F3D4165AEA}"/>
              </a:ext>
            </a:extLst>
          </p:cNvPr>
          <p:cNvSpPr txBox="1"/>
          <p:nvPr/>
        </p:nvSpPr>
        <p:spPr>
          <a:xfrm>
            <a:off x="2845985" y="1996795"/>
            <a:ext cx="5993215" cy="830997"/>
          </a:xfrm>
          <a:prstGeom prst="rect">
            <a:avLst/>
          </a:prstGeom>
          <a:noFill/>
        </p:spPr>
        <p:txBody>
          <a:bodyPr wrap="square" rtlCol="0">
            <a:spAutoFit/>
          </a:bodyPr>
          <a:lstStyle/>
          <a:p>
            <a:r>
              <a:rPr lang="en-US" sz="1600" b="1" dirty="0">
                <a:latin typeface="Daytona" panose="020F0502020204030204" pitchFamily="34" charset="0"/>
                <a:cs typeface="Angsana New" panose="020B0502040204020203" pitchFamily="18" charset="-34"/>
              </a:rPr>
              <a:t>select sum(AmountPaid) as </a:t>
            </a:r>
            <a:r>
              <a:rPr lang="en-US" sz="1600" b="1" dirty="0" err="1">
                <a:latin typeface="Daytona" panose="020F0502020204030204" pitchFamily="34" charset="0"/>
                <a:cs typeface="Angsana New" panose="020B0502040204020203" pitchFamily="18" charset="-34"/>
              </a:rPr>
              <a:t>TotalRevenue</a:t>
            </a:r>
            <a:endParaRPr lang="en-US" sz="1600" b="1" dirty="0">
              <a:latin typeface="Daytona" panose="020F0502020204030204" pitchFamily="34" charset="0"/>
              <a:cs typeface="Angsana New" panose="020B0502040204020203" pitchFamily="18" charset="-34"/>
            </a:endParaRPr>
          </a:p>
          <a:p>
            <a:r>
              <a:rPr lang="en-US" sz="1600" b="1" dirty="0">
                <a:latin typeface="Daytona" panose="020F0502020204030204" pitchFamily="34" charset="0"/>
                <a:cs typeface="Angsana New" panose="020B0502040204020203" pitchFamily="18" charset="-34"/>
              </a:rPr>
              <a:t>from payment</a:t>
            </a:r>
          </a:p>
          <a:p>
            <a:r>
              <a:rPr lang="en-US" sz="1600" b="1" dirty="0">
                <a:latin typeface="Daytona" panose="020F0502020204030204" pitchFamily="34" charset="0"/>
                <a:cs typeface="Angsana New" panose="020B0502040204020203" pitchFamily="18" charset="-34"/>
              </a:rPr>
              <a:t>where PaymentStatus = 'paid';</a:t>
            </a:r>
          </a:p>
        </p:txBody>
      </p:sp>
      <p:sp>
        <p:nvSpPr>
          <p:cNvPr id="24" name="TextBox 23">
            <a:extLst>
              <a:ext uri="{FF2B5EF4-FFF2-40B4-BE49-F238E27FC236}">
                <a16:creationId xmlns:a16="http://schemas.microsoft.com/office/drawing/2014/main" id="{0B3FBE44-28AE-62E4-274E-7B279CBCFA06}"/>
              </a:ext>
            </a:extLst>
          </p:cNvPr>
          <p:cNvSpPr txBox="1"/>
          <p:nvPr/>
        </p:nvSpPr>
        <p:spPr>
          <a:xfrm>
            <a:off x="723484" y="5526288"/>
            <a:ext cx="11624043" cy="1631216"/>
          </a:xfrm>
          <a:prstGeom prst="rect">
            <a:avLst/>
          </a:prstGeom>
          <a:noFill/>
        </p:spPr>
        <p:txBody>
          <a:bodyPr wrap="square" rtlCol="0">
            <a:spAutoFit/>
          </a:bodyPr>
          <a:lstStyle/>
          <a:p>
            <a:r>
              <a:rPr lang="en-US" sz="2000" b="1" dirty="0">
                <a:solidFill>
                  <a:schemeClr val="bg1"/>
                </a:solidFill>
                <a:latin typeface="Segoe UI Black" panose="020B0A02040204020203" pitchFamily="34" charset="0"/>
                <a:ea typeface="Segoe UI Black" panose="020B0A02040204020203" pitchFamily="34" charset="0"/>
              </a:rPr>
              <a:t>SUMMARY : This query calculates the total revenue from paid payments. It sums the AmountPaid where PaymentStatus = 'Paid'. Total revenue generated: 307,279.09. It helps analyze overall income from bookings.</a:t>
            </a:r>
          </a:p>
          <a:p>
            <a:endParaRPr lang="en-US" sz="2000" b="1" dirty="0">
              <a:solidFill>
                <a:schemeClr val="bg1"/>
              </a:solidFill>
              <a:latin typeface="Segoe UI Black" panose="020B0A02040204020203" pitchFamily="34" charset="0"/>
              <a:ea typeface="Segoe UI Black" panose="020B0A02040204020203" pitchFamily="34" charset="0"/>
            </a:endParaRPr>
          </a:p>
          <a:p>
            <a:endParaRPr lang="en-US" sz="2000" b="1" dirty="0">
              <a:solidFill>
                <a:schemeClr val="bg1"/>
              </a:solidFill>
              <a:latin typeface="Segoe UI Black" panose="020B0A02040204020203" pitchFamily="34" charset="0"/>
              <a:ea typeface="Segoe UI Black" panose="020B0A02040204020203" pitchFamily="34" charset="0"/>
            </a:endParaRPr>
          </a:p>
        </p:txBody>
      </p:sp>
      <p:sp>
        <p:nvSpPr>
          <p:cNvPr id="11" name="TextBox 10">
            <a:extLst>
              <a:ext uri="{FF2B5EF4-FFF2-40B4-BE49-F238E27FC236}">
                <a16:creationId xmlns:a16="http://schemas.microsoft.com/office/drawing/2014/main" id="{5E7C092F-9071-C13E-6F58-F886F1F1F383}"/>
              </a:ext>
            </a:extLst>
          </p:cNvPr>
          <p:cNvSpPr txBox="1"/>
          <p:nvPr/>
        </p:nvSpPr>
        <p:spPr>
          <a:xfrm>
            <a:off x="1148777" y="226970"/>
            <a:ext cx="9805589" cy="668516"/>
          </a:xfrm>
          <a:prstGeom prst="rect">
            <a:avLst/>
          </a:prstGeom>
          <a:solidFill>
            <a:schemeClr val="accent4">
              <a:lumMod val="50000"/>
            </a:schemeClr>
          </a:solidFill>
        </p:spPr>
        <p:txBody>
          <a:bodyPr wrap="square" rtlCol="0">
            <a:spAutoFit/>
          </a:bodyPr>
          <a:lstStyle/>
          <a:p>
            <a:pPr algn="ctr"/>
            <a:r>
              <a:rPr lang="en-US" sz="36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7. Total revenue from paid payments</a:t>
            </a:r>
          </a:p>
        </p:txBody>
      </p:sp>
      <p:pic>
        <p:nvPicPr>
          <p:cNvPr id="12" name="Picture 11" descr="A blue and white circular sign with a circular design&#10;&#10;AI-generated content may be incorrect.">
            <a:extLst>
              <a:ext uri="{FF2B5EF4-FFF2-40B4-BE49-F238E27FC236}">
                <a16:creationId xmlns:a16="http://schemas.microsoft.com/office/drawing/2014/main" id="{EE1B8B45-582B-C2F2-965A-F39864911D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2473" y="-121065"/>
            <a:ext cx="1412212" cy="1412212"/>
          </a:xfrm>
          <a:prstGeom prst="rect">
            <a:avLst/>
          </a:prstGeom>
        </p:spPr>
      </p:pic>
      <p:sp>
        <p:nvSpPr>
          <p:cNvPr id="13" name="Arrow: Right 12">
            <a:extLst>
              <a:ext uri="{FF2B5EF4-FFF2-40B4-BE49-F238E27FC236}">
                <a16:creationId xmlns:a16="http://schemas.microsoft.com/office/drawing/2014/main" id="{1A185D00-0BCE-85AF-6173-21AE6E7E7783}"/>
              </a:ext>
            </a:extLst>
          </p:cNvPr>
          <p:cNvSpPr/>
          <p:nvPr/>
        </p:nvSpPr>
        <p:spPr>
          <a:xfrm>
            <a:off x="1" y="1615794"/>
            <a:ext cx="1772667" cy="1575452"/>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DF2CA20E-E434-3FAE-3352-C90BF6331EDB}"/>
              </a:ext>
            </a:extLst>
          </p:cNvPr>
          <p:cNvSpPr txBox="1"/>
          <p:nvPr/>
        </p:nvSpPr>
        <p:spPr>
          <a:xfrm>
            <a:off x="-165386" y="2098252"/>
            <a:ext cx="1766604" cy="584775"/>
          </a:xfrm>
          <a:prstGeom prst="rect">
            <a:avLst/>
          </a:prstGeom>
          <a:noFill/>
        </p:spPr>
        <p:txBody>
          <a:bodyPr wrap="square" rtlCol="0">
            <a:spAutoFit/>
          </a:bodyPr>
          <a:lstStyle/>
          <a:p>
            <a:pPr algn="ctr"/>
            <a:r>
              <a:rPr lang="en-US" sz="3200" b="1" dirty="0"/>
              <a:t>QUERY</a:t>
            </a:r>
          </a:p>
        </p:txBody>
      </p:sp>
      <p:pic>
        <p:nvPicPr>
          <p:cNvPr id="4" name="Picture 3">
            <a:extLst>
              <a:ext uri="{FF2B5EF4-FFF2-40B4-BE49-F238E27FC236}">
                <a16:creationId xmlns:a16="http://schemas.microsoft.com/office/drawing/2014/main" id="{782642F0-D186-5EDA-6C26-02F8A3A9ECCB}"/>
              </a:ext>
            </a:extLst>
          </p:cNvPr>
          <p:cNvPicPr>
            <a:picLocks noChangeAspect="1"/>
          </p:cNvPicPr>
          <p:nvPr/>
        </p:nvPicPr>
        <p:blipFill>
          <a:blip r:embed="rId3"/>
          <a:stretch>
            <a:fillRect/>
          </a:stretch>
        </p:blipFill>
        <p:spPr>
          <a:xfrm>
            <a:off x="3432724" y="3442285"/>
            <a:ext cx="4701626" cy="1739600"/>
          </a:xfrm>
          <a:prstGeom prst="rect">
            <a:avLst/>
          </a:prstGeom>
          <a:ln w="19050">
            <a:solidFill>
              <a:schemeClr val="tx1"/>
            </a:solidFill>
          </a:ln>
        </p:spPr>
      </p:pic>
    </p:spTree>
    <p:extLst>
      <p:ext uri="{BB962C8B-B14F-4D97-AF65-F5344CB8AC3E}">
        <p14:creationId xmlns:p14="http://schemas.microsoft.com/office/powerpoint/2010/main" val="2506721373"/>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75276C55-D67C-6261-A909-8FCD3CD430E1}"/>
            </a:ext>
          </a:extLst>
        </p:cNvPr>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C501E2C6-6CE9-6253-0F02-04CB14016CFD}"/>
              </a:ext>
            </a:extLst>
          </p:cNvPr>
          <p:cNvSpPr/>
          <p:nvPr/>
        </p:nvSpPr>
        <p:spPr>
          <a:xfrm>
            <a:off x="2312586" y="1617384"/>
            <a:ext cx="8653809" cy="1361378"/>
          </a:xfrm>
          <a:prstGeom prst="round2Same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1400" dirty="0"/>
          </a:p>
        </p:txBody>
      </p:sp>
      <p:sp>
        <p:nvSpPr>
          <p:cNvPr id="7" name="Rectangle: Top Corners Rounded 6">
            <a:extLst>
              <a:ext uri="{FF2B5EF4-FFF2-40B4-BE49-F238E27FC236}">
                <a16:creationId xmlns:a16="http://schemas.microsoft.com/office/drawing/2014/main" id="{46E8C674-E498-669A-1A65-6FE8890F81E6}"/>
              </a:ext>
            </a:extLst>
          </p:cNvPr>
          <p:cNvSpPr/>
          <p:nvPr/>
        </p:nvSpPr>
        <p:spPr>
          <a:xfrm>
            <a:off x="333422" y="5907289"/>
            <a:ext cx="11903314" cy="998379"/>
          </a:xfrm>
          <a:prstGeom prst="round2SameRect">
            <a:avLst>
              <a:gd name="adj1" fmla="val 16667"/>
              <a:gd name="adj2" fmla="val 7074"/>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72" dirty="0"/>
          </a:p>
        </p:txBody>
      </p:sp>
      <p:sp>
        <p:nvSpPr>
          <p:cNvPr id="20" name="TextBox 19">
            <a:extLst>
              <a:ext uri="{FF2B5EF4-FFF2-40B4-BE49-F238E27FC236}">
                <a16:creationId xmlns:a16="http://schemas.microsoft.com/office/drawing/2014/main" id="{11F873F4-C35E-52B9-320C-F0E6EC060A28}"/>
              </a:ext>
            </a:extLst>
          </p:cNvPr>
          <p:cNvSpPr txBox="1"/>
          <p:nvPr/>
        </p:nvSpPr>
        <p:spPr>
          <a:xfrm>
            <a:off x="2921442" y="1901544"/>
            <a:ext cx="8044953" cy="1077218"/>
          </a:xfrm>
          <a:prstGeom prst="rect">
            <a:avLst/>
          </a:prstGeom>
          <a:noFill/>
        </p:spPr>
        <p:txBody>
          <a:bodyPr wrap="square" rtlCol="0">
            <a:spAutoFit/>
          </a:bodyPr>
          <a:lstStyle/>
          <a:p>
            <a:r>
              <a:rPr lang="en-US" sz="1600" b="1" dirty="0">
                <a:latin typeface="Daytona" panose="020F0502020204030204" pitchFamily="34" charset="0"/>
                <a:cs typeface="Angsana New" panose="020B0502040204020203" pitchFamily="18" charset="-34"/>
              </a:rPr>
              <a:t>select month(PaymentDate) as Month , sum(AmountPaid) as </a:t>
            </a:r>
            <a:r>
              <a:rPr lang="en-US" sz="1600" b="1" dirty="0" err="1">
                <a:latin typeface="Daytona" panose="020F0502020204030204" pitchFamily="34" charset="0"/>
                <a:cs typeface="Angsana New" panose="020B0502040204020203" pitchFamily="18" charset="-34"/>
              </a:rPr>
              <a:t>TotalRevenue</a:t>
            </a:r>
            <a:endParaRPr lang="en-US" sz="1600" b="1" dirty="0">
              <a:latin typeface="Daytona" panose="020F0502020204030204" pitchFamily="34" charset="0"/>
              <a:cs typeface="Angsana New" panose="020B0502040204020203" pitchFamily="18" charset="-34"/>
            </a:endParaRPr>
          </a:p>
          <a:p>
            <a:r>
              <a:rPr lang="en-US" sz="1600" b="1" dirty="0">
                <a:latin typeface="Daytona" panose="020F0502020204030204" pitchFamily="34" charset="0"/>
                <a:cs typeface="Angsana New" panose="020B0502040204020203" pitchFamily="18" charset="-34"/>
              </a:rPr>
              <a:t>From payment</a:t>
            </a:r>
          </a:p>
          <a:p>
            <a:r>
              <a:rPr lang="en-US" sz="1600" b="1" dirty="0">
                <a:latin typeface="Daytona" panose="020F0502020204030204" pitchFamily="34" charset="0"/>
                <a:cs typeface="Angsana New" panose="020B0502040204020203" pitchFamily="18" charset="-34"/>
              </a:rPr>
              <a:t>where year(paymentDate) = '2025’</a:t>
            </a:r>
          </a:p>
          <a:p>
            <a:r>
              <a:rPr lang="en-US" sz="1600" b="1" dirty="0">
                <a:latin typeface="Daytona" panose="020F0502020204030204" pitchFamily="34" charset="0"/>
                <a:cs typeface="Angsana New" panose="020B0502040204020203" pitchFamily="18" charset="-34"/>
              </a:rPr>
              <a:t>group by month(PaymentDate);</a:t>
            </a:r>
          </a:p>
        </p:txBody>
      </p:sp>
      <p:sp>
        <p:nvSpPr>
          <p:cNvPr id="24" name="TextBox 23">
            <a:extLst>
              <a:ext uri="{FF2B5EF4-FFF2-40B4-BE49-F238E27FC236}">
                <a16:creationId xmlns:a16="http://schemas.microsoft.com/office/drawing/2014/main" id="{E80A4BC4-9B26-491A-FCDF-1A4CEC86919B}"/>
              </a:ext>
            </a:extLst>
          </p:cNvPr>
          <p:cNvSpPr txBox="1"/>
          <p:nvPr/>
        </p:nvSpPr>
        <p:spPr>
          <a:xfrm>
            <a:off x="428672" y="5888239"/>
            <a:ext cx="11995055" cy="1323439"/>
          </a:xfrm>
          <a:prstGeom prst="rect">
            <a:avLst/>
          </a:prstGeom>
          <a:noFill/>
        </p:spPr>
        <p:txBody>
          <a:bodyPr wrap="square" rtlCol="0">
            <a:spAutoFit/>
          </a:bodyPr>
          <a:lstStyle/>
          <a:p>
            <a:r>
              <a:rPr lang="en-US" sz="2000" b="1" dirty="0">
                <a:solidFill>
                  <a:schemeClr val="bg1"/>
                </a:solidFill>
                <a:latin typeface="Segoe UI Black" panose="020B0A02040204020203" pitchFamily="34" charset="0"/>
                <a:ea typeface="Segoe UI Black" panose="020B0A02040204020203" pitchFamily="34" charset="0"/>
              </a:rPr>
              <a:t>SUMMARY : This query calculates the month-wise total revenue from the payment table for the year 2025. It groups payments by month and sums the AmountPaid. For December (Month 12), the total revenue is 95,163.54.It helps analyze monthly revenue trends.</a:t>
            </a:r>
          </a:p>
          <a:p>
            <a:endParaRPr lang="en-US" sz="2000" b="1" dirty="0">
              <a:solidFill>
                <a:schemeClr val="bg1"/>
              </a:solidFill>
              <a:latin typeface="Segoe UI Black" panose="020B0A02040204020203" pitchFamily="34" charset="0"/>
              <a:ea typeface="Segoe UI Black" panose="020B0A02040204020203" pitchFamily="34" charset="0"/>
            </a:endParaRPr>
          </a:p>
        </p:txBody>
      </p:sp>
      <p:sp>
        <p:nvSpPr>
          <p:cNvPr id="11" name="TextBox 10">
            <a:extLst>
              <a:ext uri="{FF2B5EF4-FFF2-40B4-BE49-F238E27FC236}">
                <a16:creationId xmlns:a16="http://schemas.microsoft.com/office/drawing/2014/main" id="{E9E3FDF4-31CA-41AC-BB4B-F771F275A9C4}"/>
              </a:ext>
            </a:extLst>
          </p:cNvPr>
          <p:cNvSpPr txBox="1"/>
          <p:nvPr/>
        </p:nvSpPr>
        <p:spPr>
          <a:xfrm>
            <a:off x="1377377" y="226971"/>
            <a:ext cx="11179700" cy="1077218"/>
          </a:xfrm>
          <a:prstGeom prst="rect">
            <a:avLst/>
          </a:prstGeom>
          <a:solidFill>
            <a:schemeClr val="accent4">
              <a:lumMod val="50000"/>
            </a:schemeClr>
          </a:solidFill>
        </p:spPr>
        <p:txBody>
          <a:bodyPr wrap="square" rtlCol="0">
            <a:spAutoFit/>
          </a:bodyPr>
          <a:lstStyle/>
          <a:p>
            <a:pPr algn="ctr"/>
            <a:r>
              <a:rPr lang="en-US" sz="36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8. </a:t>
            </a:r>
            <a:r>
              <a:rPr lang="en-US" sz="28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Write an SQL query to calculate month-wise total revenue from the payment table for the year 2025.</a:t>
            </a:r>
          </a:p>
        </p:txBody>
      </p:sp>
      <p:pic>
        <p:nvPicPr>
          <p:cNvPr id="12" name="Picture 11" descr="A blue and white circular sign with a circular design&#10;&#10;AI-generated content may be incorrect.">
            <a:extLst>
              <a:ext uri="{FF2B5EF4-FFF2-40B4-BE49-F238E27FC236}">
                <a16:creationId xmlns:a16="http://schemas.microsoft.com/office/drawing/2014/main" id="{2B506E72-72BC-612F-D4E9-BD4A7D0B2B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873" y="-257823"/>
            <a:ext cx="2011965" cy="2011965"/>
          </a:xfrm>
          <a:prstGeom prst="rect">
            <a:avLst/>
          </a:prstGeom>
        </p:spPr>
      </p:pic>
      <p:sp>
        <p:nvSpPr>
          <p:cNvPr id="13" name="Arrow: Right 12">
            <a:extLst>
              <a:ext uri="{FF2B5EF4-FFF2-40B4-BE49-F238E27FC236}">
                <a16:creationId xmlns:a16="http://schemas.microsoft.com/office/drawing/2014/main" id="{5987D6FA-022C-EFAE-A8BD-FCF506FBD95C}"/>
              </a:ext>
            </a:extLst>
          </p:cNvPr>
          <p:cNvSpPr/>
          <p:nvPr/>
        </p:nvSpPr>
        <p:spPr>
          <a:xfrm>
            <a:off x="1" y="1539594"/>
            <a:ext cx="1772667" cy="1575452"/>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8C3C442B-B513-DC13-7F5F-958A893124BC}"/>
              </a:ext>
            </a:extLst>
          </p:cNvPr>
          <p:cNvSpPr txBox="1"/>
          <p:nvPr/>
        </p:nvSpPr>
        <p:spPr>
          <a:xfrm>
            <a:off x="-165386" y="2060152"/>
            <a:ext cx="1766604" cy="584775"/>
          </a:xfrm>
          <a:prstGeom prst="rect">
            <a:avLst/>
          </a:prstGeom>
          <a:noFill/>
        </p:spPr>
        <p:txBody>
          <a:bodyPr wrap="square" rtlCol="0">
            <a:spAutoFit/>
          </a:bodyPr>
          <a:lstStyle/>
          <a:p>
            <a:pPr algn="ctr"/>
            <a:r>
              <a:rPr lang="en-US" sz="3200" b="1" dirty="0"/>
              <a:t>QUERY</a:t>
            </a:r>
          </a:p>
        </p:txBody>
      </p:sp>
      <p:pic>
        <p:nvPicPr>
          <p:cNvPr id="3" name="Picture 2">
            <a:extLst>
              <a:ext uri="{FF2B5EF4-FFF2-40B4-BE49-F238E27FC236}">
                <a16:creationId xmlns:a16="http://schemas.microsoft.com/office/drawing/2014/main" id="{8ABF242E-2D0C-58EC-5A8F-FACAE65B1A4D}"/>
              </a:ext>
            </a:extLst>
          </p:cNvPr>
          <p:cNvPicPr>
            <a:picLocks noChangeAspect="1"/>
          </p:cNvPicPr>
          <p:nvPr/>
        </p:nvPicPr>
        <p:blipFill>
          <a:blip r:embed="rId3"/>
          <a:srcRect l="10065"/>
          <a:stretch>
            <a:fillRect/>
          </a:stretch>
        </p:blipFill>
        <p:spPr>
          <a:xfrm>
            <a:off x="4667842" y="3452197"/>
            <a:ext cx="3650065" cy="1898660"/>
          </a:xfrm>
          <a:prstGeom prst="rect">
            <a:avLst/>
          </a:prstGeom>
          <a:ln w="19050">
            <a:solidFill>
              <a:schemeClr val="tx1"/>
            </a:solidFill>
          </a:ln>
        </p:spPr>
      </p:pic>
    </p:spTree>
    <p:extLst>
      <p:ext uri="{BB962C8B-B14F-4D97-AF65-F5344CB8AC3E}">
        <p14:creationId xmlns:p14="http://schemas.microsoft.com/office/powerpoint/2010/main" val="2565918548"/>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E960C751-FD11-C5EB-3CC0-C9F3648E0DC3}"/>
            </a:ext>
          </a:extLst>
        </p:cNvPr>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386C85F1-F8C4-8264-B738-D8F6143EA59A}"/>
              </a:ext>
            </a:extLst>
          </p:cNvPr>
          <p:cNvSpPr/>
          <p:nvPr/>
        </p:nvSpPr>
        <p:spPr>
          <a:xfrm>
            <a:off x="2312587" y="1826934"/>
            <a:ext cx="7446922" cy="1323439"/>
          </a:xfrm>
          <a:prstGeom prst="round2Same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1400" dirty="0"/>
          </a:p>
        </p:txBody>
      </p:sp>
      <p:sp>
        <p:nvSpPr>
          <p:cNvPr id="7" name="Rectangle: Top Corners Rounded 6">
            <a:extLst>
              <a:ext uri="{FF2B5EF4-FFF2-40B4-BE49-F238E27FC236}">
                <a16:creationId xmlns:a16="http://schemas.microsoft.com/office/drawing/2014/main" id="{BBD1EBC4-6341-11B9-F20D-839D79DBF941}"/>
              </a:ext>
            </a:extLst>
          </p:cNvPr>
          <p:cNvSpPr/>
          <p:nvPr/>
        </p:nvSpPr>
        <p:spPr>
          <a:xfrm>
            <a:off x="333422" y="5907289"/>
            <a:ext cx="11903314" cy="998379"/>
          </a:xfrm>
          <a:prstGeom prst="round2SameRect">
            <a:avLst>
              <a:gd name="adj1" fmla="val 16667"/>
              <a:gd name="adj2" fmla="val 7074"/>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72" dirty="0"/>
          </a:p>
        </p:txBody>
      </p:sp>
      <p:sp>
        <p:nvSpPr>
          <p:cNvPr id="20" name="TextBox 19">
            <a:extLst>
              <a:ext uri="{FF2B5EF4-FFF2-40B4-BE49-F238E27FC236}">
                <a16:creationId xmlns:a16="http://schemas.microsoft.com/office/drawing/2014/main" id="{68B1B06C-6B4A-30BA-E366-DB02F7A7C97A}"/>
              </a:ext>
            </a:extLst>
          </p:cNvPr>
          <p:cNvSpPr txBox="1"/>
          <p:nvPr/>
        </p:nvSpPr>
        <p:spPr>
          <a:xfrm>
            <a:off x="2921443" y="2092044"/>
            <a:ext cx="5860608" cy="830997"/>
          </a:xfrm>
          <a:prstGeom prst="rect">
            <a:avLst/>
          </a:prstGeom>
          <a:noFill/>
        </p:spPr>
        <p:txBody>
          <a:bodyPr wrap="square" rtlCol="0">
            <a:spAutoFit/>
          </a:bodyPr>
          <a:lstStyle/>
          <a:p>
            <a:r>
              <a:rPr lang="en-US" sz="1600" b="1" dirty="0">
                <a:latin typeface="Daytona" panose="020F0502020204030204" pitchFamily="34" charset="0"/>
                <a:cs typeface="Angsana New" panose="020B0502040204020203" pitchFamily="18" charset="-34"/>
              </a:rPr>
              <a:t>select avg(AmountPaid) AS AVRAGE </a:t>
            </a:r>
          </a:p>
          <a:p>
            <a:r>
              <a:rPr lang="en-US" sz="1600" b="1" dirty="0">
                <a:latin typeface="Daytona" panose="020F0502020204030204" pitchFamily="34" charset="0"/>
                <a:cs typeface="Angsana New" panose="020B0502040204020203" pitchFamily="18" charset="-34"/>
              </a:rPr>
              <a:t>from payment </a:t>
            </a:r>
          </a:p>
          <a:p>
            <a:r>
              <a:rPr lang="en-US" sz="1600" b="1" dirty="0">
                <a:latin typeface="Daytona" panose="020F0502020204030204" pitchFamily="34" charset="0"/>
                <a:cs typeface="Angsana New" panose="020B0502040204020203" pitchFamily="18" charset="-34"/>
              </a:rPr>
              <a:t>where paymentStatus = 'paid';</a:t>
            </a:r>
          </a:p>
        </p:txBody>
      </p:sp>
      <p:sp>
        <p:nvSpPr>
          <p:cNvPr id="11" name="TextBox 10">
            <a:extLst>
              <a:ext uri="{FF2B5EF4-FFF2-40B4-BE49-F238E27FC236}">
                <a16:creationId xmlns:a16="http://schemas.microsoft.com/office/drawing/2014/main" id="{EFC98AD0-2953-B498-CD91-FEEC2F0E55CF}"/>
              </a:ext>
            </a:extLst>
          </p:cNvPr>
          <p:cNvSpPr txBox="1"/>
          <p:nvPr/>
        </p:nvSpPr>
        <p:spPr>
          <a:xfrm>
            <a:off x="1377377" y="131721"/>
            <a:ext cx="11179700" cy="1200329"/>
          </a:xfrm>
          <a:prstGeom prst="rect">
            <a:avLst/>
          </a:prstGeom>
          <a:solidFill>
            <a:schemeClr val="accent4">
              <a:lumMod val="50000"/>
            </a:schemeClr>
          </a:solidFill>
        </p:spPr>
        <p:txBody>
          <a:bodyPr wrap="square" rtlCol="0">
            <a:spAutoFit/>
          </a:bodyPr>
          <a:lstStyle/>
          <a:p>
            <a:pPr algn="ctr"/>
            <a:r>
              <a:rPr lang="en-US" sz="36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9. Calculate the average ticket amount paid by passengers for confirmed and paid bookings.</a:t>
            </a:r>
            <a:endParaRPr lang="en-US" sz="28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endParaRPr>
          </a:p>
        </p:txBody>
      </p:sp>
      <p:pic>
        <p:nvPicPr>
          <p:cNvPr id="12" name="Picture 11" descr="A blue and white circular sign with a circular design&#10;&#10;AI-generated content may be incorrect.">
            <a:extLst>
              <a:ext uri="{FF2B5EF4-FFF2-40B4-BE49-F238E27FC236}">
                <a16:creationId xmlns:a16="http://schemas.microsoft.com/office/drawing/2014/main" id="{FA27C39A-368A-E7F7-EF5A-710A560EB9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873" y="-257823"/>
            <a:ext cx="2011965" cy="2011965"/>
          </a:xfrm>
          <a:prstGeom prst="rect">
            <a:avLst/>
          </a:prstGeom>
        </p:spPr>
      </p:pic>
      <p:sp>
        <p:nvSpPr>
          <p:cNvPr id="13" name="Arrow: Right 12">
            <a:extLst>
              <a:ext uri="{FF2B5EF4-FFF2-40B4-BE49-F238E27FC236}">
                <a16:creationId xmlns:a16="http://schemas.microsoft.com/office/drawing/2014/main" id="{0A4C2C1D-4715-949B-CBF9-15B0D4508ED7}"/>
              </a:ext>
            </a:extLst>
          </p:cNvPr>
          <p:cNvSpPr/>
          <p:nvPr/>
        </p:nvSpPr>
        <p:spPr>
          <a:xfrm>
            <a:off x="1" y="1653894"/>
            <a:ext cx="1772667" cy="1575452"/>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5206DAA6-FE06-B8AB-1F21-FF6CB20B4111}"/>
              </a:ext>
            </a:extLst>
          </p:cNvPr>
          <p:cNvSpPr txBox="1"/>
          <p:nvPr/>
        </p:nvSpPr>
        <p:spPr>
          <a:xfrm>
            <a:off x="-165386" y="2174452"/>
            <a:ext cx="1766604" cy="584775"/>
          </a:xfrm>
          <a:prstGeom prst="rect">
            <a:avLst/>
          </a:prstGeom>
          <a:noFill/>
        </p:spPr>
        <p:txBody>
          <a:bodyPr wrap="square" rtlCol="0">
            <a:spAutoFit/>
          </a:bodyPr>
          <a:lstStyle/>
          <a:p>
            <a:pPr algn="ctr"/>
            <a:r>
              <a:rPr lang="en-US" sz="3200" b="1" dirty="0"/>
              <a:t>QUERY</a:t>
            </a:r>
          </a:p>
        </p:txBody>
      </p:sp>
      <p:pic>
        <p:nvPicPr>
          <p:cNvPr id="4" name="Picture 3">
            <a:extLst>
              <a:ext uri="{FF2B5EF4-FFF2-40B4-BE49-F238E27FC236}">
                <a16:creationId xmlns:a16="http://schemas.microsoft.com/office/drawing/2014/main" id="{1194601B-DE0C-F66C-13D6-7D5BB8143DBA}"/>
              </a:ext>
            </a:extLst>
          </p:cNvPr>
          <p:cNvPicPr>
            <a:picLocks noChangeAspect="1"/>
          </p:cNvPicPr>
          <p:nvPr/>
        </p:nvPicPr>
        <p:blipFill>
          <a:blip r:embed="rId3"/>
          <a:stretch>
            <a:fillRect/>
          </a:stretch>
        </p:blipFill>
        <p:spPr>
          <a:xfrm>
            <a:off x="3663884" y="3540477"/>
            <a:ext cx="4485123" cy="1739132"/>
          </a:xfrm>
          <a:prstGeom prst="rect">
            <a:avLst/>
          </a:prstGeom>
          <a:ln w="19050">
            <a:solidFill>
              <a:schemeClr val="tx1"/>
            </a:solidFill>
          </a:ln>
        </p:spPr>
      </p:pic>
      <p:sp>
        <p:nvSpPr>
          <p:cNvPr id="6" name="TextBox 5">
            <a:extLst>
              <a:ext uri="{FF2B5EF4-FFF2-40B4-BE49-F238E27FC236}">
                <a16:creationId xmlns:a16="http://schemas.microsoft.com/office/drawing/2014/main" id="{73202804-9983-8B64-5C66-92510116DC91}"/>
              </a:ext>
            </a:extLst>
          </p:cNvPr>
          <p:cNvSpPr txBox="1"/>
          <p:nvPr/>
        </p:nvSpPr>
        <p:spPr>
          <a:xfrm>
            <a:off x="352473" y="5907289"/>
            <a:ext cx="11995055" cy="1323439"/>
          </a:xfrm>
          <a:prstGeom prst="rect">
            <a:avLst/>
          </a:prstGeom>
          <a:noFill/>
        </p:spPr>
        <p:txBody>
          <a:bodyPr wrap="square" rtlCol="0">
            <a:spAutoFit/>
          </a:bodyPr>
          <a:lstStyle/>
          <a:p>
            <a:r>
              <a:rPr lang="en-US" sz="2000" b="1" dirty="0">
                <a:solidFill>
                  <a:schemeClr val="bg1"/>
                </a:solidFill>
                <a:latin typeface="Segoe UI Black" panose="020B0A02040204020203" pitchFamily="34" charset="0"/>
                <a:ea typeface="Segoe UI Black" panose="020B0A02040204020203" pitchFamily="34" charset="0"/>
              </a:rPr>
              <a:t>SUMMARY : This query calculates the average ticket amount paid by passengers. It considers only records where PaymentStatus = 'Paid’. The average amount paid per ticket is 1536.39.</a:t>
            </a:r>
          </a:p>
          <a:p>
            <a:r>
              <a:rPr lang="en-US" sz="2000" b="1" dirty="0">
                <a:solidFill>
                  <a:schemeClr val="bg1"/>
                </a:solidFill>
                <a:latin typeface="Segoe UI Black" panose="020B0A02040204020203" pitchFamily="34" charset="0"/>
                <a:ea typeface="Segoe UI Black" panose="020B0A02040204020203" pitchFamily="34" charset="0"/>
              </a:rPr>
              <a:t>It helps understand the typical ticket cost for successful booking</a:t>
            </a:r>
          </a:p>
          <a:p>
            <a:endParaRPr lang="en-US" sz="2000" b="1" dirty="0">
              <a:solidFill>
                <a:schemeClr val="bg1"/>
              </a:solidFill>
              <a:latin typeface="Segoe UI Black" panose="020B0A02040204020203" pitchFamily="34" charset="0"/>
              <a:ea typeface="Segoe UI Black" panose="020B0A02040204020203" pitchFamily="34" charset="0"/>
            </a:endParaRPr>
          </a:p>
        </p:txBody>
      </p:sp>
    </p:spTree>
    <p:extLst>
      <p:ext uri="{BB962C8B-B14F-4D97-AF65-F5344CB8AC3E}">
        <p14:creationId xmlns:p14="http://schemas.microsoft.com/office/powerpoint/2010/main" val="4015539732"/>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C055F9E2-CB19-EE57-ED7D-41A12E61E225}"/>
            </a:ext>
          </a:extLst>
        </p:cNvPr>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197EEA48-10C4-0F0B-756D-955E8068769F}"/>
              </a:ext>
            </a:extLst>
          </p:cNvPr>
          <p:cNvSpPr/>
          <p:nvPr/>
        </p:nvSpPr>
        <p:spPr>
          <a:xfrm>
            <a:off x="2312587" y="1617384"/>
            <a:ext cx="7446922" cy="1323439"/>
          </a:xfrm>
          <a:prstGeom prst="round2Same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1400" dirty="0"/>
          </a:p>
        </p:txBody>
      </p:sp>
      <p:sp>
        <p:nvSpPr>
          <p:cNvPr id="7" name="Rectangle: Top Corners Rounded 6">
            <a:extLst>
              <a:ext uri="{FF2B5EF4-FFF2-40B4-BE49-F238E27FC236}">
                <a16:creationId xmlns:a16="http://schemas.microsoft.com/office/drawing/2014/main" id="{6C60B97F-0195-F236-C30E-97F1A0C6D8F0}"/>
              </a:ext>
            </a:extLst>
          </p:cNvPr>
          <p:cNvSpPr/>
          <p:nvPr/>
        </p:nvSpPr>
        <p:spPr>
          <a:xfrm>
            <a:off x="333422" y="5907289"/>
            <a:ext cx="11903314" cy="998379"/>
          </a:xfrm>
          <a:prstGeom prst="round2SameRect">
            <a:avLst>
              <a:gd name="adj1" fmla="val 16667"/>
              <a:gd name="adj2" fmla="val 7074"/>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72" dirty="0"/>
          </a:p>
        </p:txBody>
      </p:sp>
      <p:sp>
        <p:nvSpPr>
          <p:cNvPr id="20" name="TextBox 19">
            <a:extLst>
              <a:ext uri="{FF2B5EF4-FFF2-40B4-BE49-F238E27FC236}">
                <a16:creationId xmlns:a16="http://schemas.microsoft.com/office/drawing/2014/main" id="{36391DC7-D015-0AAE-1888-E22AA0AEF3AC}"/>
              </a:ext>
            </a:extLst>
          </p:cNvPr>
          <p:cNvSpPr txBox="1"/>
          <p:nvPr/>
        </p:nvSpPr>
        <p:spPr>
          <a:xfrm>
            <a:off x="2921443" y="1882494"/>
            <a:ext cx="5860608" cy="830997"/>
          </a:xfrm>
          <a:prstGeom prst="rect">
            <a:avLst/>
          </a:prstGeom>
          <a:noFill/>
        </p:spPr>
        <p:txBody>
          <a:bodyPr wrap="square" rtlCol="0">
            <a:spAutoFit/>
          </a:bodyPr>
          <a:lstStyle/>
          <a:p>
            <a:r>
              <a:rPr lang="en-US" sz="1600" b="1" dirty="0">
                <a:latin typeface="Daytona" panose="020F0502020204030204" pitchFamily="34" charset="0"/>
                <a:cs typeface="Angsana New" panose="020B0502040204020203" pitchFamily="18" charset="-34"/>
              </a:rPr>
              <a:t>select </a:t>
            </a:r>
            <a:r>
              <a:rPr lang="en-US" sz="1600" b="1" dirty="0" err="1">
                <a:latin typeface="Daytona" panose="020F0502020204030204" pitchFamily="34" charset="0"/>
                <a:cs typeface="Angsana New" panose="020B0502040204020203" pitchFamily="18" charset="-34"/>
              </a:rPr>
              <a:t>PaymentMode,count</a:t>
            </a:r>
            <a:r>
              <a:rPr lang="en-US" sz="1600" b="1" dirty="0">
                <a:latin typeface="Daytona" panose="020F0502020204030204" pitchFamily="34" charset="0"/>
                <a:cs typeface="Angsana New" panose="020B0502040204020203" pitchFamily="18" charset="-34"/>
              </a:rPr>
              <a:t>(*) as Total</a:t>
            </a:r>
          </a:p>
          <a:p>
            <a:r>
              <a:rPr lang="en-US" sz="1600" b="1" dirty="0">
                <a:latin typeface="Daytona" panose="020F0502020204030204" pitchFamily="34" charset="0"/>
                <a:cs typeface="Angsana New" panose="020B0502040204020203" pitchFamily="18" charset="-34"/>
              </a:rPr>
              <a:t>from payment</a:t>
            </a:r>
          </a:p>
          <a:p>
            <a:r>
              <a:rPr lang="en-US" sz="1600" b="1" dirty="0">
                <a:latin typeface="Daytona" panose="020F0502020204030204" pitchFamily="34" charset="0"/>
                <a:cs typeface="Angsana New" panose="020B0502040204020203" pitchFamily="18" charset="-34"/>
              </a:rPr>
              <a:t>group by PaymentMode;</a:t>
            </a:r>
          </a:p>
        </p:txBody>
      </p:sp>
      <p:sp>
        <p:nvSpPr>
          <p:cNvPr id="11" name="TextBox 10">
            <a:extLst>
              <a:ext uri="{FF2B5EF4-FFF2-40B4-BE49-F238E27FC236}">
                <a16:creationId xmlns:a16="http://schemas.microsoft.com/office/drawing/2014/main" id="{BB27AD7B-7B80-5B61-C7FB-C1F9C967DE47}"/>
              </a:ext>
            </a:extLst>
          </p:cNvPr>
          <p:cNvSpPr txBox="1"/>
          <p:nvPr/>
        </p:nvSpPr>
        <p:spPr>
          <a:xfrm>
            <a:off x="1396427" y="131721"/>
            <a:ext cx="11179700" cy="1138773"/>
          </a:xfrm>
          <a:prstGeom prst="rect">
            <a:avLst/>
          </a:prstGeom>
          <a:solidFill>
            <a:schemeClr val="accent4">
              <a:lumMod val="50000"/>
            </a:schemeClr>
          </a:solidFill>
        </p:spPr>
        <p:txBody>
          <a:bodyPr wrap="square" rtlCol="0">
            <a:spAutoFit/>
          </a:bodyPr>
          <a:lstStyle/>
          <a:p>
            <a:pPr algn="ctr"/>
            <a:r>
              <a:rPr lang="en-US" sz="36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10. </a:t>
            </a:r>
            <a:r>
              <a:rPr lang="en-US" sz="32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Display the total number of payments made using each payment mode such as UPI, Card, or Cash.</a:t>
            </a:r>
            <a:endParaRPr lang="en-US" sz="32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endParaRPr>
          </a:p>
        </p:txBody>
      </p:sp>
      <p:pic>
        <p:nvPicPr>
          <p:cNvPr id="12" name="Picture 11" descr="A blue and white circular sign with a circular design&#10;&#10;AI-generated content may be incorrect.">
            <a:extLst>
              <a:ext uri="{FF2B5EF4-FFF2-40B4-BE49-F238E27FC236}">
                <a16:creationId xmlns:a16="http://schemas.microsoft.com/office/drawing/2014/main" id="{9E28C574-287A-5EC1-92FF-6E838B2B14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873" y="-257823"/>
            <a:ext cx="2011965" cy="2011965"/>
          </a:xfrm>
          <a:prstGeom prst="rect">
            <a:avLst/>
          </a:prstGeom>
        </p:spPr>
      </p:pic>
      <p:sp>
        <p:nvSpPr>
          <p:cNvPr id="13" name="Arrow: Right 12">
            <a:extLst>
              <a:ext uri="{FF2B5EF4-FFF2-40B4-BE49-F238E27FC236}">
                <a16:creationId xmlns:a16="http://schemas.microsoft.com/office/drawing/2014/main" id="{F65C7326-DE32-8AE7-9E8F-03BFDEC3A059}"/>
              </a:ext>
            </a:extLst>
          </p:cNvPr>
          <p:cNvSpPr/>
          <p:nvPr/>
        </p:nvSpPr>
        <p:spPr>
          <a:xfrm>
            <a:off x="1" y="1539594"/>
            <a:ext cx="1772667" cy="1575452"/>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A665960D-071B-721B-71A7-0B5C8B87E143}"/>
              </a:ext>
            </a:extLst>
          </p:cNvPr>
          <p:cNvSpPr txBox="1"/>
          <p:nvPr/>
        </p:nvSpPr>
        <p:spPr>
          <a:xfrm>
            <a:off x="-165386" y="2060152"/>
            <a:ext cx="1766604" cy="584775"/>
          </a:xfrm>
          <a:prstGeom prst="rect">
            <a:avLst/>
          </a:prstGeom>
          <a:noFill/>
        </p:spPr>
        <p:txBody>
          <a:bodyPr wrap="square" rtlCol="0">
            <a:spAutoFit/>
          </a:bodyPr>
          <a:lstStyle/>
          <a:p>
            <a:pPr algn="ctr"/>
            <a:r>
              <a:rPr lang="en-US" sz="3200" b="1" dirty="0"/>
              <a:t>QUERY</a:t>
            </a:r>
          </a:p>
        </p:txBody>
      </p:sp>
      <p:sp>
        <p:nvSpPr>
          <p:cNvPr id="6" name="TextBox 5">
            <a:extLst>
              <a:ext uri="{FF2B5EF4-FFF2-40B4-BE49-F238E27FC236}">
                <a16:creationId xmlns:a16="http://schemas.microsoft.com/office/drawing/2014/main" id="{85FAFF80-65D3-728E-258F-2BF1A24D3701}"/>
              </a:ext>
            </a:extLst>
          </p:cNvPr>
          <p:cNvSpPr txBox="1"/>
          <p:nvPr/>
        </p:nvSpPr>
        <p:spPr>
          <a:xfrm>
            <a:off x="352473" y="5907289"/>
            <a:ext cx="11995055" cy="1323439"/>
          </a:xfrm>
          <a:prstGeom prst="rect">
            <a:avLst/>
          </a:prstGeom>
          <a:noFill/>
        </p:spPr>
        <p:txBody>
          <a:bodyPr wrap="square" rtlCol="0">
            <a:spAutoFit/>
          </a:bodyPr>
          <a:lstStyle/>
          <a:p>
            <a:r>
              <a:rPr lang="en-US" sz="2000" b="1" dirty="0">
                <a:solidFill>
                  <a:schemeClr val="bg1"/>
                </a:solidFill>
                <a:latin typeface="Segoe UI Black" panose="020B0A02040204020203" pitchFamily="34" charset="0"/>
                <a:ea typeface="Segoe UI Black" panose="020B0A02040204020203" pitchFamily="34" charset="0"/>
              </a:rPr>
              <a:t>SUMMARY : This query shows the total number of payments made using each payment mode. It groups records by PaymentMode such as UPI, Card, Cash, Online, etc. The result helps identify the most commonly used payment method by passengers</a:t>
            </a:r>
          </a:p>
          <a:p>
            <a:endParaRPr lang="en-US" sz="2000" b="1" dirty="0">
              <a:solidFill>
                <a:schemeClr val="bg1"/>
              </a:solidFill>
              <a:latin typeface="Segoe UI Black" panose="020B0A02040204020203" pitchFamily="34" charset="0"/>
              <a:ea typeface="Segoe UI Black" panose="020B0A02040204020203" pitchFamily="34" charset="0"/>
            </a:endParaRPr>
          </a:p>
        </p:txBody>
      </p:sp>
      <p:pic>
        <p:nvPicPr>
          <p:cNvPr id="3" name="Picture 2" descr="A screenshot of a computer&#10;&#10;AI-generated content may be incorrect.">
            <a:extLst>
              <a:ext uri="{FF2B5EF4-FFF2-40B4-BE49-F238E27FC236}">
                <a16:creationId xmlns:a16="http://schemas.microsoft.com/office/drawing/2014/main" id="{795AA978-E062-B671-71AD-7E2790DBEFFA}"/>
              </a:ext>
            </a:extLst>
          </p:cNvPr>
          <p:cNvPicPr>
            <a:picLocks noChangeAspect="1"/>
          </p:cNvPicPr>
          <p:nvPr/>
        </p:nvPicPr>
        <p:blipFill>
          <a:blip r:embed="rId3"/>
          <a:stretch>
            <a:fillRect/>
          </a:stretch>
        </p:blipFill>
        <p:spPr>
          <a:xfrm>
            <a:off x="4551798" y="3029168"/>
            <a:ext cx="3123010" cy="2710947"/>
          </a:xfrm>
          <a:prstGeom prst="rect">
            <a:avLst/>
          </a:prstGeom>
          <a:ln w="19050">
            <a:solidFill>
              <a:schemeClr val="tx1"/>
            </a:solidFill>
          </a:ln>
        </p:spPr>
      </p:pic>
    </p:spTree>
    <p:extLst>
      <p:ext uri="{BB962C8B-B14F-4D97-AF65-F5344CB8AC3E}">
        <p14:creationId xmlns:p14="http://schemas.microsoft.com/office/powerpoint/2010/main" val="3331937486"/>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C32E5E09-9C3D-F51A-8438-E56B7F9C2CB5}"/>
            </a:ext>
          </a:extLst>
        </p:cNvPr>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3D1FDD8F-3E67-049D-5C1F-9B21DA487F22}"/>
              </a:ext>
            </a:extLst>
          </p:cNvPr>
          <p:cNvSpPr/>
          <p:nvPr/>
        </p:nvSpPr>
        <p:spPr>
          <a:xfrm>
            <a:off x="2312587" y="1522134"/>
            <a:ext cx="7446922" cy="1323439"/>
          </a:xfrm>
          <a:prstGeom prst="round2Same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1400" dirty="0"/>
          </a:p>
        </p:txBody>
      </p:sp>
      <p:sp>
        <p:nvSpPr>
          <p:cNvPr id="7" name="Rectangle: Top Corners Rounded 6">
            <a:extLst>
              <a:ext uri="{FF2B5EF4-FFF2-40B4-BE49-F238E27FC236}">
                <a16:creationId xmlns:a16="http://schemas.microsoft.com/office/drawing/2014/main" id="{B67E26B1-3449-44B3-D8A3-28ACF03DA908}"/>
              </a:ext>
            </a:extLst>
          </p:cNvPr>
          <p:cNvSpPr/>
          <p:nvPr/>
        </p:nvSpPr>
        <p:spPr>
          <a:xfrm>
            <a:off x="333422" y="5907289"/>
            <a:ext cx="11903314" cy="998379"/>
          </a:xfrm>
          <a:prstGeom prst="round2SameRect">
            <a:avLst>
              <a:gd name="adj1" fmla="val 16667"/>
              <a:gd name="adj2" fmla="val 7074"/>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72" dirty="0"/>
          </a:p>
        </p:txBody>
      </p:sp>
      <p:sp>
        <p:nvSpPr>
          <p:cNvPr id="20" name="TextBox 19">
            <a:extLst>
              <a:ext uri="{FF2B5EF4-FFF2-40B4-BE49-F238E27FC236}">
                <a16:creationId xmlns:a16="http://schemas.microsoft.com/office/drawing/2014/main" id="{EFA85D51-FBF8-4565-02FD-AA92003FE8CF}"/>
              </a:ext>
            </a:extLst>
          </p:cNvPr>
          <p:cNvSpPr txBox="1"/>
          <p:nvPr/>
        </p:nvSpPr>
        <p:spPr>
          <a:xfrm>
            <a:off x="2921443" y="1653894"/>
            <a:ext cx="5860608" cy="1077218"/>
          </a:xfrm>
          <a:prstGeom prst="rect">
            <a:avLst/>
          </a:prstGeom>
          <a:noFill/>
        </p:spPr>
        <p:txBody>
          <a:bodyPr wrap="square" rtlCol="0">
            <a:spAutoFit/>
          </a:bodyPr>
          <a:lstStyle/>
          <a:p>
            <a:r>
              <a:rPr lang="en-US" sz="1600" b="1" dirty="0">
                <a:latin typeface="Daytona" panose="020F0502020204030204" pitchFamily="34" charset="0"/>
                <a:cs typeface="Angsana New" panose="020B0502040204020203" pitchFamily="18" charset="-34"/>
              </a:rPr>
              <a:t>SELECT TrainID,count(*) as Totalstops</a:t>
            </a:r>
          </a:p>
          <a:p>
            <a:r>
              <a:rPr lang="en-US" sz="1600" b="1" dirty="0">
                <a:latin typeface="Daytona" panose="020F0502020204030204" pitchFamily="34" charset="0"/>
                <a:cs typeface="Angsana New" panose="020B0502040204020203" pitchFamily="18" charset="-34"/>
              </a:rPr>
              <a:t>from route</a:t>
            </a:r>
          </a:p>
          <a:p>
            <a:r>
              <a:rPr lang="en-US" sz="1600" b="1" dirty="0">
                <a:latin typeface="Daytona" panose="020F0502020204030204" pitchFamily="34" charset="0"/>
                <a:cs typeface="Angsana New" panose="020B0502040204020203" pitchFamily="18" charset="-34"/>
              </a:rPr>
              <a:t>group by TrainID</a:t>
            </a:r>
          </a:p>
          <a:p>
            <a:r>
              <a:rPr lang="en-US" sz="1600" b="1" dirty="0">
                <a:latin typeface="Daytona" panose="020F0502020204030204" pitchFamily="34" charset="0"/>
                <a:cs typeface="Angsana New" panose="020B0502040204020203" pitchFamily="18" charset="-34"/>
              </a:rPr>
              <a:t>order by Totalstops desc;</a:t>
            </a:r>
          </a:p>
        </p:txBody>
      </p:sp>
      <p:sp>
        <p:nvSpPr>
          <p:cNvPr id="11" name="TextBox 10">
            <a:extLst>
              <a:ext uri="{FF2B5EF4-FFF2-40B4-BE49-F238E27FC236}">
                <a16:creationId xmlns:a16="http://schemas.microsoft.com/office/drawing/2014/main" id="{4ED83BE7-5073-E115-DCA7-F4E260773699}"/>
              </a:ext>
            </a:extLst>
          </p:cNvPr>
          <p:cNvSpPr txBox="1"/>
          <p:nvPr/>
        </p:nvSpPr>
        <p:spPr>
          <a:xfrm>
            <a:off x="1396427" y="131721"/>
            <a:ext cx="11179700" cy="1077218"/>
          </a:xfrm>
          <a:prstGeom prst="rect">
            <a:avLst/>
          </a:prstGeom>
          <a:solidFill>
            <a:schemeClr val="accent4">
              <a:lumMod val="50000"/>
            </a:schemeClr>
          </a:solidFill>
        </p:spPr>
        <p:txBody>
          <a:bodyPr wrap="square" rtlCol="0">
            <a:spAutoFit/>
          </a:bodyPr>
          <a:lstStyle/>
          <a:p>
            <a:pPr algn="ctr"/>
            <a:r>
              <a:rPr lang="en-US" sz="32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11. Find the train which has the maximum number of stops in its route.</a:t>
            </a:r>
            <a:endParaRPr lang="en-US" sz="32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endParaRPr>
          </a:p>
        </p:txBody>
      </p:sp>
      <p:pic>
        <p:nvPicPr>
          <p:cNvPr id="12" name="Picture 11" descr="A blue and white circular sign with a circular design&#10;&#10;AI-generated content may be incorrect.">
            <a:extLst>
              <a:ext uri="{FF2B5EF4-FFF2-40B4-BE49-F238E27FC236}">
                <a16:creationId xmlns:a16="http://schemas.microsoft.com/office/drawing/2014/main" id="{D21FB23F-4764-9137-D066-D02242BFD3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873" y="-257823"/>
            <a:ext cx="2011965" cy="2011965"/>
          </a:xfrm>
          <a:prstGeom prst="rect">
            <a:avLst/>
          </a:prstGeom>
        </p:spPr>
      </p:pic>
      <p:sp>
        <p:nvSpPr>
          <p:cNvPr id="13" name="Arrow: Right 12">
            <a:extLst>
              <a:ext uri="{FF2B5EF4-FFF2-40B4-BE49-F238E27FC236}">
                <a16:creationId xmlns:a16="http://schemas.microsoft.com/office/drawing/2014/main" id="{F9CB2D62-3C35-DC64-91A8-B721ECA2C21F}"/>
              </a:ext>
            </a:extLst>
          </p:cNvPr>
          <p:cNvSpPr/>
          <p:nvPr/>
        </p:nvSpPr>
        <p:spPr>
          <a:xfrm>
            <a:off x="1" y="1463394"/>
            <a:ext cx="1772667" cy="1575452"/>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EFBF1553-0758-361D-C678-7E30DB2D323C}"/>
              </a:ext>
            </a:extLst>
          </p:cNvPr>
          <p:cNvSpPr txBox="1"/>
          <p:nvPr/>
        </p:nvSpPr>
        <p:spPr>
          <a:xfrm>
            <a:off x="-165386" y="1983952"/>
            <a:ext cx="1766604" cy="584775"/>
          </a:xfrm>
          <a:prstGeom prst="rect">
            <a:avLst/>
          </a:prstGeom>
          <a:noFill/>
        </p:spPr>
        <p:txBody>
          <a:bodyPr wrap="square" rtlCol="0">
            <a:spAutoFit/>
          </a:bodyPr>
          <a:lstStyle/>
          <a:p>
            <a:pPr algn="ctr"/>
            <a:r>
              <a:rPr lang="en-US" sz="3200" b="1" dirty="0"/>
              <a:t>QUERY</a:t>
            </a:r>
          </a:p>
        </p:txBody>
      </p:sp>
      <p:sp>
        <p:nvSpPr>
          <p:cNvPr id="6" name="TextBox 5">
            <a:extLst>
              <a:ext uri="{FF2B5EF4-FFF2-40B4-BE49-F238E27FC236}">
                <a16:creationId xmlns:a16="http://schemas.microsoft.com/office/drawing/2014/main" id="{5182FFB9-D64E-E7DD-0ECB-099E81120E17}"/>
              </a:ext>
            </a:extLst>
          </p:cNvPr>
          <p:cNvSpPr txBox="1"/>
          <p:nvPr/>
        </p:nvSpPr>
        <p:spPr>
          <a:xfrm>
            <a:off x="562023" y="5907289"/>
            <a:ext cx="11995055" cy="1323439"/>
          </a:xfrm>
          <a:prstGeom prst="rect">
            <a:avLst/>
          </a:prstGeom>
          <a:noFill/>
        </p:spPr>
        <p:txBody>
          <a:bodyPr wrap="square" rtlCol="0">
            <a:spAutoFit/>
          </a:bodyPr>
          <a:lstStyle/>
          <a:p>
            <a:r>
              <a:rPr lang="en-US" sz="2000" b="1" dirty="0">
                <a:solidFill>
                  <a:schemeClr val="bg1"/>
                </a:solidFill>
                <a:latin typeface="Segoe UI Black" panose="020B0A02040204020203" pitchFamily="34" charset="0"/>
                <a:ea typeface="Segoe UI Black" panose="020B0A02040204020203" pitchFamily="34" charset="0"/>
              </a:rPr>
              <a:t>SUMMARY : This query finds the trains with the maximum number of stops (7 stops). It groups the data by TrainID, counts total stops for each train, and sorts the result in descending order to identify the trains with the highest number of stops.</a:t>
            </a:r>
          </a:p>
          <a:p>
            <a:endParaRPr lang="en-US" sz="2000" b="1" dirty="0">
              <a:solidFill>
                <a:schemeClr val="bg1"/>
              </a:solidFill>
              <a:latin typeface="Segoe UI Black" panose="020B0A02040204020203" pitchFamily="34" charset="0"/>
              <a:ea typeface="Segoe UI Black" panose="020B0A02040204020203" pitchFamily="34" charset="0"/>
            </a:endParaRPr>
          </a:p>
        </p:txBody>
      </p:sp>
      <p:pic>
        <p:nvPicPr>
          <p:cNvPr id="4" name="Picture 3" descr="A screenshot of a table&#10;&#10;AI-generated content may be incorrect.">
            <a:extLst>
              <a:ext uri="{FF2B5EF4-FFF2-40B4-BE49-F238E27FC236}">
                <a16:creationId xmlns:a16="http://schemas.microsoft.com/office/drawing/2014/main" id="{13A83A0F-B79F-6921-B8A3-E730397C2935}"/>
              </a:ext>
            </a:extLst>
          </p:cNvPr>
          <p:cNvPicPr>
            <a:picLocks noChangeAspect="1"/>
          </p:cNvPicPr>
          <p:nvPr/>
        </p:nvPicPr>
        <p:blipFill>
          <a:blip r:embed="rId3"/>
          <a:stretch>
            <a:fillRect/>
          </a:stretch>
        </p:blipFill>
        <p:spPr>
          <a:xfrm>
            <a:off x="5073471" y="2896989"/>
            <a:ext cx="1318791" cy="2972200"/>
          </a:xfrm>
          <a:prstGeom prst="rect">
            <a:avLst/>
          </a:prstGeom>
          <a:ln w="19050">
            <a:solidFill>
              <a:schemeClr val="tx1"/>
            </a:solidFill>
          </a:ln>
        </p:spPr>
      </p:pic>
    </p:spTree>
    <p:extLst>
      <p:ext uri="{BB962C8B-B14F-4D97-AF65-F5344CB8AC3E}">
        <p14:creationId xmlns:p14="http://schemas.microsoft.com/office/powerpoint/2010/main" val="4088248473"/>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508DC1C6-F2E9-6788-6846-4F6372FFDA6E}"/>
            </a:ext>
          </a:extLst>
        </p:cNvPr>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2011EF5F-F1F8-359E-FEAB-4B4DFD3EBCB9}"/>
              </a:ext>
            </a:extLst>
          </p:cNvPr>
          <p:cNvSpPr/>
          <p:nvPr/>
        </p:nvSpPr>
        <p:spPr>
          <a:xfrm>
            <a:off x="2312586" y="1312583"/>
            <a:ext cx="7980321" cy="1529970"/>
          </a:xfrm>
          <a:prstGeom prst="round2Same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1400" dirty="0"/>
          </a:p>
        </p:txBody>
      </p:sp>
      <p:sp>
        <p:nvSpPr>
          <p:cNvPr id="7" name="Rectangle: Top Corners Rounded 6">
            <a:extLst>
              <a:ext uri="{FF2B5EF4-FFF2-40B4-BE49-F238E27FC236}">
                <a16:creationId xmlns:a16="http://schemas.microsoft.com/office/drawing/2014/main" id="{9912DFDE-9FC1-12AC-FD5D-226B240375FF}"/>
              </a:ext>
            </a:extLst>
          </p:cNvPr>
          <p:cNvSpPr/>
          <p:nvPr/>
        </p:nvSpPr>
        <p:spPr>
          <a:xfrm>
            <a:off x="123873" y="6040640"/>
            <a:ext cx="12452254" cy="960277"/>
          </a:xfrm>
          <a:prstGeom prst="round2SameRect">
            <a:avLst>
              <a:gd name="adj1" fmla="val 16667"/>
              <a:gd name="adj2" fmla="val 7074"/>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72" dirty="0"/>
          </a:p>
        </p:txBody>
      </p:sp>
      <p:sp>
        <p:nvSpPr>
          <p:cNvPr id="20" name="TextBox 19">
            <a:extLst>
              <a:ext uri="{FF2B5EF4-FFF2-40B4-BE49-F238E27FC236}">
                <a16:creationId xmlns:a16="http://schemas.microsoft.com/office/drawing/2014/main" id="{409C60E3-C146-4221-06F9-262A0B91471F}"/>
              </a:ext>
            </a:extLst>
          </p:cNvPr>
          <p:cNvSpPr txBox="1"/>
          <p:nvPr/>
        </p:nvSpPr>
        <p:spPr>
          <a:xfrm>
            <a:off x="2388043" y="1272893"/>
            <a:ext cx="8927658" cy="1569660"/>
          </a:xfrm>
          <a:prstGeom prst="rect">
            <a:avLst/>
          </a:prstGeom>
          <a:noFill/>
        </p:spPr>
        <p:txBody>
          <a:bodyPr wrap="square" rtlCol="0">
            <a:spAutoFit/>
          </a:bodyPr>
          <a:lstStyle/>
          <a:p>
            <a:r>
              <a:rPr lang="en-US" sz="1600" b="1" dirty="0">
                <a:latin typeface="Daytona" panose="020F0502020204030204" pitchFamily="34" charset="0"/>
                <a:cs typeface="Angsana New" panose="020B0502040204020203" pitchFamily="18" charset="-34"/>
              </a:rPr>
              <a:t>Select </a:t>
            </a:r>
            <a:r>
              <a:rPr lang="en-US" sz="1600" b="1" dirty="0" err="1">
                <a:latin typeface="Daytona" panose="020F0502020204030204" pitchFamily="34" charset="0"/>
                <a:cs typeface="Angsana New" panose="020B0502040204020203" pitchFamily="18" charset="-34"/>
              </a:rPr>
              <a:t>B.BookingID,B.PassengerName,B.DateOfJourney,B.SeatClass</a:t>
            </a:r>
            <a:r>
              <a:rPr lang="en-US" sz="1600" b="1" dirty="0">
                <a:latin typeface="Daytona" panose="020F0502020204030204" pitchFamily="34" charset="0"/>
                <a:cs typeface="Angsana New" panose="020B0502040204020203" pitchFamily="18" charset="-34"/>
              </a:rPr>
              <a:t>,</a:t>
            </a:r>
          </a:p>
          <a:p>
            <a:r>
              <a:rPr lang="en-US" sz="1600" b="1" dirty="0">
                <a:latin typeface="Daytona" panose="020F0502020204030204" pitchFamily="34" charset="0"/>
                <a:cs typeface="Angsana New" panose="020B0502040204020203" pitchFamily="18" charset="-34"/>
              </a:rPr>
              <a:t>B.Status,T.TrainName,T.Traintype</a:t>
            </a:r>
          </a:p>
          <a:p>
            <a:r>
              <a:rPr lang="en-US" sz="1600" b="1" dirty="0">
                <a:latin typeface="Daytona" panose="020F0502020204030204" pitchFamily="34" charset="0"/>
                <a:cs typeface="Angsana New" panose="020B0502040204020203" pitchFamily="18" charset="-34"/>
              </a:rPr>
              <a:t>From booking as B</a:t>
            </a:r>
          </a:p>
          <a:p>
            <a:r>
              <a:rPr lang="en-US" sz="1600" b="1" dirty="0">
                <a:latin typeface="Daytona" panose="020F0502020204030204" pitchFamily="34" charset="0"/>
                <a:cs typeface="Angsana New" panose="020B0502040204020203" pitchFamily="18" charset="-34"/>
              </a:rPr>
              <a:t>join Train as T</a:t>
            </a:r>
          </a:p>
          <a:p>
            <a:r>
              <a:rPr lang="en-US" sz="1600" b="1" dirty="0">
                <a:latin typeface="Daytona" panose="020F0502020204030204" pitchFamily="34" charset="0"/>
                <a:cs typeface="Angsana New" panose="020B0502040204020203" pitchFamily="18" charset="-34"/>
              </a:rPr>
              <a:t>on </a:t>
            </a:r>
            <a:r>
              <a:rPr lang="en-US" sz="1600" b="1" dirty="0" err="1">
                <a:latin typeface="Daytona" panose="020F0502020204030204" pitchFamily="34" charset="0"/>
                <a:cs typeface="Angsana New" panose="020B0502040204020203" pitchFamily="18" charset="-34"/>
              </a:rPr>
              <a:t>B.TrainID</a:t>
            </a:r>
            <a:r>
              <a:rPr lang="en-US" sz="1600" b="1" dirty="0">
                <a:latin typeface="Daytona" panose="020F0502020204030204" pitchFamily="34" charset="0"/>
                <a:cs typeface="Angsana New" panose="020B0502040204020203" pitchFamily="18" charset="-34"/>
              </a:rPr>
              <a:t> = </a:t>
            </a:r>
            <a:r>
              <a:rPr lang="en-US" sz="1600" b="1" dirty="0" err="1">
                <a:latin typeface="Daytona" panose="020F0502020204030204" pitchFamily="34" charset="0"/>
                <a:cs typeface="Angsana New" panose="020B0502040204020203" pitchFamily="18" charset="-34"/>
              </a:rPr>
              <a:t>T.TrainID</a:t>
            </a:r>
            <a:endParaRPr lang="en-US" sz="1600" b="1" dirty="0">
              <a:latin typeface="Daytona" panose="020F0502020204030204" pitchFamily="34" charset="0"/>
              <a:cs typeface="Angsana New" panose="020B0502040204020203" pitchFamily="18" charset="-34"/>
            </a:endParaRPr>
          </a:p>
          <a:p>
            <a:r>
              <a:rPr lang="en-US" sz="1600" b="1" dirty="0">
                <a:latin typeface="Daytona" panose="020F0502020204030204" pitchFamily="34" charset="0"/>
                <a:cs typeface="Angsana New" panose="020B0502040204020203" pitchFamily="18" charset="-34"/>
              </a:rPr>
              <a:t>order by BookingID;;</a:t>
            </a:r>
          </a:p>
        </p:txBody>
      </p:sp>
      <p:sp>
        <p:nvSpPr>
          <p:cNvPr id="11" name="TextBox 10">
            <a:extLst>
              <a:ext uri="{FF2B5EF4-FFF2-40B4-BE49-F238E27FC236}">
                <a16:creationId xmlns:a16="http://schemas.microsoft.com/office/drawing/2014/main" id="{AEAE5414-7231-8C7E-4B7F-B29B22504037}"/>
              </a:ext>
            </a:extLst>
          </p:cNvPr>
          <p:cNvSpPr txBox="1"/>
          <p:nvPr/>
        </p:nvSpPr>
        <p:spPr>
          <a:xfrm>
            <a:off x="1396427" y="131721"/>
            <a:ext cx="11179700" cy="1077218"/>
          </a:xfrm>
          <a:prstGeom prst="rect">
            <a:avLst/>
          </a:prstGeom>
          <a:solidFill>
            <a:schemeClr val="accent4">
              <a:lumMod val="50000"/>
            </a:schemeClr>
          </a:solidFill>
        </p:spPr>
        <p:txBody>
          <a:bodyPr wrap="square" rtlCol="0">
            <a:spAutoFit/>
          </a:bodyPr>
          <a:lstStyle/>
          <a:p>
            <a:pPr algn="ctr"/>
            <a:r>
              <a:rPr lang="en-US" sz="32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12. Display booking details along with train name and train type by joining Train and Booking tables.</a:t>
            </a:r>
            <a:endParaRPr lang="en-US" sz="32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endParaRPr>
          </a:p>
        </p:txBody>
      </p:sp>
      <p:pic>
        <p:nvPicPr>
          <p:cNvPr id="12" name="Picture 11" descr="A blue and white circular sign with a circular design&#10;&#10;AI-generated content may be incorrect.">
            <a:extLst>
              <a:ext uri="{FF2B5EF4-FFF2-40B4-BE49-F238E27FC236}">
                <a16:creationId xmlns:a16="http://schemas.microsoft.com/office/drawing/2014/main" id="{CFE2E002-5B62-D18A-A2BE-03AD7E2B97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873" y="-257823"/>
            <a:ext cx="2011965" cy="2011965"/>
          </a:xfrm>
          <a:prstGeom prst="rect">
            <a:avLst/>
          </a:prstGeom>
        </p:spPr>
      </p:pic>
      <p:sp>
        <p:nvSpPr>
          <p:cNvPr id="13" name="Arrow: Right 12">
            <a:extLst>
              <a:ext uri="{FF2B5EF4-FFF2-40B4-BE49-F238E27FC236}">
                <a16:creationId xmlns:a16="http://schemas.microsoft.com/office/drawing/2014/main" id="{1DFA1D29-EE92-281E-9531-A6FA55A03841}"/>
              </a:ext>
            </a:extLst>
          </p:cNvPr>
          <p:cNvSpPr/>
          <p:nvPr/>
        </p:nvSpPr>
        <p:spPr>
          <a:xfrm>
            <a:off x="1" y="1463394"/>
            <a:ext cx="1772667" cy="1575452"/>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D4B442E5-6418-936F-C590-9F419D70597D}"/>
              </a:ext>
            </a:extLst>
          </p:cNvPr>
          <p:cNvSpPr txBox="1"/>
          <p:nvPr/>
        </p:nvSpPr>
        <p:spPr>
          <a:xfrm>
            <a:off x="-165386" y="1983952"/>
            <a:ext cx="1766604" cy="584775"/>
          </a:xfrm>
          <a:prstGeom prst="rect">
            <a:avLst/>
          </a:prstGeom>
          <a:noFill/>
        </p:spPr>
        <p:txBody>
          <a:bodyPr wrap="square" rtlCol="0">
            <a:spAutoFit/>
          </a:bodyPr>
          <a:lstStyle/>
          <a:p>
            <a:pPr algn="ctr"/>
            <a:r>
              <a:rPr lang="en-US" sz="3200" b="1" dirty="0"/>
              <a:t>QUERY</a:t>
            </a:r>
          </a:p>
        </p:txBody>
      </p:sp>
      <p:sp>
        <p:nvSpPr>
          <p:cNvPr id="6" name="TextBox 5">
            <a:extLst>
              <a:ext uri="{FF2B5EF4-FFF2-40B4-BE49-F238E27FC236}">
                <a16:creationId xmlns:a16="http://schemas.microsoft.com/office/drawing/2014/main" id="{B1C47640-8A17-8579-057C-7E77B8775047}"/>
              </a:ext>
            </a:extLst>
          </p:cNvPr>
          <p:cNvSpPr txBox="1"/>
          <p:nvPr/>
        </p:nvSpPr>
        <p:spPr>
          <a:xfrm>
            <a:off x="123873" y="6040641"/>
            <a:ext cx="12557077" cy="1529970"/>
          </a:xfrm>
          <a:prstGeom prst="rect">
            <a:avLst/>
          </a:prstGeom>
          <a:noFill/>
        </p:spPr>
        <p:txBody>
          <a:bodyPr wrap="square" rtlCol="0">
            <a:spAutoFit/>
          </a:bodyPr>
          <a:lstStyle/>
          <a:p>
            <a:r>
              <a:rPr lang="en-US" sz="2000" b="1" dirty="0">
                <a:solidFill>
                  <a:schemeClr val="bg1"/>
                </a:solidFill>
                <a:latin typeface="Segoe UI Black" panose="020B0A02040204020203" pitchFamily="34" charset="0"/>
                <a:ea typeface="Segoe UI Black" panose="020B0A02040204020203" pitchFamily="34" charset="0"/>
              </a:rPr>
              <a:t>SUMMARY ; </a:t>
            </a:r>
            <a:r>
              <a:rPr lang="en-US" b="1" dirty="0">
                <a:solidFill>
                  <a:schemeClr val="bg1"/>
                </a:solidFill>
                <a:latin typeface="Segoe UI Black" panose="020B0A02040204020203" pitchFamily="34" charset="0"/>
                <a:ea typeface="Segoe UI Black" panose="020B0A02040204020203" pitchFamily="34" charset="0"/>
              </a:rPr>
              <a:t>This query retrieves booking details along with train name and train type by joining the Booking and Train tables on TrainID. It displays all 200 booking records, ordered by BookingID. The result helps understand passenger bookings and identify which type of train each passenger has booked.</a:t>
            </a:r>
          </a:p>
          <a:p>
            <a:endParaRPr lang="en-US" b="1" dirty="0">
              <a:solidFill>
                <a:schemeClr val="bg1"/>
              </a:solidFill>
            </a:endParaRPr>
          </a:p>
          <a:p>
            <a:r>
              <a:rPr lang="en-US" sz="2000" b="1" dirty="0">
                <a:solidFill>
                  <a:schemeClr val="bg1"/>
                </a:solidFill>
                <a:latin typeface="Segoe UI Black" panose="020B0A02040204020203" pitchFamily="34" charset="0"/>
                <a:ea typeface="Segoe UI Black" panose="020B0A02040204020203" pitchFamily="34" charset="0"/>
              </a:rPr>
              <a:t> </a:t>
            </a:r>
          </a:p>
        </p:txBody>
      </p:sp>
      <p:pic>
        <p:nvPicPr>
          <p:cNvPr id="9" name="Picture 8" descr="A screenshot of a computer&#10;&#10;AI-generated content may be incorrect.">
            <a:extLst>
              <a:ext uri="{FF2B5EF4-FFF2-40B4-BE49-F238E27FC236}">
                <a16:creationId xmlns:a16="http://schemas.microsoft.com/office/drawing/2014/main" id="{B7A04C7C-55FE-153B-D731-D663112BF9C0}"/>
              </a:ext>
            </a:extLst>
          </p:cNvPr>
          <p:cNvPicPr>
            <a:picLocks noChangeAspect="1"/>
          </p:cNvPicPr>
          <p:nvPr/>
        </p:nvPicPr>
        <p:blipFill>
          <a:blip r:embed="rId4"/>
          <a:stretch>
            <a:fillRect/>
          </a:stretch>
        </p:blipFill>
        <p:spPr>
          <a:xfrm>
            <a:off x="3134865" y="2889625"/>
            <a:ext cx="6411220" cy="3131965"/>
          </a:xfrm>
          <a:prstGeom prst="rect">
            <a:avLst/>
          </a:prstGeom>
          <a:ln w="19050">
            <a:solidFill>
              <a:schemeClr val="tx1"/>
            </a:solidFill>
          </a:ln>
        </p:spPr>
      </p:pic>
    </p:spTree>
    <p:extLst>
      <p:ext uri="{BB962C8B-B14F-4D97-AF65-F5344CB8AC3E}">
        <p14:creationId xmlns:p14="http://schemas.microsoft.com/office/powerpoint/2010/main" val="2112855291"/>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D237FBFC-41E7-3D38-0680-020F87728A40}"/>
            </a:ext>
          </a:extLst>
        </p:cNvPr>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97F96BF8-0832-8C9C-BF51-35E6154CF649}"/>
              </a:ext>
            </a:extLst>
          </p:cNvPr>
          <p:cNvSpPr/>
          <p:nvPr/>
        </p:nvSpPr>
        <p:spPr>
          <a:xfrm>
            <a:off x="2312586" y="1312583"/>
            <a:ext cx="7980321" cy="1529970"/>
          </a:xfrm>
          <a:prstGeom prst="round2Same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1400" dirty="0"/>
          </a:p>
        </p:txBody>
      </p:sp>
      <p:sp>
        <p:nvSpPr>
          <p:cNvPr id="7" name="Rectangle: Top Corners Rounded 6">
            <a:extLst>
              <a:ext uri="{FF2B5EF4-FFF2-40B4-BE49-F238E27FC236}">
                <a16:creationId xmlns:a16="http://schemas.microsoft.com/office/drawing/2014/main" id="{DEE22DB3-0550-7326-3F20-0C1C0F614813}"/>
              </a:ext>
            </a:extLst>
          </p:cNvPr>
          <p:cNvSpPr/>
          <p:nvPr/>
        </p:nvSpPr>
        <p:spPr>
          <a:xfrm>
            <a:off x="123873" y="6040640"/>
            <a:ext cx="12452254" cy="960277"/>
          </a:xfrm>
          <a:prstGeom prst="round2SameRect">
            <a:avLst>
              <a:gd name="adj1" fmla="val 16667"/>
              <a:gd name="adj2" fmla="val 7074"/>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72" dirty="0"/>
          </a:p>
        </p:txBody>
      </p:sp>
      <p:sp>
        <p:nvSpPr>
          <p:cNvPr id="20" name="TextBox 19">
            <a:extLst>
              <a:ext uri="{FF2B5EF4-FFF2-40B4-BE49-F238E27FC236}">
                <a16:creationId xmlns:a16="http://schemas.microsoft.com/office/drawing/2014/main" id="{54E94892-7A7C-3B0F-01E2-CD4C199EFBD4}"/>
              </a:ext>
            </a:extLst>
          </p:cNvPr>
          <p:cNvSpPr txBox="1"/>
          <p:nvPr/>
        </p:nvSpPr>
        <p:spPr>
          <a:xfrm>
            <a:off x="2388043" y="1272893"/>
            <a:ext cx="7765607" cy="1569660"/>
          </a:xfrm>
          <a:prstGeom prst="rect">
            <a:avLst/>
          </a:prstGeom>
          <a:noFill/>
        </p:spPr>
        <p:txBody>
          <a:bodyPr wrap="square" rtlCol="0">
            <a:spAutoFit/>
          </a:bodyPr>
          <a:lstStyle/>
          <a:p>
            <a:r>
              <a:rPr lang="en-US" sz="1600" b="1" dirty="0">
                <a:latin typeface="Daytona" panose="020F0502020204030204" pitchFamily="34" charset="0"/>
                <a:cs typeface="Angsana New" panose="020B0502040204020203" pitchFamily="18" charset="-34"/>
              </a:rPr>
              <a:t>select </a:t>
            </a:r>
            <a:r>
              <a:rPr lang="en-US" sz="1600" b="1" dirty="0" err="1">
                <a:latin typeface="Daytona" panose="020F0502020204030204" pitchFamily="34" charset="0"/>
                <a:cs typeface="Angsana New" panose="020B0502040204020203" pitchFamily="18" charset="-34"/>
              </a:rPr>
              <a:t>B.passengerName,T.TrainName,B.DateOfJourney,P.PaymentStatus</a:t>
            </a:r>
            <a:endParaRPr lang="en-US" sz="1600" b="1" dirty="0">
              <a:latin typeface="Daytona" panose="020F0502020204030204" pitchFamily="34" charset="0"/>
              <a:cs typeface="Angsana New" panose="020B0502040204020203" pitchFamily="18" charset="-34"/>
            </a:endParaRPr>
          </a:p>
          <a:p>
            <a:r>
              <a:rPr lang="en-US" sz="1600" b="1" dirty="0">
                <a:latin typeface="Daytona" panose="020F0502020204030204" pitchFamily="34" charset="0"/>
                <a:cs typeface="Angsana New" panose="020B0502040204020203" pitchFamily="18" charset="-34"/>
              </a:rPr>
              <a:t>from booking as B</a:t>
            </a:r>
          </a:p>
          <a:p>
            <a:r>
              <a:rPr lang="en-US" sz="1600" b="1" dirty="0">
                <a:latin typeface="Daytona" panose="020F0502020204030204" pitchFamily="34" charset="0"/>
                <a:cs typeface="Angsana New" panose="020B0502040204020203" pitchFamily="18" charset="-34"/>
              </a:rPr>
              <a:t>Join Train as T</a:t>
            </a:r>
          </a:p>
          <a:p>
            <a:r>
              <a:rPr lang="en-US" sz="1600" b="1" dirty="0">
                <a:latin typeface="Daytona" panose="020F0502020204030204" pitchFamily="34" charset="0"/>
                <a:cs typeface="Angsana New" panose="020B0502040204020203" pitchFamily="18" charset="-34"/>
              </a:rPr>
              <a:t>on </a:t>
            </a:r>
            <a:r>
              <a:rPr lang="en-US" sz="1600" b="1" dirty="0" err="1">
                <a:latin typeface="Daytona" panose="020F0502020204030204" pitchFamily="34" charset="0"/>
                <a:cs typeface="Angsana New" panose="020B0502040204020203" pitchFamily="18" charset="-34"/>
              </a:rPr>
              <a:t>B.TrainID</a:t>
            </a:r>
            <a:r>
              <a:rPr lang="en-US" sz="1600" b="1" dirty="0">
                <a:latin typeface="Daytona" panose="020F0502020204030204" pitchFamily="34" charset="0"/>
                <a:cs typeface="Angsana New" panose="020B0502040204020203" pitchFamily="18" charset="-34"/>
              </a:rPr>
              <a:t> = </a:t>
            </a:r>
            <a:r>
              <a:rPr lang="en-US" sz="1600" b="1" dirty="0" err="1">
                <a:latin typeface="Daytona" panose="020F0502020204030204" pitchFamily="34" charset="0"/>
                <a:cs typeface="Angsana New" panose="020B0502040204020203" pitchFamily="18" charset="-34"/>
              </a:rPr>
              <a:t>T.TrainID</a:t>
            </a:r>
            <a:endParaRPr lang="en-US" sz="1600" b="1" dirty="0">
              <a:latin typeface="Daytona" panose="020F0502020204030204" pitchFamily="34" charset="0"/>
              <a:cs typeface="Angsana New" panose="020B0502040204020203" pitchFamily="18" charset="-34"/>
            </a:endParaRPr>
          </a:p>
          <a:p>
            <a:r>
              <a:rPr lang="en-US" sz="1600" b="1" dirty="0">
                <a:latin typeface="Daytona" panose="020F0502020204030204" pitchFamily="34" charset="0"/>
                <a:cs typeface="Angsana New" panose="020B0502040204020203" pitchFamily="18" charset="-34"/>
              </a:rPr>
              <a:t>join payment as P</a:t>
            </a:r>
          </a:p>
          <a:p>
            <a:r>
              <a:rPr lang="en-US" sz="1600" b="1" dirty="0">
                <a:latin typeface="Daytona" panose="020F0502020204030204" pitchFamily="34" charset="0"/>
                <a:cs typeface="Angsana New" panose="020B0502040204020203" pitchFamily="18" charset="-34"/>
              </a:rPr>
              <a:t>on </a:t>
            </a:r>
            <a:r>
              <a:rPr lang="en-US" sz="1600" b="1" dirty="0" err="1">
                <a:latin typeface="Daytona" panose="020F0502020204030204" pitchFamily="34" charset="0"/>
                <a:cs typeface="Angsana New" panose="020B0502040204020203" pitchFamily="18" charset="-34"/>
              </a:rPr>
              <a:t>B.BookingID</a:t>
            </a:r>
            <a:r>
              <a:rPr lang="en-US" sz="1600" b="1" dirty="0">
                <a:latin typeface="Daytona" panose="020F0502020204030204" pitchFamily="34" charset="0"/>
                <a:cs typeface="Angsana New" panose="020B0502040204020203" pitchFamily="18" charset="-34"/>
              </a:rPr>
              <a:t> = P.BookingID;</a:t>
            </a:r>
          </a:p>
        </p:txBody>
      </p:sp>
      <p:sp>
        <p:nvSpPr>
          <p:cNvPr id="11" name="TextBox 10">
            <a:extLst>
              <a:ext uri="{FF2B5EF4-FFF2-40B4-BE49-F238E27FC236}">
                <a16:creationId xmlns:a16="http://schemas.microsoft.com/office/drawing/2014/main" id="{E1CC79FB-DAB4-6A2E-1256-AE04742476C7}"/>
              </a:ext>
            </a:extLst>
          </p:cNvPr>
          <p:cNvSpPr txBox="1"/>
          <p:nvPr/>
        </p:nvSpPr>
        <p:spPr>
          <a:xfrm>
            <a:off x="1491677" y="131721"/>
            <a:ext cx="11179700" cy="1077218"/>
          </a:xfrm>
          <a:prstGeom prst="rect">
            <a:avLst/>
          </a:prstGeom>
          <a:solidFill>
            <a:schemeClr val="accent4">
              <a:lumMod val="50000"/>
            </a:schemeClr>
          </a:solidFill>
        </p:spPr>
        <p:txBody>
          <a:bodyPr wrap="square" rtlCol="0">
            <a:spAutoFit/>
          </a:bodyPr>
          <a:lstStyle/>
          <a:p>
            <a:pPr algn="ctr"/>
            <a:r>
              <a:rPr lang="en-US" sz="32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13. Retrieve passenger name, train name, journey date, and payment status.</a:t>
            </a:r>
            <a:endParaRPr lang="en-US" sz="32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endParaRPr>
          </a:p>
        </p:txBody>
      </p:sp>
      <p:pic>
        <p:nvPicPr>
          <p:cNvPr id="12" name="Picture 11" descr="A blue and white circular sign with a circular design&#10;&#10;AI-generated content may be incorrect.">
            <a:extLst>
              <a:ext uri="{FF2B5EF4-FFF2-40B4-BE49-F238E27FC236}">
                <a16:creationId xmlns:a16="http://schemas.microsoft.com/office/drawing/2014/main" id="{7B1E8341-46A8-A392-8EF9-4B3139A21E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873" y="-257823"/>
            <a:ext cx="2011965" cy="2011965"/>
          </a:xfrm>
          <a:prstGeom prst="rect">
            <a:avLst/>
          </a:prstGeom>
        </p:spPr>
      </p:pic>
      <p:sp>
        <p:nvSpPr>
          <p:cNvPr id="13" name="Arrow: Right 12">
            <a:extLst>
              <a:ext uri="{FF2B5EF4-FFF2-40B4-BE49-F238E27FC236}">
                <a16:creationId xmlns:a16="http://schemas.microsoft.com/office/drawing/2014/main" id="{AE23EC6F-6E74-7C6D-62E3-0CC5396535F5}"/>
              </a:ext>
            </a:extLst>
          </p:cNvPr>
          <p:cNvSpPr/>
          <p:nvPr/>
        </p:nvSpPr>
        <p:spPr>
          <a:xfrm>
            <a:off x="1" y="1463394"/>
            <a:ext cx="1772667" cy="1575452"/>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39505C73-9255-DDB8-5235-BC6FDF8A8CB4}"/>
              </a:ext>
            </a:extLst>
          </p:cNvPr>
          <p:cNvSpPr txBox="1"/>
          <p:nvPr/>
        </p:nvSpPr>
        <p:spPr>
          <a:xfrm>
            <a:off x="-165386" y="1983952"/>
            <a:ext cx="1766604" cy="584775"/>
          </a:xfrm>
          <a:prstGeom prst="rect">
            <a:avLst/>
          </a:prstGeom>
          <a:noFill/>
        </p:spPr>
        <p:txBody>
          <a:bodyPr wrap="square" rtlCol="0">
            <a:spAutoFit/>
          </a:bodyPr>
          <a:lstStyle/>
          <a:p>
            <a:pPr algn="ctr"/>
            <a:r>
              <a:rPr lang="en-US" sz="3200" b="1" dirty="0"/>
              <a:t>QUERY</a:t>
            </a:r>
          </a:p>
        </p:txBody>
      </p:sp>
      <p:sp>
        <p:nvSpPr>
          <p:cNvPr id="6" name="TextBox 5">
            <a:extLst>
              <a:ext uri="{FF2B5EF4-FFF2-40B4-BE49-F238E27FC236}">
                <a16:creationId xmlns:a16="http://schemas.microsoft.com/office/drawing/2014/main" id="{CF2B380A-1E19-844B-7042-78B4AA99FC4B}"/>
              </a:ext>
            </a:extLst>
          </p:cNvPr>
          <p:cNvSpPr txBox="1"/>
          <p:nvPr/>
        </p:nvSpPr>
        <p:spPr>
          <a:xfrm>
            <a:off x="123873" y="6002541"/>
            <a:ext cx="12557077" cy="1631216"/>
          </a:xfrm>
          <a:prstGeom prst="rect">
            <a:avLst/>
          </a:prstGeom>
          <a:noFill/>
        </p:spPr>
        <p:txBody>
          <a:bodyPr wrap="square" rtlCol="0">
            <a:spAutoFit/>
          </a:bodyPr>
          <a:lstStyle/>
          <a:p>
            <a:r>
              <a:rPr lang="en-US" sz="2000" b="1" dirty="0">
                <a:solidFill>
                  <a:schemeClr val="bg1"/>
                </a:solidFill>
                <a:latin typeface="Segoe UI Black" panose="020B0A02040204020203" pitchFamily="34" charset="0"/>
                <a:ea typeface="Segoe UI Black" panose="020B0A02040204020203" pitchFamily="34" charset="0"/>
              </a:rPr>
              <a:t>SUMMARY ; This query shows passenger name, train name, journey date, and payment status by joining the Booking, Train, and Payment tables . It returns 200 rows, covering all bookings with their payment details.</a:t>
            </a:r>
          </a:p>
          <a:p>
            <a:r>
              <a:rPr lang="en-US" sz="2000" b="1" dirty="0">
                <a:solidFill>
                  <a:schemeClr val="bg1"/>
                </a:solidFill>
                <a:latin typeface="Segoe UI Black" panose="020B0A02040204020203" pitchFamily="34" charset="0"/>
                <a:ea typeface="Segoe UI Black" panose="020B0A02040204020203" pitchFamily="34" charset="0"/>
              </a:rPr>
              <a:t> </a:t>
            </a:r>
            <a:endParaRPr lang="en-US" b="1" dirty="0">
              <a:solidFill>
                <a:schemeClr val="bg1"/>
              </a:solidFill>
            </a:endParaRPr>
          </a:p>
          <a:p>
            <a:r>
              <a:rPr lang="en-US" sz="2000" b="1" dirty="0">
                <a:solidFill>
                  <a:schemeClr val="bg1"/>
                </a:solidFill>
                <a:latin typeface="Segoe UI Black" panose="020B0A02040204020203" pitchFamily="34" charset="0"/>
                <a:ea typeface="Segoe UI Black" panose="020B0A02040204020203" pitchFamily="34" charset="0"/>
              </a:rPr>
              <a:t> </a:t>
            </a:r>
          </a:p>
        </p:txBody>
      </p:sp>
      <p:pic>
        <p:nvPicPr>
          <p:cNvPr id="3" name="Picture 2">
            <a:extLst>
              <a:ext uri="{FF2B5EF4-FFF2-40B4-BE49-F238E27FC236}">
                <a16:creationId xmlns:a16="http://schemas.microsoft.com/office/drawing/2014/main" id="{CEF483A9-6879-0620-2E5F-36D6CA9F3396}"/>
              </a:ext>
            </a:extLst>
          </p:cNvPr>
          <p:cNvPicPr>
            <a:picLocks noChangeAspect="1"/>
          </p:cNvPicPr>
          <p:nvPr/>
        </p:nvPicPr>
        <p:blipFill>
          <a:blip r:embed="rId3"/>
          <a:stretch>
            <a:fillRect/>
          </a:stretch>
        </p:blipFill>
        <p:spPr>
          <a:xfrm>
            <a:off x="3943583" y="2882243"/>
            <a:ext cx="4718325" cy="3147284"/>
          </a:xfrm>
          <a:prstGeom prst="rect">
            <a:avLst/>
          </a:prstGeom>
          <a:ln w="19050">
            <a:solidFill>
              <a:schemeClr val="tx1"/>
            </a:solidFill>
          </a:ln>
        </p:spPr>
      </p:pic>
    </p:spTree>
    <p:extLst>
      <p:ext uri="{BB962C8B-B14F-4D97-AF65-F5344CB8AC3E}">
        <p14:creationId xmlns:p14="http://schemas.microsoft.com/office/powerpoint/2010/main" val="3228597137"/>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99C9C660-1BCB-044D-786F-93ADE814AADC}"/>
            </a:ext>
          </a:extLst>
        </p:cNvPr>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05CF54B0-9992-CBBC-A7A9-6BC6EFE5B2FC}"/>
              </a:ext>
            </a:extLst>
          </p:cNvPr>
          <p:cNvSpPr/>
          <p:nvPr/>
        </p:nvSpPr>
        <p:spPr>
          <a:xfrm>
            <a:off x="2312586" y="1617381"/>
            <a:ext cx="7491706" cy="1715079"/>
          </a:xfrm>
          <a:prstGeom prst="round2Same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1400" dirty="0"/>
          </a:p>
        </p:txBody>
      </p:sp>
      <p:sp>
        <p:nvSpPr>
          <p:cNvPr id="7" name="Rectangle: Top Corners Rounded 6">
            <a:extLst>
              <a:ext uri="{FF2B5EF4-FFF2-40B4-BE49-F238E27FC236}">
                <a16:creationId xmlns:a16="http://schemas.microsoft.com/office/drawing/2014/main" id="{69FFB3FD-4C0C-C2F8-2DB0-6B38FA40B0DE}"/>
              </a:ext>
            </a:extLst>
          </p:cNvPr>
          <p:cNvSpPr/>
          <p:nvPr/>
        </p:nvSpPr>
        <p:spPr>
          <a:xfrm>
            <a:off x="123873" y="5554946"/>
            <a:ext cx="12372927" cy="1445972"/>
          </a:xfrm>
          <a:prstGeom prst="round2SameRect">
            <a:avLst>
              <a:gd name="adj1" fmla="val 16667"/>
              <a:gd name="adj2" fmla="val 7074"/>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72" dirty="0"/>
          </a:p>
        </p:txBody>
      </p:sp>
      <p:sp>
        <p:nvSpPr>
          <p:cNvPr id="20" name="TextBox 19">
            <a:extLst>
              <a:ext uri="{FF2B5EF4-FFF2-40B4-BE49-F238E27FC236}">
                <a16:creationId xmlns:a16="http://schemas.microsoft.com/office/drawing/2014/main" id="{393945AE-C1D7-5FB5-A0BA-E1396CD325F7}"/>
              </a:ext>
            </a:extLst>
          </p:cNvPr>
          <p:cNvSpPr txBox="1"/>
          <p:nvPr/>
        </p:nvSpPr>
        <p:spPr>
          <a:xfrm>
            <a:off x="2388040" y="1577693"/>
            <a:ext cx="7175059" cy="1815882"/>
          </a:xfrm>
          <a:prstGeom prst="rect">
            <a:avLst/>
          </a:prstGeom>
          <a:noFill/>
        </p:spPr>
        <p:txBody>
          <a:bodyPr wrap="square" rtlCol="0">
            <a:spAutoFit/>
          </a:bodyPr>
          <a:lstStyle/>
          <a:p>
            <a:r>
              <a:rPr lang="en-US" sz="1600" b="1" dirty="0">
                <a:latin typeface="Daytona" panose="020F0502020204030204" pitchFamily="34" charset="0"/>
                <a:cs typeface="Angsana New" panose="020B0502040204020203" pitchFamily="18" charset="-34"/>
              </a:rPr>
              <a:t>select T.TrainName,count(BookingID) as TotalBookings</a:t>
            </a:r>
          </a:p>
          <a:p>
            <a:r>
              <a:rPr lang="en-US" sz="1600" b="1" dirty="0">
                <a:latin typeface="Daytona" panose="020F0502020204030204" pitchFamily="34" charset="0"/>
                <a:cs typeface="Angsana New" panose="020B0502040204020203" pitchFamily="18" charset="-34"/>
              </a:rPr>
              <a:t>From booking as b</a:t>
            </a:r>
          </a:p>
          <a:p>
            <a:r>
              <a:rPr lang="en-US" sz="1600" b="1" dirty="0">
                <a:latin typeface="Daytona" panose="020F0502020204030204" pitchFamily="34" charset="0"/>
                <a:cs typeface="Angsana New" panose="020B0502040204020203" pitchFamily="18" charset="-34"/>
              </a:rPr>
              <a:t>join Train as T</a:t>
            </a:r>
          </a:p>
          <a:p>
            <a:r>
              <a:rPr lang="en-US" sz="1600" b="1" dirty="0">
                <a:latin typeface="Daytona" panose="020F0502020204030204" pitchFamily="34" charset="0"/>
                <a:cs typeface="Angsana New" panose="020B0502040204020203" pitchFamily="18" charset="-34"/>
              </a:rPr>
              <a:t>on </a:t>
            </a:r>
            <a:r>
              <a:rPr lang="en-US" sz="1600" b="1" dirty="0" err="1">
                <a:latin typeface="Daytona" panose="020F0502020204030204" pitchFamily="34" charset="0"/>
                <a:cs typeface="Angsana New" panose="020B0502040204020203" pitchFamily="18" charset="-34"/>
              </a:rPr>
              <a:t>B.TrainID</a:t>
            </a:r>
            <a:r>
              <a:rPr lang="en-US" sz="1600" b="1" dirty="0">
                <a:latin typeface="Daytona" panose="020F0502020204030204" pitchFamily="34" charset="0"/>
                <a:cs typeface="Angsana New" panose="020B0502040204020203" pitchFamily="18" charset="-34"/>
              </a:rPr>
              <a:t> = </a:t>
            </a:r>
            <a:r>
              <a:rPr lang="en-US" sz="1600" b="1" dirty="0" err="1">
                <a:latin typeface="Daytona" panose="020F0502020204030204" pitchFamily="34" charset="0"/>
                <a:cs typeface="Angsana New" panose="020B0502040204020203" pitchFamily="18" charset="-34"/>
              </a:rPr>
              <a:t>T.TrainID</a:t>
            </a:r>
            <a:endParaRPr lang="en-US" sz="1600" b="1" dirty="0">
              <a:latin typeface="Daytona" panose="020F0502020204030204" pitchFamily="34" charset="0"/>
              <a:cs typeface="Angsana New" panose="020B0502040204020203" pitchFamily="18" charset="-34"/>
            </a:endParaRPr>
          </a:p>
          <a:p>
            <a:r>
              <a:rPr lang="en-US" sz="1600" b="1" dirty="0">
                <a:latin typeface="Daytona" panose="020F0502020204030204" pitchFamily="34" charset="0"/>
                <a:cs typeface="Angsana New" panose="020B0502040204020203" pitchFamily="18" charset="-34"/>
              </a:rPr>
              <a:t>group by TrainName</a:t>
            </a:r>
          </a:p>
          <a:p>
            <a:r>
              <a:rPr lang="en-US" sz="1600" b="1" dirty="0">
                <a:latin typeface="Daytona" panose="020F0502020204030204" pitchFamily="34" charset="0"/>
                <a:cs typeface="Angsana New" panose="020B0502040204020203" pitchFamily="18" charset="-34"/>
              </a:rPr>
              <a:t>order by TotalBookings desc</a:t>
            </a:r>
          </a:p>
          <a:p>
            <a:r>
              <a:rPr lang="en-US" sz="1600" b="1" dirty="0">
                <a:latin typeface="Daytona" panose="020F0502020204030204" pitchFamily="34" charset="0"/>
                <a:cs typeface="Angsana New" panose="020B0502040204020203" pitchFamily="18" charset="-34"/>
              </a:rPr>
              <a:t>limit 1;</a:t>
            </a:r>
          </a:p>
        </p:txBody>
      </p:sp>
      <p:sp>
        <p:nvSpPr>
          <p:cNvPr id="11" name="TextBox 10">
            <a:extLst>
              <a:ext uri="{FF2B5EF4-FFF2-40B4-BE49-F238E27FC236}">
                <a16:creationId xmlns:a16="http://schemas.microsoft.com/office/drawing/2014/main" id="{42176EA8-C6C9-BC7E-F89B-F78FC43FFB10}"/>
              </a:ext>
            </a:extLst>
          </p:cNvPr>
          <p:cNvSpPr txBox="1"/>
          <p:nvPr/>
        </p:nvSpPr>
        <p:spPr>
          <a:xfrm>
            <a:off x="1491677" y="131721"/>
            <a:ext cx="11179700" cy="1077218"/>
          </a:xfrm>
          <a:prstGeom prst="rect">
            <a:avLst/>
          </a:prstGeom>
          <a:solidFill>
            <a:schemeClr val="accent4">
              <a:lumMod val="50000"/>
            </a:schemeClr>
          </a:solidFill>
        </p:spPr>
        <p:txBody>
          <a:bodyPr wrap="square" rtlCol="0">
            <a:spAutoFit/>
          </a:bodyPr>
          <a:lstStyle/>
          <a:p>
            <a:pPr algn="ctr"/>
            <a:r>
              <a:rPr lang="en-US" sz="32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14. Find the train which has the maximum number of bookings.</a:t>
            </a:r>
            <a:endParaRPr lang="en-US" sz="32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endParaRPr>
          </a:p>
        </p:txBody>
      </p:sp>
      <p:pic>
        <p:nvPicPr>
          <p:cNvPr id="12" name="Picture 11" descr="A blue and white circular sign with a circular design&#10;&#10;AI-generated content may be incorrect.">
            <a:extLst>
              <a:ext uri="{FF2B5EF4-FFF2-40B4-BE49-F238E27FC236}">
                <a16:creationId xmlns:a16="http://schemas.microsoft.com/office/drawing/2014/main" id="{A4676C7D-67B5-75B1-2A53-26E761A692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873" y="-257823"/>
            <a:ext cx="2011965" cy="2011965"/>
          </a:xfrm>
          <a:prstGeom prst="rect">
            <a:avLst/>
          </a:prstGeom>
        </p:spPr>
      </p:pic>
      <p:sp>
        <p:nvSpPr>
          <p:cNvPr id="13" name="Arrow: Right 12">
            <a:extLst>
              <a:ext uri="{FF2B5EF4-FFF2-40B4-BE49-F238E27FC236}">
                <a16:creationId xmlns:a16="http://schemas.microsoft.com/office/drawing/2014/main" id="{D3D0998E-6041-4099-39C6-67265DF55C81}"/>
              </a:ext>
            </a:extLst>
          </p:cNvPr>
          <p:cNvSpPr/>
          <p:nvPr/>
        </p:nvSpPr>
        <p:spPr>
          <a:xfrm>
            <a:off x="1" y="1653894"/>
            <a:ext cx="1772667" cy="1575452"/>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3EA62A6C-3CDD-04F3-E5FD-B218616E4040}"/>
              </a:ext>
            </a:extLst>
          </p:cNvPr>
          <p:cNvSpPr txBox="1"/>
          <p:nvPr/>
        </p:nvSpPr>
        <p:spPr>
          <a:xfrm>
            <a:off x="-165386" y="2174452"/>
            <a:ext cx="1766604" cy="584775"/>
          </a:xfrm>
          <a:prstGeom prst="rect">
            <a:avLst/>
          </a:prstGeom>
          <a:noFill/>
        </p:spPr>
        <p:txBody>
          <a:bodyPr wrap="square" rtlCol="0">
            <a:spAutoFit/>
          </a:bodyPr>
          <a:lstStyle/>
          <a:p>
            <a:pPr algn="ctr"/>
            <a:r>
              <a:rPr lang="en-US" sz="3200" b="1" dirty="0"/>
              <a:t>QUERY</a:t>
            </a:r>
          </a:p>
        </p:txBody>
      </p:sp>
      <p:sp>
        <p:nvSpPr>
          <p:cNvPr id="6" name="TextBox 5">
            <a:extLst>
              <a:ext uri="{FF2B5EF4-FFF2-40B4-BE49-F238E27FC236}">
                <a16:creationId xmlns:a16="http://schemas.microsoft.com/office/drawing/2014/main" id="{418CF4B4-326A-B69B-5BDD-BC4A038E15DF}"/>
              </a:ext>
            </a:extLst>
          </p:cNvPr>
          <p:cNvSpPr txBox="1"/>
          <p:nvPr/>
        </p:nvSpPr>
        <p:spPr>
          <a:xfrm>
            <a:off x="231823" y="5651301"/>
            <a:ext cx="11979227" cy="1323439"/>
          </a:xfrm>
          <a:prstGeom prst="rect">
            <a:avLst/>
          </a:prstGeom>
          <a:noFill/>
        </p:spPr>
        <p:txBody>
          <a:bodyPr wrap="square" rtlCol="0">
            <a:spAutoFit/>
          </a:bodyPr>
          <a:lstStyle/>
          <a:p>
            <a:r>
              <a:rPr lang="en-US" sz="2000" b="1" dirty="0">
                <a:solidFill>
                  <a:schemeClr val="bg1"/>
                </a:solidFill>
                <a:latin typeface="Segoe UI Black" panose="020B0A02040204020203" pitchFamily="34" charset="0"/>
                <a:ea typeface="Segoe UI Black" panose="020B0A02040204020203" pitchFamily="34" charset="0"/>
              </a:rPr>
              <a:t>SUMMARY ; This query finds the train with the maximum number of bookings by grouping booking records by TrainName and counting total bookings. The result shows that Duronto Express has the highest bookings with a total of 15. It helps identify the most popular train based on passenger bookings</a:t>
            </a:r>
            <a:r>
              <a:rPr lang="en-US" sz="2000" dirty="0"/>
              <a:t>.</a:t>
            </a:r>
            <a:endParaRPr lang="en-US" sz="2000" b="1" dirty="0">
              <a:solidFill>
                <a:schemeClr val="bg1"/>
              </a:solidFill>
            </a:endParaRPr>
          </a:p>
        </p:txBody>
      </p:sp>
      <p:pic>
        <p:nvPicPr>
          <p:cNvPr id="4" name="Picture 3">
            <a:extLst>
              <a:ext uri="{FF2B5EF4-FFF2-40B4-BE49-F238E27FC236}">
                <a16:creationId xmlns:a16="http://schemas.microsoft.com/office/drawing/2014/main" id="{FB11EE36-C4E8-C682-07E8-AADE69953CE8}"/>
              </a:ext>
            </a:extLst>
          </p:cNvPr>
          <p:cNvPicPr>
            <a:picLocks noChangeAspect="1"/>
          </p:cNvPicPr>
          <p:nvPr/>
        </p:nvPicPr>
        <p:blipFill>
          <a:blip r:embed="rId3"/>
          <a:stretch>
            <a:fillRect/>
          </a:stretch>
        </p:blipFill>
        <p:spPr>
          <a:xfrm>
            <a:off x="2654741" y="3764061"/>
            <a:ext cx="6986806" cy="1455639"/>
          </a:xfrm>
          <a:prstGeom prst="rect">
            <a:avLst/>
          </a:prstGeom>
          <a:ln w="19050">
            <a:solidFill>
              <a:schemeClr val="tx1"/>
            </a:solidFill>
          </a:ln>
        </p:spPr>
      </p:pic>
    </p:spTree>
    <p:extLst>
      <p:ext uri="{BB962C8B-B14F-4D97-AF65-F5344CB8AC3E}">
        <p14:creationId xmlns:p14="http://schemas.microsoft.com/office/powerpoint/2010/main" val="1874412929"/>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5EAB9990-35BE-A01B-1952-88494AEF9186}"/>
            </a:ext>
          </a:extLst>
        </p:cNvPr>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5A275D9E-780D-B52D-F406-9A419CBB99E0}"/>
              </a:ext>
            </a:extLst>
          </p:cNvPr>
          <p:cNvSpPr/>
          <p:nvPr/>
        </p:nvSpPr>
        <p:spPr>
          <a:xfrm>
            <a:off x="2312586" y="817281"/>
            <a:ext cx="7783914" cy="2060514"/>
          </a:xfrm>
          <a:prstGeom prst="round2Same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1400" dirty="0"/>
          </a:p>
        </p:txBody>
      </p:sp>
      <p:sp>
        <p:nvSpPr>
          <p:cNvPr id="7" name="Rectangle: Top Corners Rounded 6">
            <a:extLst>
              <a:ext uri="{FF2B5EF4-FFF2-40B4-BE49-F238E27FC236}">
                <a16:creationId xmlns:a16="http://schemas.microsoft.com/office/drawing/2014/main" id="{96822571-194B-9D29-4404-76539331443F}"/>
              </a:ext>
            </a:extLst>
          </p:cNvPr>
          <p:cNvSpPr/>
          <p:nvPr/>
        </p:nvSpPr>
        <p:spPr>
          <a:xfrm>
            <a:off x="123873" y="6040640"/>
            <a:ext cx="12452254" cy="960277"/>
          </a:xfrm>
          <a:prstGeom prst="round2SameRect">
            <a:avLst>
              <a:gd name="adj1" fmla="val 16667"/>
              <a:gd name="adj2" fmla="val 7074"/>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72" dirty="0"/>
          </a:p>
        </p:txBody>
      </p:sp>
      <p:sp>
        <p:nvSpPr>
          <p:cNvPr id="20" name="TextBox 19">
            <a:extLst>
              <a:ext uri="{FF2B5EF4-FFF2-40B4-BE49-F238E27FC236}">
                <a16:creationId xmlns:a16="http://schemas.microsoft.com/office/drawing/2014/main" id="{BB3AACA4-5D2C-1E98-5DD5-98903E6C2BBB}"/>
              </a:ext>
            </a:extLst>
          </p:cNvPr>
          <p:cNvSpPr txBox="1"/>
          <p:nvPr/>
        </p:nvSpPr>
        <p:spPr>
          <a:xfrm>
            <a:off x="2388040" y="777593"/>
            <a:ext cx="7175059" cy="2062103"/>
          </a:xfrm>
          <a:prstGeom prst="rect">
            <a:avLst/>
          </a:prstGeom>
          <a:noFill/>
        </p:spPr>
        <p:txBody>
          <a:bodyPr wrap="square" rtlCol="0">
            <a:spAutoFit/>
          </a:bodyPr>
          <a:lstStyle/>
          <a:p>
            <a:r>
              <a:rPr lang="en-US" sz="1600" b="1" dirty="0">
                <a:latin typeface="Daytona" panose="020F0502020204030204" pitchFamily="34" charset="0"/>
                <a:cs typeface="Angsana New" panose="020B0502040204020203" pitchFamily="18" charset="-34"/>
              </a:rPr>
              <a:t>select T.TrainName,sum(P.AmountPaid) As Totalrevenue</a:t>
            </a:r>
          </a:p>
          <a:p>
            <a:r>
              <a:rPr lang="en-US" sz="1600" b="1" dirty="0">
                <a:latin typeface="Daytona" panose="020F0502020204030204" pitchFamily="34" charset="0"/>
                <a:cs typeface="Angsana New" panose="020B0502040204020203" pitchFamily="18" charset="-34"/>
              </a:rPr>
              <a:t>From Train as T</a:t>
            </a:r>
          </a:p>
          <a:p>
            <a:r>
              <a:rPr lang="en-US" sz="1600" b="1" dirty="0">
                <a:latin typeface="Daytona" panose="020F0502020204030204" pitchFamily="34" charset="0"/>
                <a:cs typeface="Angsana New" panose="020B0502040204020203" pitchFamily="18" charset="-34"/>
              </a:rPr>
              <a:t>join Booking as B</a:t>
            </a:r>
          </a:p>
          <a:p>
            <a:r>
              <a:rPr lang="en-US" sz="1600" b="1" dirty="0">
                <a:latin typeface="Daytona" panose="020F0502020204030204" pitchFamily="34" charset="0"/>
                <a:cs typeface="Angsana New" panose="020B0502040204020203" pitchFamily="18" charset="-34"/>
              </a:rPr>
              <a:t>on </a:t>
            </a:r>
            <a:r>
              <a:rPr lang="en-US" sz="1600" b="1" dirty="0" err="1">
                <a:latin typeface="Daytona" panose="020F0502020204030204" pitchFamily="34" charset="0"/>
                <a:cs typeface="Angsana New" panose="020B0502040204020203" pitchFamily="18" charset="-34"/>
              </a:rPr>
              <a:t>B.TrainID</a:t>
            </a:r>
            <a:r>
              <a:rPr lang="en-US" sz="1600" b="1" dirty="0">
                <a:latin typeface="Daytona" panose="020F0502020204030204" pitchFamily="34" charset="0"/>
                <a:cs typeface="Angsana New" panose="020B0502040204020203" pitchFamily="18" charset="-34"/>
              </a:rPr>
              <a:t> = </a:t>
            </a:r>
            <a:r>
              <a:rPr lang="en-US" sz="1600" b="1" dirty="0" err="1">
                <a:latin typeface="Daytona" panose="020F0502020204030204" pitchFamily="34" charset="0"/>
                <a:cs typeface="Angsana New" panose="020B0502040204020203" pitchFamily="18" charset="-34"/>
              </a:rPr>
              <a:t>T.TrainID</a:t>
            </a:r>
            <a:endParaRPr lang="en-US" sz="1600" b="1" dirty="0">
              <a:latin typeface="Daytona" panose="020F0502020204030204" pitchFamily="34" charset="0"/>
              <a:cs typeface="Angsana New" panose="020B0502040204020203" pitchFamily="18" charset="-34"/>
            </a:endParaRPr>
          </a:p>
          <a:p>
            <a:r>
              <a:rPr lang="en-US" sz="1600" b="1" dirty="0">
                <a:latin typeface="Daytona" panose="020F0502020204030204" pitchFamily="34" charset="0"/>
                <a:cs typeface="Angsana New" panose="020B0502040204020203" pitchFamily="18" charset="-34"/>
              </a:rPr>
              <a:t>join Payment as P</a:t>
            </a:r>
          </a:p>
          <a:p>
            <a:r>
              <a:rPr lang="en-US" sz="1600" b="1" dirty="0">
                <a:latin typeface="Daytona" panose="020F0502020204030204" pitchFamily="34" charset="0"/>
                <a:cs typeface="Angsana New" panose="020B0502040204020203" pitchFamily="18" charset="-34"/>
              </a:rPr>
              <a:t>on </a:t>
            </a:r>
            <a:r>
              <a:rPr lang="en-US" sz="1600" b="1" dirty="0" err="1">
                <a:latin typeface="Daytona" panose="020F0502020204030204" pitchFamily="34" charset="0"/>
                <a:cs typeface="Angsana New" panose="020B0502040204020203" pitchFamily="18" charset="-34"/>
              </a:rPr>
              <a:t>B.BookingID</a:t>
            </a:r>
            <a:r>
              <a:rPr lang="en-US" sz="1600" b="1" dirty="0">
                <a:latin typeface="Daytona" panose="020F0502020204030204" pitchFamily="34" charset="0"/>
                <a:cs typeface="Angsana New" panose="020B0502040204020203" pitchFamily="18" charset="-34"/>
              </a:rPr>
              <a:t> = </a:t>
            </a:r>
            <a:r>
              <a:rPr lang="en-US" sz="1600" b="1" dirty="0" err="1">
                <a:latin typeface="Daytona" panose="020F0502020204030204" pitchFamily="34" charset="0"/>
                <a:cs typeface="Angsana New" panose="020B0502040204020203" pitchFamily="18" charset="-34"/>
              </a:rPr>
              <a:t>P.BookingId</a:t>
            </a:r>
            <a:endParaRPr lang="en-US" sz="1600" b="1" dirty="0">
              <a:latin typeface="Daytona" panose="020F0502020204030204" pitchFamily="34" charset="0"/>
              <a:cs typeface="Angsana New" panose="020B0502040204020203" pitchFamily="18" charset="-34"/>
            </a:endParaRPr>
          </a:p>
          <a:p>
            <a:r>
              <a:rPr lang="en-US" sz="1600" b="1" dirty="0">
                <a:latin typeface="Daytona" panose="020F0502020204030204" pitchFamily="34" charset="0"/>
                <a:cs typeface="Angsana New" panose="020B0502040204020203" pitchFamily="18" charset="-34"/>
              </a:rPr>
              <a:t>where PaymentStatus = 'paid’</a:t>
            </a:r>
          </a:p>
          <a:p>
            <a:r>
              <a:rPr lang="en-US" sz="1600" b="1" dirty="0">
                <a:latin typeface="Daytona" panose="020F0502020204030204" pitchFamily="34" charset="0"/>
                <a:cs typeface="Angsana New" panose="020B0502040204020203" pitchFamily="18" charset="-34"/>
              </a:rPr>
              <a:t>group by TrainName;</a:t>
            </a:r>
          </a:p>
        </p:txBody>
      </p:sp>
      <p:sp>
        <p:nvSpPr>
          <p:cNvPr id="11" name="TextBox 10">
            <a:extLst>
              <a:ext uri="{FF2B5EF4-FFF2-40B4-BE49-F238E27FC236}">
                <a16:creationId xmlns:a16="http://schemas.microsoft.com/office/drawing/2014/main" id="{5D24E845-5D6A-3510-008A-EDE0125C2FB7}"/>
              </a:ext>
            </a:extLst>
          </p:cNvPr>
          <p:cNvSpPr txBox="1"/>
          <p:nvPr/>
        </p:nvSpPr>
        <p:spPr>
          <a:xfrm>
            <a:off x="1491677" y="131721"/>
            <a:ext cx="11179700" cy="584775"/>
          </a:xfrm>
          <a:prstGeom prst="rect">
            <a:avLst/>
          </a:prstGeom>
          <a:solidFill>
            <a:schemeClr val="accent4">
              <a:lumMod val="50000"/>
            </a:schemeClr>
          </a:solidFill>
        </p:spPr>
        <p:txBody>
          <a:bodyPr wrap="square" rtlCol="0">
            <a:spAutoFit/>
          </a:bodyPr>
          <a:lstStyle/>
          <a:p>
            <a:pPr algn="ctr"/>
            <a:r>
              <a:rPr lang="en-US" sz="32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15. Calculate total revenue generated by each train.</a:t>
            </a:r>
            <a:endParaRPr lang="en-US" sz="32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endParaRPr>
          </a:p>
        </p:txBody>
      </p:sp>
      <p:pic>
        <p:nvPicPr>
          <p:cNvPr id="12" name="Picture 11" descr="A blue and white circular sign with a circular design&#10;&#10;AI-generated content may be incorrect.">
            <a:extLst>
              <a:ext uri="{FF2B5EF4-FFF2-40B4-BE49-F238E27FC236}">
                <a16:creationId xmlns:a16="http://schemas.microsoft.com/office/drawing/2014/main" id="{C4F94C04-C0A8-1D7D-71FB-017CEEED44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7916" y="-193614"/>
            <a:ext cx="1391438" cy="1391438"/>
          </a:xfrm>
          <a:prstGeom prst="rect">
            <a:avLst/>
          </a:prstGeom>
        </p:spPr>
      </p:pic>
      <p:sp>
        <p:nvSpPr>
          <p:cNvPr id="13" name="Arrow: Right 12">
            <a:extLst>
              <a:ext uri="{FF2B5EF4-FFF2-40B4-BE49-F238E27FC236}">
                <a16:creationId xmlns:a16="http://schemas.microsoft.com/office/drawing/2014/main" id="{9FF0F5DA-E372-1FB0-7E0A-8F02C6B6C808}"/>
              </a:ext>
            </a:extLst>
          </p:cNvPr>
          <p:cNvSpPr/>
          <p:nvPr/>
        </p:nvSpPr>
        <p:spPr>
          <a:xfrm>
            <a:off x="1" y="1120494"/>
            <a:ext cx="1772667" cy="1575452"/>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5B9814F9-A078-8743-42DD-9B9B93508D0D}"/>
              </a:ext>
            </a:extLst>
          </p:cNvPr>
          <p:cNvSpPr txBox="1"/>
          <p:nvPr/>
        </p:nvSpPr>
        <p:spPr>
          <a:xfrm>
            <a:off x="-165386" y="1641052"/>
            <a:ext cx="1766604" cy="584775"/>
          </a:xfrm>
          <a:prstGeom prst="rect">
            <a:avLst/>
          </a:prstGeom>
          <a:noFill/>
        </p:spPr>
        <p:txBody>
          <a:bodyPr wrap="square" rtlCol="0">
            <a:spAutoFit/>
          </a:bodyPr>
          <a:lstStyle/>
          <a:p>
            <a:pPr algn="ctr"/>
            <a:r>
              <a:rPr lang="en-US" sz="3200" b="1" dirty="0"/>
              <a:t>QUERY</a:t>
            </a:r>
          </a:p>
        </p:txBody>
      </p:sp>
      <p:sp>
        <p:nvSpPr>
          <p:cNvPr id="6" name="TextBox 5">
            <a:extLst>
              <a:ext uri="{FF2B5EF4-FFF2-40B4-BE49-F238E27FC236}">
                <a16:creationId xmlns:a16="http://schemas.microsoft.com/office/drawing/2014/main" id="{C917C752-7682-6A19-28B6-53715F889A2B}"/>
              </a:ext>
            </a:extLst>
          </p:cNvPr>
          <p:cNvSpPr txBox="1"/>
          <p:nvPr/>
        </p:nvSpPr>
        <p:spPr>
          <a:xfrm>
            <a:off x="123873" y="6002541"/>
            <a:ext cx="12557077" cy="1538883"/>
          </a:xfrm>
          <a:prstGeom prst="rect">
            <a:avLst/>
          </a:prstGeom>
          <a:noFill/>
        </p:spPr>
        <p:txBody>
          <a:bodyPr wrap="square" rtlCol="0">
            <a:spAutoFit/>
          </a:bodyPr>
          <a:lstStyle/>
          <a:p>
            <a:r>
              <a:rPr lang="en-US" sz="2000" b="1" dirty="0">
                <a:solidFill>
                  <a:schemeClr val="bg1"/>
                </a:solidFill>
                <a:latin typeface="Segoe UI Black" panose="020B0A02040204020203" pitchFamily="34" charset="0"/>
                <a:ea typeface="Segoe UI Black" panose="020B0A02040204020203" pitchFamily="34" charset="0"/>
              </a:rPr>
              <a:t>SUMMARY ; </a:t>
            </a:r>
            <a:r>
              <a:rPr lang="en-US" b="1" dirty="0">
                <a:solidFill>
                  <a:schemeClr val="bg1"/>
                </a:solidFill>
                <a:latin typeface="Segoe UI Black" panose="020B0A02040204020203" pitchFamily="34" charset="0"/>
                <a:ea typeface="Segoe UI Black" panose="020B0A02040204020203" pitchFamily="34" charset="0"/>
              </a:rPr>
              <a:t>This query calculates the total revenue generated by each train by joining the Train, Booking, and Payment tables. It considers only paid payments (PaymentStatus = 'Paid') and sums the AmountPaid for each train. The result shows one row per train, giving the total revenue earned by that train.</a:t>
            </a:r>
          </a:p>
          <a:p>
            <a:endParaRPr lang="en-US" b="1" dirty="0">
              <a:solidFill>
                <a:schemeClr val="bg1"/>
              </a:solidFill>
            </a:endParaRPr>
          </a:p>
          <a:p>
            <a:r>
              <a:rPr lang="en-US" sz="2000" b="1" dirty="0">
                <a:solidFill>
                  <a:schemeClr val="bg1"/>
                </a:solidFill>
                <a:latin typeface="Segoe UI Black" panose="020B0A02040204020203" pitchFamily="34" charset="0"/>
                <a:ea typeface="Segoe UI Black" panose="020B0A02040204020203" pitchFamily="34" charset="0"/>
              </a:rPr>
              <a:t> </a:t>
            </a:r>
          </a:p>
        </p:txBody>
      </p:sp>
      <p:pic>
        <p:nvPicPr>
          <p:cNvPr id="3" name="Picture 2" descr="A screenshot of a computer&#10;&#10;AI-generated content may be incorrect.">
            <a:extLst>
              <a:ext uri="{FF2B5EF4-FFF2-40B4-BE49-F238E27FC236}">
                <a16:creationId xmlns:a16="http://schemas.microsoft.com/office/drawing/2014/main" id="{B735FB25-54DB-6FE7-BCD5-488B1BF41DA7}"/>
              </a:ext>
            </a:extLst>
          </p:cNvPr>
          <p:cNvPicPr>
            <a:picLocks noChangeAspect="1"/>
          </p:cNvPicPr>
          <p:nvPr/>
        </p:nvPicPr>
        <p:blipFill>
          <a:blip r:embed="rId3"/>
          <a:stretch>
            <a:fillRect/>
          </a:stretch>
        </p:blipFill>
        <p:spPr>
          <a:xfrm>
            <a:off x="4192134" y="2926634"/>
            <a:ext cx="2889393" cy="3037808"/>
          </a:xfrm>
          <a:prstGeom prst="rect">
            <a:avLst/>
          </a:prstGeom>
          <a:ln w="19050">
            <a:solidFill>
              <a:schemeClr val="tx1"/>
            </a:solidFill>
          </a:ln>
        </p:spPr>
      </p:pic>
    </p:spTree>
    <p:extLst>
      <p:ext uri="{BB962C8B-B14F-4D97-AF65-F5344CB8AC3E}">
        <p14:creationId xmlns:p14="http://schemas.microsoft.com/office/powerpoint/2010/main" val="3839270785"/>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5D2BBA41-BA7E-C16C-BF4D-C1516557298A}"/>
            </a:ext>
          </a:extLst>
        </p:cNvPr>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B883A883-F979-5E1E-5A03-CBDEF5CB02AE}"/>
              </a:ext>
            </a:extLst>
          </p:cNvPr>
          <p:cNvSpPr/>
          <p:nvPr/>
        </p:nvSpPr>
        <p:spPr>
          <a:xfrm>
            <a:off x="2312586" y="1426881"/>
            <a:ext cx="6964764" cy="1007663"/>
          </a:xfrm>
          <a:prstGeom prst="round2Same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1400" dirty="0"/>
          </a:p>
        </p:txBody>
      </p:sp>
      <p:sp>
        <p:nvSpPr>
          <p:cNvPr id="7" name="Rectangle: Top Corners Rounded 6">
            <a:extLst>
              <a:ext uri="{FF2B5EF4-FFF2-40B4-BE49-F238E27FC236}">
                <a16:creationId xmlns:a16="http://schemas.microsoft.com/office/drawing/2014/main" id="{6DCF0FB2-1C72-6185-6854-329DDA6D70F9}"/>
              </a:ext>
            </a:extLst>
          </p:cNvPr>
          <p:cNvSpPr/>
          <p:nvPr/>
        </p:nvSpPr>
        <p:spPr>
          <a:xfrm>
            <a:off x="106930" y="6040640"/>
            <a:ext cx="12421619" cy="998377"/>
          </a:xfrm>
          <a:prstGeom prst="round2SameRect">
            <a:avLst>
              <a:gd name="adj1" fmla="val 16667"/>
              <a:gd name="adj2" fmla="val 0"/>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72" dirty="0"/>
          </a:p>
        </p:txBody>
      </p:sp>
      <p:sp>
        <p:nvSpPr>
          <p:cNvPr id="20" name="TextBox 19">
            <a:extLst>
              <a:ext uri="{FF2B5EF4-FFF2-40B4-BE49-F238E27FC236}">
                <a16:creationId xmlns:a16="http://schemas.microsoft.com/office/drawing/2014/main" id="{F902B345-BE78-7AC3-817E-85775276F081}"/>
              </a:ext>
            </a:extLst>
          </p:cNvPr>
          <p:cNvSpPr txBox="1"/>
          <p:nvPr/>
        </p:nvSpPr>
        <p:spPr>
          <a:xfrm>
            <a:off x="2388040" y="1520543"/>
            <a:ext cx="7175059" cy="830997"/>
          </a:xfrm>
          <a:prstGeom prst="rect">
            <a:avLst/>
          </a:prstGeom>
          <a:noFill/>
        </p:spPr>
        <p:txBody>
          <a:bodyPr wrap="square" rtlCol="0">
            <a:spAutoFit/>
          </a:bodyPr>
          <a:lstStyle/>
          <a:p>
            <a:r>
              <a:rPr lang="en-US" sz="1600" b="1" dirty="0">
                <a:latin typeface="Daytona" panose="020F0502020204030204" pitchFamily="34" charset="0"/>
                <a:cs typeface="Angsana New" panose="020B0502040204020203" pitchFamily="18" charset="-34"/>
              </a:rPr>
              <a:t>select </a:t>
            </a:r>
            <a:r>
              <a:rPr lang="en-US" sz="1600" b="1" dirty="0" err="1">
                <a:latin typeface="Daytona" panose="020F0502020204030204" pitchFamily="34" charset="0"/>
                <a:cs typeface="Angsana New" panose="020B0502040204020203" pitchFamily="18" charset="-34"/>
              </a:rPr>
              <a:t>PassengerName,TrainID,SeatClass</a:t>
            </a:r>
            <a:endParaRPr lang="en-US" sz="1600" b="1" dirty="0">
              <a:latin typeface="Daytona" panose="020F0502020204030204" pitchFamily="34" charset="0"/>
              <a:cs typeface="Angsana New" panose="020B0502040204020203" pitchFamily="18" charset="-34"/>
            </a:endParaRPr>
          </a:p>
          <a:p>
            <a:r>
              <a:rPr lang="en-US" sz="1600" b="1" dirty="0">
                <a:latin typeface="Daytona" panose="020F0502020204030204" pitchFamily="34" charset="0"/>
                <a:cs typeface="Angsana New" panose="020B0502040204020203" pitchFamily="18" charset="-34"/>
              </a:rPr>
              <a:t>From booking</a:t>
            </a:r>
          </a:p>
          <a:p>
            <a:r>
              <a:rPr lang="en-US" sz="1600" b="1" dirty="0">
                <a:latin typeface="Daytona" panose="020F0502020204030204" pitchFamily="34" charset="0"/>
                <a:cs typeface="Angsana New" panose="020B0502040204020203" pitchFamily="18" charset="-34"/>
              </a:rPr>
              <a:t>where SeatClass Like '%AC%' ;</a:t>
            </a:r>
          </a:p>
        </p:txBody>
      </p:sp>
      <p:sp>
        <p:nvSpPr>
          <p:cNvPr id="11" name="TextBox 10">
            <a:extLst>
              <a:ext uri="{FF2B5EF4-FFF2-40B4-BE49-F238E27FC236}">
                <a16:creationId xmlns:a16="http://schemas.microsoft.com/office/drawing/2014/main" id="{8DB6035D-A91B-6540-DBCF-7D88DC962AAB}"/>
              </a:ext>
            </a:extLst>
          </p:cNvPr>
          <p:cNvSpPr txBox="1"/>
          <p:nvPr/>
        </p:nvSpPr>
        <p:spPr>
          <a:xfrm>
            <a:off x="1504949" y="93621"/>
            <a:ext cx="10858501" cy="1077218"/>
          </a:xfrm>
          <a:prstGeom prst="rect">
            <a:avLst/>
          </a:prstGeom>
          <a:solidFill>
            <a:schemeClr val="accent4">
              <a:lumMod val="50000"/>
            </a:schemeClr>
          </a:solidFill>
        </p:spPr>
        <p:txBody>
          <a:bodyPr wrap="square" rtlCol="0">
            <a:spAutoFit/>
          </a:bodyPr>
          <a:lstStyle/>
          <a:p>
            <a:pPr algn="ctr"/>
            <a:r>
              <a:rPr lang="en-US" sz="32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16. Display the list of passengers who traveled in AC class.</a:t>
            </a:r>
            <a:endParaRPr lang="en-US" sz="32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endParaRPr>
          </a:p>
        </p:txBody>
      </p:sp>
      <p:pic>
        <p:nvPicPr>
          <p:cNvPr id="12" name="Picture 11" descr="A blue and white circular sign with a circular design&#10;&#10;AI-generated content may be incorrect.">
            <a:extLst>
              <a:ext uri="{FF2B5EF4-FFF2-40B4-BE49-F238E27FC236}">
                <a16:creationId xmlns:a16="http://schemas.microsoft.com/office/drawing/2014/main" id="{EFB2D542-702B-7E57-2C3C-9C22D53B6E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230" y="-378237"/>
            <a:ext cx="2020933" cy="2020933"/>
          </a:xfrm>
          <a:prstGeom prst="rect">
            <a:avLst/>
          </a:prstGeom>
        </p:spPr>
      </p:pic>
      <p:sp>
        <p:nvSpPr>
          <p:cNvPr id="13" name="Arrow: Right 12">
            <a:extLst>
              <a:ext uri="{FF2B5EF4-FFF2-40B4-BE49-F238E27FC236}">
                <a16:creationId xmlns:a16="http://schemas.microsoft.com/office/drawing/2014/main" id="{4364F6EC-A71C-1C9E-2DFE-518660B4EA64}"/>
              </a:ext>
            </a:extLst>
          </p:cNvPr>
          <p:cNvSpPr/>
          <p:nvPr/>
        </p:nvSpPr>
        <p:spPr>
          <a:xfrm>
            <a:off x="1" y="1253844"/>
            <a:ext cx="1772667" cy="1575452"/>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D8E9BF58-946F-500E-AEE7-F327FDE2F682}"/>
              </a:ext>
            </a:extLst>
          </p:cNvPr>
          <p:cNvSpPr txBox="1"/>
          <p:nvPr/>
        </p:nvSpPr>
        <p:spPr>
          <a:xfrm>
            <a:off x="-165386" y="1774402"/>
            <a:ext cx="1766604" cy="584775"/>
          </a:xfrm>
          <a:prstGeom prst="rect">
            <a:avLst/>
          </a:prstGeom>
          <a:noFill/>
        </p:spPr>
        <p:txBody>
          <a:bodyPr wrap="square" rtlCol="0">
            <a:spAutoFit/>
          </a:bodyPr>
          <a:lstStyle/>
          <a:p>
            <a:pPr algn="ctr"/>
            <a:r>
              <a:rPr lang="en-US" sz="3200" b="1" dirty="0"/>
              <a:t>QUERY</a:t>
            </a:r>
          </a:p>
        </p:txBody>
      </p:sp>
      <p:sp>
        <p:nvSpPr>
          <p:cNvPr id="6" name="TextBox 5">
            <a:extLst>
              <a:ext uri="{FF2B5EF4-FFF2-40B4-BE49-F238E27FC236}">
                <a16:creationId xmlns:a16="http://schemas.microsoft.com/office/drawing/2014/main" id="{9127DAED-78DD-9FF9-B6D7-0AA51ADC6F72}"/>
              </a:ext>
            </a:extLst>
          </p:cNvPr>
          <p:cNvSpPr txBox="1"/>
          <p:nvPr/>
        </p:nvSpPr>
        <p:spPr>
          <a:xfrm>
            <a:off x="106930" y="5971244"/>
            <a:ext cx="12574020" cy="1323439"/>
          </a:xfrm>
          <a:prstGeom prst="rect">
            <a:avLst/>
          </a:prstGeom>
          <a:noFill/>
        </p:spPr>
        <p:txBody>
          <a:bodyPr wrap="square" rtlCol="0">
            <a:spAutoFit/>
          </a:bodyPr>
          <a:lstStyle/>
          <a:p>
            <a:r>
              <a:rPr lang="en-US" sz="2000" b="1" dirty="0">
                <a:solidFill>
                  <a:schemeClr val="bg1"/>
                </a:solidFill>
                <a:latin typeface="Segoe UI Black" panose="020B0A02040204020203" pitchFamily="34" charset="0"/>
                <a:ea typeface="Segoe UI Black" panose="020B0A02040204020203" pitchFamily="34" charset="0"/>
              </a:rPr>
              <a:t>SUMMARY; This query retrieves passengers who traveled in AC class by selecting booking records where the SeatClass includes “AC”. It displays Passenger Name, TrainID, and Seat Class </a:t>
            </a:r>
            <a:r>
              <a:rPr lang="en-US" sz="2000" b="1" dirty="0" err="1">
                <a:solidFill>
                  <a:schemeClr val="bg1"/>
                </a:solidFill>
                <a:latin typeface="Segoe UI Black" panose="020B0A02040204020203" pitchFamily="34" charset="0"/>
                <a:ea typeface="Segoe UI Black" panose="020B0A02040204020203" pitchFamily="34" charset="0"/>
              </a:rPr>
              <a:t>details.The</a:t>
            </a:r>
            <a:r>
              <a:rPr lang="en-US" sz="2000" b="1" dirty="0">
                <a:solidFill>
                  <a:schemeClr val="bg1"/>
                </a:solidFill>
                <a:latin typeface="Segoe UI Black" panose="020B0A02040204020203" pitchFamily="34" charset="0"/>
                <a:ea typeface="Segoe UI Black" panose="020B0A02040204020203" pitchFamily="34" charset="0"/>
              </a:rPr>
              <a:t> result contains 79 rows, representing all passengers who booked AC-class seats.</a:t>
            </a:r>
          </a:p>
          <a:p>
            <a:r>
              <a:rPr lang="en-US" sz="2000" b="1" dirty="0">
                <a:solidFill>
                  <a:schemeClr val="bg1"/>
                </a:solidFill>
                <a:latin typeface="Segoe UI Black" panose="020B0A02040204020203" pitchFamily="34" charset="0"/>
                <a:ea typeface="Segoe UI Black" panose="020B0A02040204020203" pitchFamily="34" charset="0"/>
              </a:rPr>
              <a:t> </a:t>
            </a:r>
          </a:p>
        </p:txBody>
      </p:sp>
      <p:pic>
        <p:nvPicPr>
          <p:cNvPr id="4" name="Picture 3" descr="A table with names and numbers&#10;&#10;AI-generated content may be incorrect.">
            <a:extLst>
              <a:ext uri="{FF2B5EF4-FFF2-40B4-BE49-F238E27FC236}">
                <a16:creationId xmlns:a16="http://schemas.microsoft.com/office/drawing/2014/main" id="{2472BC7C-C184-3652-FE1C-6AC8C7A779DB}"/>
              </a:ext>
            </a:extLst>
          </p:cNvPr>
          <p:cNvPicPr>
            <a:picLocks noChangeAspect="1"/>
          </p:cNvPicPr>
          <p:nvPr/>
        </p:nvPicPr>
        <p:blipFill>
          <a:blip r:embed="rId3"/>
          <a:stretch>
            <a:fillRect/>
          </a:stretch>
        </p:blipFill>
        <p:spPr>
          <a:xfrm>
            <a:off x="4267200" y="2530625"/>
            <a:ext cx="3314700" cy="3433815"/>
          </a:xfrm>
          <a:prstGeom prst="rect">
            <a:avLst/>
          </a:prstGeom>
          <a:ln w="19050">
            <a:solidFill>
              <a:schemeClr val="tx1"/>
            </a:solidFill>
          </a:ln>
        </p:spPr>
      </p:pic>
    </p:spTree>
    <p:extLst>
      <p:ext uri="{BB962C8B-B14F-4D97-AF65-F5344CB8AC3E}">
        <p14:creationId xmlns:p14="http://schemas.microsoft.com/office/powerpoint/2010/main" val="4081040461"/>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D738366E-B8EE-8F9B-F89B-BA326DE3E641}"/>
            </a:ext>
          </a:extLst>
        </p:cNvPr>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A68B7DF0-906E-E1AF-63B8-4CAEA49A0109}"/>
              </a:ext>
            </a:extLst>
          </p:cNvPr>
          <p:cNvSpPr/>
          <p:nvPr/>
        </p:nvSpPr>
        <p:spPr>
          <a:xfrm>
            <a:off x="2655485" y="1541179"/>
            <a:ext cx="7231465" cy="1815882"/>
          </a:xfrm>
          <a:prstGeom prst="round2Same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1400" dirty="0"/>
          </a:p>
        </p:txBody>
      </p:sp>
      <p:sp>
        <p:nvSpPr>
          <p:cNvPr id="7" name="Rectangle: Top Corners Rounded 6">
            <a:extLst>
              <a:ext uri="{FF2B5EF4-FFF2-40B4-BE49-F238E27FC236}">
                <a16:creationId xmlns:a16="http://schemas.microsoft.com/office/drawing/2014/main" id="{ACA526C6-6B01-C773-B08F-5AAC88F5A43E}"/>
              </a:ext>
            </a:extLst>
          </p:cNvPr>
          <p:cNvSpPr/>
          <p:nvPr/>
        </p:nvSpPr>
        <p:spPr>
          <a:xfrm>
            <a:off x="106930" y="5545340"/>
            <a:ext cx="12421619" cy="998377"/>
          </a:xfrm>
          <a:prstGeom prst="round2SameRect">
            <a:avLst>
              <a:gd name="adj1" fmla="val 16667"/>
              <a:gd name="adj2" fmla="val 0"/>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72" dirty="0"/>
          </a:p>
        </p:txBody>
      </p:sp>
      <p:sp>
        <p:nvSpPr>
          <p:cNvPr id="20" name="TextBox 19">
            <a:extLst>
              <a:ext uri="{FF2B5EF4-FFF2-40B4-BE49-F238E27FC236}">
                <a16:creationId xmlns:a16="http://schemas.microsoft.com/office/drawing/2014/main" id="{9F975E62-ED86-3709-513D-D7B4684A534A}"/>
              </a:ext>
            </a:extLst>
          </p:cNvPr>
          <p:cNvSpPr txBox="1"/>
          <p:nvPr/>
        </p:nvSpPr>
        <p:spPr>
          <a:xfrm>
            <a:off x="2845240" y="1577693"/>
            <a:ext cx="6660710" cy="1815882"/>
          </a:xfrm>
          <a:prstGeom prst="rect">
            <a:avLst/>
          </a:prstGeom>
          <a:noFill/>
        </p:spPr>
        <p:txBody>
          <a:bodyPr wrap="square" rtlCol="0">
            <a:spAutoFit/>
          </a:bodyPr>
          <a:lstStyle/>
          <a:p>
            <a:r>
              <a:rPr lang="en-US" sz="1600" b="1" dirty="0">
                <a:latin typeface="Daytona" panose="020F0502020204030204" pitchFamily="34" charset="0"/>
                <a:cs typeface="Angsana New" panose="020B0502040204020203" pitchFamily="18" charset="-34"/>
              </a:rPr>
              <a:t>select </a:t>
            </a:r>
            <a:r>
              <a:rPr lang="en-US" sz="1600" b="1" dirty="0" err="1">
                <a:latin typeface="Daytona" panose="020F0502020204030204" pitchFamily="34" charset="0"/>
                <a:cs typeface="Angsana New" panose="020B0502040204020203" pitchFamily="18" charset="-34"/>
              </a:rPr>
              <a:t>B.PassengerName,sum</a:t>
            </a:r>
            <a:r>
              <a:rPr lang="en-US" sz="1600" b="1" dirty="0">
                <a:latin typeface="Daytona" panose="020F0502020204030204" pitchFamily="34" charset="0"/>
                <a:cs typeface="Angsana New" panose="020B0502040204020203" pitchFamily="18" charset="-34"/>
              </a:rPr>
              <a:t>(AmountPaid) as TotalPaid</a:t>
            </a:r>
          </a:p>
          <a:p>
            <a:r>
              <a:rPr lang="en-US" sz="1600" b="1" dirty="0">
                <a:latin typeface="Daytona" panose="020F0502020204030204" pitchFamily="34" charset="0"/>
                <a:cs typeface="Angsana New" panose="020B0502040204020203" pitchFamily="18" charset="-34"/>
              </a:rPr>
              <a:t>from booking as B</a:t>
            </a:r>
          </a:p>
          <a:p>
            <a:r>
              <a:rPr lang="en-US" sz="1600" b="1" dirty="0">
                <a:latin typeface="Daytona" panose="020F0502020204030204" pitchFamily="34" charset="0"/>
                <a:cs typeface="Angsana New" panose="020B0502040204020203" pitchFamily="18" charset="-34"/>
              </a:rPr>
              <a:t>join Payment as p</a:t>
            </a:r>
          </a:p>
          <a:p>
            <a:r>
              <a:rPr lang="en-US" sz="1600" b="1" dirty="0">
                <a:latin typeface="Daytona" panose="020F0502020204030204" pitchFamily="34" charset="0"/>
                <a:cs typeface="Angsana New" panose="020B0502040204020203" pitchFamily="18" charset="-34"/>
              </a:rPr>
              <a:t>on </a:t>
            </a:r>
            <a:r>
              <a:rPr lang="en-US" sz="1600" b="1" dirty="0" err="1">
                <a:latin typeface="Daytona" panose="020F0502020204030204" pitchFamily="34" charset="0"/>
                <a:cs typeface="Angsana New" panose="020B0502040204020203" pitchFamily="18" charset="-34"/>
              </a:rPr>
              <a:t>B.BookingID</a:t>
            </a:r>
            <a:r>
              <a:rPr lang="en-US" sz="1600" b="1" dirty="0">
                <a:latin typeface="Daytona" panose="020F0502020204030204" pitchFamily="34" charset="0"/>
                <a:cs typeface="Angsana New" panose="020B0502040204020203" pitchFamily="18" charset="-34"/>
              </a:rPr>
              <a:t> = P.BookingID</a:t>
            </a:r>
          </a:p>
          <a:p>
            <a:r>
              <a:rPr lang="en-US" sz="1600" b="1" dirty="0">
                <a:latin typeface="Daytona" panose="020F0502020204030204" pitchFamily="34" charset="0"/>
                <a:cs typeface="Angsana New" panose="020B0502040204020203" pitchFamily="18" charset="-34"/>
              </a:rPr>
              <a:t>where PaymentStatus = 'paid’</a:t>
            </a:r>
          </a:p>
          <a:p>
            <a:r>
              <a:rPr lang="en-US" sz="1600" b="1" dirty="0">
                <a:latin typeface="Daytona" panose="020F0502020204030204" pitchFamily="34" charset="0"/>
                <a:cs typeface="Angsana New" panose="020B0502040204020203" pitchFamily="18" charset="-34"/>
              </a:rPr>
              <a:t>group by B.passengerNameorder by TotalPaid desc   </a:t>
            </a:r>
          </a:p>
          <a:p>
            <a:r>
              <a:rPr lang="en-US" sz="1600" b="1" dirty="0">
                <a:latin typeface="Daytona" panose="020F0502020204030204" pitchFamily="34" charset="0"/>
                <a:cs typeface="Angsana New" panose="020B0502040204020203" pitchFamily="18" charset="-34"/>
              </a:rPr>
              <a:t>Limit 1 ;</a:t>
            </a:r>
          </a:p>
        </p:txBody>
      </p:sp>
      <p:sp>
        <p:nvSpPr>
          <p:cNvPr id="11" name="TextBox 10">
            <a:extLst>
              <a:ext uri="{FF2B5EF4-FFF2-40B4-BE49-F238E27FC236}">
                <a16:creationId xmlns:a16="http://schemas.microsoft.com/office/drawing/2014/main" id="{0E528EB1-C3D0-F1CB-841F-28962FEDB569}"/>
              </a:ext>
            </a:extLst>
          </p:cNvPr>
          <p:cNvSpPr txBox="1"/>
          <p:nvPr/>
        </p:nvSpPr>
        <p:spPr>
          <a:xfrm>
            <a:off x="1600199" y="93621"/>
            <a:ext cx="10858501" cy="1077218"/>
          </a:xfrm>
          <a:prstGeom prst="rect">
            <a:avLst/>
          </a:prstGeom>
          <a:solidFill>
            <a:schemeClr val="accent4">
              <a:lumMod val="50000"/>
            </a:schemeClr>
          </a:solidFill>
        </p:spPr>
        <p:txBody>
          <a:bodyPr wrap="square" rtlCol="0">
            <a:spAutoFit/>
          </a:bodyPr>
          <a:lstStyle/>
          <a:p>
            <a:pPr algn="ctr"/>
            <a:r>
              <a:rPr lang="en-US" sz="32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17. Find the passenger who has paid the highest total amount</a:t>
            </a:r>
            <a:endParaRPr lang="en-US" sz="32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endParaRPr>
          </a:p>
        </p:txBody>
      </p:sp>
      <p:pic>
        <p:nvPicPr>
          <p:cNvPr id="12" name="Picture 11" descr="A blue and white circular sign with a circular design&#10;&#10;AI-generated content may be incorrect.">
            <a:extLst>
              <a:ext uri="{FF2B5EF4-FFF2-40B4-BE49-F238E27FC236}">
                <a16:creationId xmlns:a16="http://schemas.microsoft.com/office/drawing/2014/main" id="{0E4BC612-EEDD-832F-9DA0-88158DFF64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230" y="-378237"/>
            <a:ext cx="2020933" cy="2020933"/>
          </a:xfrm>
          <a:prstGeom prst="rect">
            <a:avLst/>
          </a:prstGeom>
        </p:spPr>
      </p:pic>
      <p:sp>
        <p:nvSpPr>
          <p:cNvPr id="13" name="Arrow: Right 12">
            <a:extLst>
              <a:ext uri="{FF2B5EF4-FFF2-40B4-BE49-F238E27FC236}">
                <a16:creationId xmlns:a16="http://schemas.microsoft.com/office/drawing/2014/main" id="{96A94A59-638C-E7C4-828F-E28D449DF32C}"/>
              </a:ext>
            </a:extLst>
          </p:cNvPr>
          <p:cNvSpPr/>
          <p:nvPr/>
        </p:nvSpPr>
        <p:spPr>
          <a:xfrm>
            <a:off x="1" y="1596744"/>
            <a:ext cx="1772667" cy="1575452"/>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DBD7E05-EEB0-71E2-55D5-258A0A6C5197}"/>
              </a:ext>
            </a:extLst>
          </p:cNvPr>
          <p:cNvSpPr txBox="1"/>
          <p:nvPr/>
        </p:nvSpPr>
        <p:spPr>
          <a:xfrm>
            <a:off x="-165386" y="2079202"/>
            <a:ext cx="1766604" cy="584775"/>
          </a:xfrm>
          <a:prstGeom prst="rect">
            <a:avLst/>
          </a:prstGeom>
          <a:noFill/>
        </p:spPr>
        <p:txBody>
          <a:bodyPr wrap="square" rtlCol="0">
            <a:spAutoFit/>
          </a:bodyPr>
          <a:lstStyle/>
          <a:p>
            <a:pPr algn="ctr"/>
            <a:r>
              <a:rPr lang="en-US" sz="3200" b="1" dirty="0"/>
              <a:t>QUERY</a:t>
            </a:r>
          </a:p>
        </p:txBody>
      </p:sp>
      <p:sp>
        <p:nvSpPr>
          <p:cNvPr id="6" name="TextBox 5">
            <a:extLst>
              <a:ext uri="{FF2B5EF4-FFF2-40B4-BE49-F238E27FC236}">
                <a16:creationId xmlns:a16="http://schemas.microsoft.com/office/drawing/2014/main" id="{E216D066-29FA-9FA9-2E73-274E5DAD3D17}"/>
              </a:ext>
            </a:extLst>
          </p:cNvPr>
          <p:cNvSpPr txBox="1"/>
          <p:nvPr/>
        </p:nvSpPr>
        <p:spPr>
          <a:xfrm>
            <a:off x="106930" y="5533094"/>
            <a:ext cx="12574020" cy="1015663"/>
          </a:xfrm>
          <a:prstGeom prst="rect">
            <a:avLst/>
          </a:prstGeom>
          <a:noFill/>
        </p:spPr>
        <p:txBody>
          <a:bodyPr wrap="square" rtlCol="0">
            <a:spAutoFit/>
          </a:bodyPr>
          <a:lstStyle/>
          <a:p>
            <a:r>
              <a:rPr lang="en-US" sz="2000" b="1" dirty="0">
                <a:solidFill>
                  <a:schemeClr val="bg1"/>
                </a:solidFill>
                <a:latin typeface="Segoe UI Black" panose="020B0A02040204020203" pitchFamily="34" charset="0"/>
                <a:ea typeface="Segoe UI Black" panose="020B0A02040204020203" pitchFamily="34" charset="0"/>
              </a:rPr>
              <a:t>SUMMARY; This query identifies the passenger who paid the highest total amount by summing paid payments for each passenger. The result shows Aakash Shah as the top payer with a total of 16300.05.</a:t>
            </a:r>
          </a:p>
        </p:txBody>
      </p:sp>
      <p:pic>
        <p:nvPicPr>
          <p:cNvPr id="3" name="Picture 2">
            <a:extLst>
              <a:ext uri="{FF2B5EF4-FFF2-40B4-BE49-F238E27FC236}">
                <a16:creationId xmlns:a16="http://schemas.microsoft.com/office/drawing/2014/main" id="{5D17D7FA-4F56-42E2-BA82-857D16AB6CEB}"/>
              </a:ext>
            </a:extLst>
          </p:cNvPr>
          <p:cNvPicPr>
            <a:picLocks noChangeAspect="1"/>
          </p:cNvPicPr>
          <p:nvPr/>
        </p:nvPicPr>
        <p:blipFill>
          <a:blip r:embed="rId3"/>
          <a:stretch>
            <a:fillRect/>
          </a:stretch>
        </p:blipFill>
        <p:spPr>
          <a:xfrm>
            <a:off x="3599067" y="3671065"/>
            <a:ext cx="5482815" cy="1323439"/>
          </a:xfrm>
          <a:prstGeom prst="rect">
            <a:avLst/>
          </a:prstGeom>
          <a:ln w="19050">
            <a:solidFill>
              <a:schemeClr val="tx1"/>
            </a:solidFill>
          </a:ln>
        </p:spPr>
      </p:pic>
    </p:spTree>
    <p:extLst>
      <p:ext uri="{BB962C8B-B14F-4D97-AF65-F5344CB8AC3E}">
        <p14:creationId xmlns:p14="http://schemas.microsoft.com/office/powerpoint/2010/main" val="2989886494"/>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87DCBD4C-8CD0-D36C-E5EA-D6E45F48E7B9}"/>
            </a:ext>
          </a:extLst>
        </p:cNvPr>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E5D1F2F8-F506-36B8-6AE0-F3AC23408D34}"/>
              </a:ext>
            </a:extLst>
          </p:cNvPr>
          <p:cNvSpPr/>
          <p:nvPr/>
        </p:nvSpPr>
        <p:spPr>
          <a:xfrm>
            <a:off x="2312585" y="879916"/>
            <a:ext cx="7650565" cy="1551438"/>
          </a:xfrm>
          <a:prstGeom prst="round2Same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1400" dirty="0"/>
          </a:p>
        </p:txBody>
      </p:sp>
      <p:sp>
        <p:nvSpPr>
          <p:cNvPr id="7" name="Rectangle: Top Corners Rounded 6">
            <a:extLst>
              <a:ext uri="{FF2B5EF4-FFF2-40B4-BE49-F238E27FC236}">
                <a16:creationId xmlns:a16="http://schemas.microsoft.com/office/drawing/2014/main" id="{8C94FB6C-BA1C-C3EB-C6E1-01A303735AB2}"/>
              </a:ext>
            </a:extLst>
          </p:cNvPr>
          <p:cNvSpPr/>
          <p:nvPr/>
        </p:nvSpPr>
        <p:spPr>
          <a:xfrm>
            <a:off x="106930" y="5945390"/>
            <a:ext cx="12467090" cy="1149148"/>
          </a:xfrm>
          <a:prstGeom prst="round2SameRect">
            <a:avLst>
              <a:gd name="adj1" fmla="val 16667"/>
              <a:gd name="adj2" fmla="val 0"/>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72" dirty="0"/>
          </a:p>
        </p:txBody>
      </p:sp>
      <p:sp>
        <p:nvSpPr>
          <p:cNvPr id="20" name="TextBox 19">
            <a:extLst>
              <a:ext uri="{FF2B5EF4-FFF2-40B4-BE49-F238E27FC236}">
                <a16:creationId xmlns:a16="http://schemas.microsoft.com/office/drawing/2014/main" id="{FFD5EDD0-84C6-DDB0-FBAA-73A7BE132AED}"/>
              </a:ext>
            </a:extLst>
          </p:cNvPr>
          <p:cNvSpPr txBox="1"/>
          <p:nvPr/>
        </p:nvSpPr>
        <p:spPr>
          <a:xfrm>
            <a:off x="2692840" y="1060464"/>
            <a:ext cx="6927410" cy="1077218"/>
          </a:xfrm>
          <a:prstGeom prst="rect">
            <a:avLst/>
          </a:prstGeom>
          <a:noFill/>
        </p:spPr>
        <p:txBody>
          <a:bodyPr wrap="square" rtlCol="0">
            <a:spAutoFit/>
          </a:bodyPr>
          <a:lstStyle/>
          <a:p>
            <a:r>
              <a:rPr lang="en-US" sz="1600" b="1" dirty="0">
                <a:latin typeface="Daytona" panose="020F0502020204030204" pitchFamily="34" charset="0"/>
                <a:cs typeface="Angsana New" panose="020B0502040204020203" pitchFamily="18" charset="-34"/>
              </a:rPr>
              <a:t>select </a:t>
            </a:r>
            <a:r>
              <a:rPr lang="en-US" sz="1600" b="1" dirty="0" err="1">
                <a:latin typeface="Daytona" panose="020F0502020204030204" pitchFamily="34" charset="0"/>
                <a:cs typeface="Angsana New" panose="020B0502040204020203" pitchFamily="18" charset="-34"/>
              </a:rPr>
              <a:t>passengerName</a:t>
            </a:r>
            <a:r>
              <a:rPr lang="en-US" sz="1600" b="1" dirty="0">
                <a:latin typeface="Daytona" panose="020F0502020204030204" pitchFamily="34" charset="0"/>
                <a:cs typeface="Angsana New" panose="020B0502040204020203" pitchFamily="18" charset="-34"/>
              </a:rPr>
              <a:t> ,count(distinct TrainID) as TotalTrain</a:t>
            </a:r>
          </a:p>
          <a:p>
            <a:r>
              <a:rPr lang="en-US" sz="1600" b="1" dirty="0">
                <a:latin typeface="Daytona" panose="020F0502020204030204" pitchFamily="34" charset="0"/>
                <a:cs typeface="Angsana New" panose="020B0502040204020203" pitchFamily="18" charset="-34"/>
              </a:rPr>
              <a:t>from booking</a:t>
            </a:r>
          </a:p>
          <a:p>
            <a:r>
              <a:rPr lang="en-US" sz="1600" b="1" dirty="0">
                <a:latin typeface="Daytona" panose="020F0502020204030204" pitchFamily="34" charset="0"/>
                <a:cs typeface="Angsana New" panose="020B0502040204020203" pitchFamily="18" charset="-34"/>
              </a:rPr>
              <a:t>group by PassengerName</a:t>
            </a:r>
          </a:p>
          <a:p>
            <a:r>
              <a:rPr lang="en-US" sz="1600" b="1" dirty="0">
                <a:latin typeface="Daytona" panose="020F0502020204030204" pitchFamily="34" charset="0"/>
                <a:cs typeface="Angsana New" panose="020B0502040204020203" pitchFamily="18" charset="-34"/>
              </a:rPr>
              <a:t>Having count(distinct TrainID) &gt; 1;</a:t>
            </a:r>
          </a:p>
        </p:txBody>
      </p:sp>
      <p:sp>
        <p:nvSpPr>
          <p:cNvPr id="11" name="TextBox 10">
            <a:extLst>
              <a:ext uri="{FF2B5EF4-FFF2-40B4-BE49-F238E27FC236}">
                <a16:creationId xmlns:a16="http://schemas.microsoft.com/office/drawing/2014/main" id="{B547F4C8-35B9-FDB4-10FE-8FB476403227}"/>
              </a:ext>
            </a:extLst>
          </p:cNvPr>
          <p:cNvSpPr txBox="1"/>
          <p:nvPr/>
        </p:nvSpPr>
        <p:spPr>
          <a:xfrm>
            <a:off x="1600199" y="131721"/>
            <a:ext cx="10858501" cy="584775"/>
          </a:xfrm>
          <a:prstGeom prst="rect">
            <a:avLst/>
          </a:prstGeom>
          <a:solidFill>
            <a:schemeClr val="accent4">
              <a:lumMod val="50000"/>
            </a:schemeClr>
          </a:solidFill>
        </p:spPr>
        <p:txBody>
          <a:bodyPr wrap="square" rtlCol="0">
            <a:spAutoFit/>
          </a:bodyPr>
          <a:lstStyle/>
          <a:p>
            <a:pPr algn="ctr"/>
            <a:r>
              <a:rPr lang="en-US" sz="32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18. Passengers who booked more than one train</a:t>
            </a:r>
            <a:endParaRPr lang="en-US" sz="32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endParaRPr>
          </a:p>
        </p:txBody>
      </p:sp>
      <p:pic>
        <p:nvPicPr>
          <p:cNvPr id="12" name="Picture 11" descr="A blue and white circular sign with a circular design&#10;&#10;AI-generated content may be incorrect.">
            <a:extLst>
              <a:ext uri="{FF2B5EF4-FFF2-40B4-BE49-F238E27FC236}">
                <a16:creationId xmlns:a16="http://schemas.microsoft.com/office/drawing/2014/main" id="{6EA63B73-BA49-81CB-3742-BD44E9B23C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6334" y="-195783"/>
            <a:ext cx="1391776" cy="1391776"/>
          </a:xfrm>
          <a:prstGeom prst="rect">
            <a:avLst/>
          </a:prstGeom>
        </p:spPr>
      </p:pic>
      <p:sp>
        <p:nvSpPr>
          <p:cNvPr id="13" name="Arrow: Right 12">
            <a:extLst>
              <a:ext uri="{FF2B5EF4-FFF2-40B4-BE49-F238E27FC236}">
                <a16:creationId xmlns:a16="http://schemas.microsoft.com/office/drawing/2014/main" id="{64DFE625-C0C3-8A81-7067-B275266C2E50}"/>
              </a:ext>
            </a:extLst>
          </p:cNvPr>
          <p:cNvSpPr/>
          <p:nvPr/>
        </p:nvSpPr>
        <p:spPr>
          <a:xfrm>
            <a:off x="1" y="834744"/>
            <a:ext cx="1772667" cy="1575452"/>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CDD680B-B506-7684-BB69-DC3535DB232D}"/>
              </a:ext>
            </a:extLst>
          </p:cNvPr>
          <p:cNvSpPr txBox="1"/>
          <p:nvPr/>
        </p:nvSpPr>
        <p:spPr>
          <a:xfrm>
            <a:off x="-165386" y="1355302"/>
            <a:ext cx="1766604" cy="584775"/>
          </a:xfrm>
          <a:prstGeom prst="rect">
            <a:avLst/>
          </a:prstGeom>
          <a:noFill/>
        </p:spPr>
        <p:txBody>
          <a:bodyPr wrap="square" rtlCol="0">
            <a:spAutoFit/>
          </a:bodyPr>
          <a:lstStyle/>
          <a:p>
            <a:pPr algn="ctr"/>
            <a:r>
              <a:rPr lang="en-US" sz="3200" b="1" dirty="0"/>
              <a:t>QUERY</a:t>
            </a:r>
          </a:p>
        </p:txBody>
      </p:sp>
      <p:sp>
        <p:nvSpPr>
          <p:cNvPr id="6" name="TextBox 5">
            <a:extLst>
              <a:ext uri="{FF2B5EF4-FFF2-40B4-BE49-F238E27FC236}">
                <a16:creationId xmlns:a16="http://schemas.microsoft.com/office/drawing/2014/main" id="{BEA23767-D38B-2883-395E-97CCB0B6B8CD}"/>
              </a:ext>
            </a:extLst>
          </p:cNvPr>
          <p:cNvSpPr txBox="1"/>
          <p:nvPr/>
        </p:nvSpPr>
        <p:spPr>
          <a:xfrm>
            <a:off x="341452" y="5879695"/>
            <a:ext cx="12232568" cy="1569660"/>
          </a:xfrm>
          <a:prstGeom prst="rect">
            <a:avLst/>
          </a:prstGeom>
          <a:noFill/>
        </p:spPr>
        <p:txBody>
          <a:bodyPr wrap="square" rtlCol="0">
            <a:spAutoFit/>
          </a:bodyPr>
          <a:lstStyle/>
          <a:p>
            <a:r>
              <a:rPr lang="en-US" sz="2000" b="1" dirty="0">
                <a:solidFill>
                  <a:schemeClr val="bg1"/>
                </a:solidFill>
                <a:latin typeface="Segoe UI Black" panose="020B0A02040204020203" pitchFamily="34" charset="0"/>
                <a:ea typeface="Segoe UI Black" panose="020B0A02040204020203" pitchFamily="34" charset="0"/>
              </a:rPr>
              <a:t>SUMMARY; </a:t>
            </a:r>
            <a:r>
              <a:rPr lang="en-US" b="1" dirty="0">
                <a:solidFill>
                  <a:schemeClr val="bg1"/>
                </a:solidFill>
                <a:latin typeface="Segoe UI Black" panose="020B0A02040204020203" pitchFamily="34" charset="0"/>
                <a:ea typeface="Segoe UI Black" panose="020B0A02040204020203" pitchFamily="34" charset="0"/>
              </a:rPr>
              <a:t>This query finds passengers who have booked tickets on more than one different train. Data is taken from the booking table. Records are grouped by PassengerName. COUNT(DISTINCT TrainID) counts how many different trains each passenger booked. HAVING COUNT(DISTINCT TrainID) &gt; 1 ensures only passengers with multiple train bookings are shown</a:t>
            </a:r>
          </a:p>
          <a:p>
            <a:r>
              <a:rPr lang="en-US" sz="2000" b="1" dirty="0">
                <a:solidFill>
                  <a:schemeClr val="bg1"/>
                </a:solidFill>
                <a:latin typeface="Segoe UI Black" panose="020B0A02040204020203" pitchFamily="34" charset="0"/>
                <a:ea typeface="Segoe UI Black" panose="020B0A02040204020203" pitchFamily="34" charset="0"/>
              </a:rPr>
              <a:t> </a:t>
            </a:r>
          </a:p>
        </p:txBody>
      </p:sp>
      <p:pic>
        <p:nvPicPr>
          <p:cNvPr id="4" name="Picture 3" descr="A screenshot of a table&#10;&#10;AI-generated content may be incorrect.">
            <a:extLst>
              <a:ext uri="{FF2B5EF4-FFF2-40B4-BE49-F238E27FC236}">
                <a16:creationId xmlns:a16="http://schemas.microsoft.com/office/drawing/2014/main" id="{ABF2CF4C-4A94-969F-6926-F16BA0732097}"/>
              </a:ext>
            </a:extLst>
          </p:cNvPr>
          <p:cNvPicPr>
            <a:picLocks noChangeAspect="1"/>
          </p:cNvPicPr>
          <p:nvPr/>
        </p:nvPicPr>
        <p:blipFill>
          <a:blip r:embed="rId3"/>
          <a:stretch>
            <a:fillRect/>
          </a:stretch>
        </p:blipFill>
        <p:spPr>
          <a:xfrm>
            <a:off x="4536336" y="2470939"/>
            <a:ext cx="2493113" cy="3441670"/>
          </a:xfrm>
          <a:prstGeom prst="rect">
            <a:avLst/>
          </a:prstGeom>
          <a:ln w="19050">
            <a:solidFill>
              <a:schemeClr val="tx1"/>
            </a:solidFill>
          </a:ln>
        </p:spPr>
      </p:pic>
    </p:spTree>
    <p:extLst>
      <p:ext uri="{BB962C8B-B14F-4D97-AF65-F5344CB8AC3E}">
        <p14:creationId xmlns:p14="http://schemas.microsoft.com/office/powerpoint/2010/main" val="440427599"/>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A8BBA700-E264-C93F-AEF5-1CFC8E005B6D}"/>
            </a:ext>
          </a:extLst>
        </p:cNvPr>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321831F3-CAB7-4B15-22EC-589E544EBC7C}"/>
              </a:ext>
            </a:extLst>
          </p:cNvPr>
          <p:cNvSpPr/>
          <p:nvPr/>
        </p:nvSpPr>
        <p:spPr>
          <a:xfrm>
            <a:off x="2312585" y="879916"/>
            <a:ext cx="7650565" cy="1551438"/>
          </a:xfrm>
          <a:prstGeom prst="round2Same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1400" dirty="0"/>
          </a:p>
        </p:txBody>
      </p:sp>
      <p:sp>
        <p:nvSpPr>
          <p:cNvPr id="7" name="Rectangle: Top Corners Rounded 6">
            <a:extLst>
              <a:ext uri="{FF2B5EF4-FFF2-40B4-BE49-F238E27FC236}">
                <a16:creationId xmlns:a16="http://schemas.microsoft.com/office/drawing/2014/main" id="{C1000DFC-964C-33CD-5D4D-0C8C390BEAE8}"/>
              </a:ext>
            </a:extLst>
          </p:cNvPr>
          <p:cNvSpPr/>
          <p:nvPr/>
        </p:nvSpPr>
        <p:spPr>
          <a:xfrm>
            <a:off x="373630" y="6040640"/>
            <a:ext cx="12008870" cy="934579"/>
          </a:xfrm>
          <a:prstGeom prst="round2SameRect">
            <a:avLst>
              <a:gd name="adj1" fmla="val 16667"/>
              <a:gd name="adj2" fmla="val 0"/>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72" dirty="0"/>
          </a:p>
        </p:txBody>
      </p:sp>
      <p:sp>
        <p:nvSpPr>
          <p:cNvPr id="20" name="TextBox 19">
            <a:extLst>
              <a:ext uri="{FF2B5EF4-FFF2-40B4-BE49-F238E27FC236}">
                <a16:creationId xmlns:a16="http://schemas.microsoft.com/office/drawing/2014/main" id="{90010564-EC0E-CF43-6D1E-0AB978E91899}"/>
              </a:ext>
            </a:extLst>
          </p:cNvPr>
          <p:cNvSpPr txBox="1"/>
          <p:nvPr/>
        </p:nvSpPr>
        <p:spPr>
          <a:xfrm>
            <a:off x="2533814" y="1187453"/>
            <a:ext cx="6927410" cy="923330"/>
          </a:xfrm>
          <a:prstGeom prst="rect">
            <a:avLst/>
          </a:prstGeom>
          <a:noFill/>
        </p:spPr>
        <p:txBody>
          <a:bodyPr wrap="square" rtlCol="0">
            <a:spAutoFit/>
          </a:bodyPr>
          <a:lstStyle/>
          <a:p>
            <a:r>
              <a:rPr lang="en-US" b="1" dirty="0">
                <a:latin typeface="Daytona" panose="020F0502020204030204" pitchFamily="34" charset="0"/>
                <a:cs typeface="Angsana New" panose="020B0502040204020203" pitchFamily="18" charset="-34"/>
              </a:rPr>
              <a:t>select distinct PassengerName,Status</a:t>
            </a:r>
          </a:p>
          <a:p>
            <a:r>
              <a:rPr lang="en-US" b="1" dirty="0">
                <a:latin typeface="Daytona" panose="020F0502020204030204" pitchFamily="34" charset="0"/>
                <a:cs typeface="Angsana New" panose="020B0502040204020203" pitchFamily="18" charset="-34"/>
              </a:rPr>
              <a:t>from booking</a:t>
            </a:r>
          </a:p>
          <a:p>
            <a:r>
              <a:rPr lang="en-US" b="1" dirty="0">
                <a:latin typeface="Daytona" panose="020F0502020204030204" pitchFamily="34" charset="0"/>
                <a:cs typeface="Angsana New" panose="020B0502040204020203" pitchFamily="18" charset="-34"/>
              </a:rPr>
              <a:t>where status = 'cancelled';</a:t>
            </a:r>
          </a:p>
        </p:txBody>
      </p:sp>
      <p:sp>
        <p:nvSpPr>
          <p:cNvPr id="11" name="TextBox 10">
            <a:extLst>
              <a:ext uri="{FF2B5EF4-FFF2-40B4-BE49-F238E27FC236}">
                <a16:creationId xmlns:a16="http://schemas.microsoft.com/office/drawing/2014/main" id="{3884DA66-6B5C-2585-99C2-4CAFF45D2B56}"/>
              </a:ext>
            </a:extLst>
          </p:cNvPr>
          <p:cNvSpPr txBox="1"/>
          <p:nvPr/>
        </p:nvSpPr>
        <p:spPr>
          <a:xfrm>
            <a:off x="1600199" y="131721"/>
            <a:ext cx="10858501" cy="584775"/>
          </a:xfrm>
          <a:prstGeom prst="rect">
            <a:avLst/>
          </a:prstGeom>
          <a:solidFill>
            <a:schemeClr val="accent4">
              <a:lumMod val="50000"/>
            </a:schemeClr>
          </a:solidFill>
        </p:spPr>
        <p:txBody>
          <a:bodyPr wrap="square" rtlCol="0">
            <a:spAutoFit/>
          </a:bodyPr>
          <a:lstStyle/>
          <a:p>
            <a:pPr algn="ctr"/>
            <a:r>
              <a:rPr lang="en-US" sz="32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19. Display passengers who cancelled bookings</a:t>
            </a:r>
            <a:endParaRPr lang="en-US" sz="32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endParaRPr>
          </a:p>
        </p:txBody>
      </p:sp>
      <p:pic>
        <p:nvPicPr>
          <p:cNvPr id="12" name="Picture 11" descr="A blue and white circular sign with a circular design&#10;&#10;AI-generated content may be incorrect.">
            <a:extLst>
              <a:ext uri="{FF2B5EF4-FFF2-40B4-BE49-F238E27FC236}">
                <a16:creationId xmlns:a16="http://schemas.microsoft.com/office/drawing/2014/main" id="{37638B9B-9A1C-05FF-ECF5-1C6B0C34E7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9117" y="-175400"/>
            <a:ext cx="1362853" cy="1362853"/>
          </a:xfrm>
          <a:prstGeom prst="rect">
            <a:avLst/>
          </a:prstGeom>
        </p:spPr>
      </p:pic>
      <p:sp>
        <p:nvSpPr>
          <p:cNvPr id="13" name="Arrow: Right 12">
            <a:extLst>
              <a:ext uri="{FF2B5EF4-FFF2-40B4-BE49-F238E27FC236}">
                <a16:creationId xmlns:a16="http://schemas.microsoft.com/office/drawing/2014/main" id="{DB5EA8D6-0B4E-4942-5A1D-7A644B8B91F8}"/>
              </a:ext>
            </a:extLst>
          </p:cNvPr>
          <p:cNvSpPr/>
          <p:nvPr/>
        </p:nvSpPr>
        <p:spPr>
          <a:xfrm>
            <a:off x="1" y="1082394"/>
            <a:ext cx="1772667" cy="1575452"/>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DD1B75E0-C99B-FB2B-9067-EC90E6978B09}"/>
              </a:ext>
            </a:extLst>
          </p:cNvPr>
          <p:cNvSpPr txBox="1"/>
          <p:nvPr/>
        </p:nvSpPr>
        <p:spPr>
          <a:xfrm>
            <a:off x="-165386" y="1602952"/>
            <a:ext cx="1766604" cy="584775"/>
          </a:xfrm>
          <a:prstGeom prst="rect">
            <a:avLst/>
          </a:prstGeom>
          <a:noFill/>
        </p:spPr>
        <p:txBody>
          <a:bodyPr wrap="square" rtlCol="0">
            <a:spAutoFit/>
          </a:bodyPr>
          <a:lstStyle/>
          <a:p>
            <a:pPr algn="ctr"/>
            <a:r>
              <a:rPr lang="en-US" sz="3200" b="1" dirty="0"/>
              <a:t>QUERY</a:t>
            </a:r>
          </a:p>
        </p:txBody>
      </p:sp>
      <p:sp>
        <p:nvSpPr>
          <p:cNvPr id="6" name="TextBox 5">
            <a:extLst>
              <a:ext uri="{FF2B5EF4-FFF2-40B4-BE49-F238E27FC236}">
                <a16:creationId xmlns:a16="http://schemas.microsoft.com/office/drawing/2014/main" id="{7BE90549-FD7C-47C3-AD51-6F57A01EC487}"/>
              </a:ext>
            </a:extLst>
          </p:cNvPr>
          <p:cNvSpPr txBox="1"/>
          <p:nvPr/>
        </p:nvSpPr>
        <p:spPr>
          <a:xfrm>
            <a:off x="571500" y="6002335"/>
            <a:ext cx="11811000" cy="1323439"/>
          </a:xfrm>
          <a:prstGeom prst="rect">
            <a:avLst/>
          </a:prstGeom>
          <a:noFill/>
        </p:spPr>
        <p:txBody>
          <a:bodyPr wrap="square" rtlCol="0">
            <a:spAutoFit/>
          </a:bodyPr>
          <a:lstStyle/>
          <a:p>
            <a:r>
              <a:rPr lang="en-US" sz="2000" b="1" dirty="0">
                <a:solidFill>
                  <a:schemeClr val="bg1"/>
                </a:solidFill>
                <a:latin typeface="Segoe UI Black" panose="020B0A02040204020203" pitchFamily="34" charset="0"/>
                <a:ea typeface="Segoe UI Black" panose="020B0A02040204020203" pitchFamily="34" charset="0"/>
              </a:rPr>
              <a:t>SUMMARY; This query displays all passengers who cancelled their bookings. It filters records where Status = 'Cancelled’. The DISTINCT keyword avoids duplicate passenger names. Useful for analyzing cancellation patterns and passenger behavior</a:t>
            </a:r>
          </a:p>
          <a:p>
            <a:endParaRPr lang="en-US" sz="2000" b="1" dirty="0">
              <a:solidFill>
                <a:schemeClr val="bg1"/>
              </a:solidFill>
              <a:latin typeface="Segoe UI Black" panose="020B0A02040204020203" pitchFamily="34" charset="0"/>
              <a:ea typeface="Segoe UI Black" panose="020B0A02040204020203" pitchFamily="34" charset="0"/>
            </a:endParaRPr>
          </a:p>
        </p:txBody>
      </p:sp>
      <p:pic>
        <p:nvPicPr>
          <p:cNvPr id="3" name="Picture 2" descr="A screenshot of a computer&#10;&#10;AI-generated content may be incorrect.">
            <a:extLst>
              <a:ext uri="{FF2B5EF4-FFF2-40B4-BE49-F238E27FC236}">
                <a16:creationId xmlns:a16="http://schemas.microsoft.com/office/drawing/2014/main" id="{F21F1C95-ED86-7DDA-1688-3F7169625B7B}"/>
              </a:ext>
            </a:extLst>
          </p:cNvPr>
          <p:cNvPicPr>
            <a:picLocks noChangeAspect="1"/>
          </p:cNvPicPr>
          <p:nvPr/>
        </p:nvPicPr>
        <p:blipFill>
          <a:blip r:embed="rId3"/>
          <a:stretch>
            <a:fillRect/>
          </a:stretch>
        </p:blipFill>
        <p:spPr>
          <a:xfrm>
            <a:off x="4608848" y="2480533"/>
            <a:ext cx="3144502" cy="3467936"/>
          </a:xfrm>
          <a:prstGeom prst="rect">
            <a:avLst/>
          </a:prstGeom>
          <a:ln w="19050">
            <a:solidFill>
              <a:schemeClr val="tx1"/>
            </a:solidFill>
          </a:ln>
        </p:spPr>
      </p:pic>
    </p:spTree>
    <p:extLst>
      <p:ext uri="{BB962C8B-B14F-4D97-AF65-F5344CB8AC3E}">
        <p14:creationId xmlns:p14="http://schemas.microsoft.com/office/powerpoint/2010/main" val="3294580693"/>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D09F8E20-F773-F6C0-4724-A8C5C25FEBD6}"/>
            </a:ext>
          </a:extLst>
        </p:cNvPr>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71A2709B-F126-6F99-C835-D3DDA8402176}"/>
              </a:ext>
            </a:extLst>
          </p:cNvPr>
          <p:cNvSpPr/>
          <p:nvPr/>
        </p:nvSpPr>
        <p:spPr>
          <a:xfrm>
            <a:off x="2312585" y="1527616"/>
            <a:ext cx="7650565" cy="1551438"/>
          </a:xfrm>
          <a:prstGeom prst="round2Same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1400" dirty="0"/>
          </a:p>
        </p:txBody>
      </p:sp>
      <p:sp>
        <p:nvSpPr>
          <p:cNvPr id="7" name="Rectangle: Top Corners Rounded 6">
            <a:extLst>
              <a:ext uri="{FF2B5EF4-FFF2-40B4-BE49-F238E27FC236}">
                <a16:creationId xmlns:a16="http://schemas.microsoft.com/office/drawing/2014/main" id="{E57F00CA-CED2-4DFA-F4F0-8B598303A17E}"/>
              </a:ext>
            </a:extLst>
          </p:cNvPr>
          <p:cNvSpPr/>
          <p:nvPr/>
        </p:nvSpPr>
        <p:spPr>
          <a:xfrm>
            <a:off x="373630" y="5735840"/>
            <a:ext cx="12008870" cy="934579"/>
          </a:xfrm>
          <a:prstGeom prst="round2SameRect">
            <a:avLst>
              <a:gd name="adj1" fmla="val 16667"/>
              <a:gd name="adj2" fmla="val 0"/>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72" dirty="0"/>
          </a:p>
        </p:txBody>
      </p:sp>
      <p:sp>
        <p:nvSpPr>
          <p:cNvPr id="20" name="TextBox 19">
            <a:extLst>
              <a:ext uri="{FF2B5EF4-FFF2-40B4-BE49-F238E27FC236}">
                <a16:creationId xmlns:a16="http://schemas.microsoft.com/office/drawing/2014/main" id="{608B00F4-D30A-2AA8-CB9B-E1E779ED0539}"/>
              </a:ext>
            </a:extLst>
          </p:cNvPr>
          <p:cNvSpPr txBox="1"/>
          <p:nvPr/>
        </p:nvSpPr>
        <p:spPr>
          <a:xfrm>
            <a:off x="2533814" y="1835153"/>
            <a:ext cx="6927410" cy="923330"/>
          </a:xfrm>
          <a:prstGeom prst="rect">
            <a:avLst/>
          </a:prstGeom>
          <a:noFill/>
        </p:spPr>
        <p:txBody>
          <a:bodyPr wrap="square" rtlCol="0">
            <a:spAutoFit/>
          </a:bodyPr>
          <a:lstStyle/>
          <a:p>
            <a:r>
              <a:rPr lang="en-US" b="1" dirty="0">
                <a:latin typeface="Daytona" panose="020F0502020204030204" pitchFamily="34" charset="0"/>
                <a:cs typeface="Angsana New" panose="020B0502040204020203" pitchFamily="18" charset="-34"/>
              </a:rPr>
              <a:t>select Gender,count(*) as TotalBooking</a:t>
            </a:r>
          </a:p>
          <a:p>
            <a:r>
              <a:rPr lang="en-US" b="1" dirty="0">
                <a:latin typeface="Daytona" panose="020F0502020204030204" pitchFamily="34" charset="0"/>
                <a:cs typeface="Angsana New" panose="020B0502040204020203" pitchFamily="18" charset="-34"/>
              </a:rPr>
              <a:t>from booking</a:t>
            </a:r>
          </a:p>
          <a:p>
            <a:r>
              <a:rPr lang="en-US" b="1" dirty="0">
                <a:latin typeface="Daytona" panose="020F0502020204030204" pitchFamily="34" charset="0"/>
                <a:cs typeface="Angsana New" panose="020B0502040204020203" pitchFamily="18" charset="-34"/>
              </a:rPr>
              <a:t>group by gender;</a:t>
            </a:r>
          </a:p>
        </p:txBody>
      </p:sp>
      <p:sp>
        <p:nvSpPr>
          <p:cNvPr id="11" name="TextBox 10">
            <a:extLst>
              <a:ext uri="{FF2B5EF4-FFF2-40B4-BE49-F238E27FC236}">
                <a16:creationId xmlns:a16="http://schemas.microsoft.com/office/drawing/2014/main" id="{BC24F9B9-6A57-978D-266A-BEEAC0A432A2}"/>
              </a:ext>
            </a:extLst>
          </p:cNvPr>
          <p:cNvSpPr txBox="1"/>
          <p:nvPr/>
        </p:nvSpPr>
        <p:spPr>
          <a:xfrm>
            <a:off x="1600199" y="131721"/>
            <a:ext cx="10858501" cy="584775"/>
          </a:xfrm>
          <a:prstGeom prst="rect">
            <a:avLst/>
          </a:prstGeom>
          <a:solidFill>
            <a:schemeClr val="accent4">
              <a:lumMod val="50000"/>
            </a:schemeClr>
          </a:solidFill>
        </p:spPr>
        <p:txBody>
          <a:bodyPr wrap="square" rtlCol="0">
            <a:spAutoFit/>
          </a:bodyPr>
          <a:lstStyle/>
          <a:p>
            <a:pPr algn="ctr"/>
            <a:r>
              <a:rPr lang="en-US" sz="32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20. Count bookings based on gender</a:t>
            </a:r>
            <a:endParaRPr lang="en-US" sz="32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endParaRPr>
          </a:p>
        </p:txBody>
      </p:sp>
      <p:pic>
        <p:nvPicPr>
          <p:cNvPr id="12" name="Picture 11" descr="A blue and white circular sign with a circular design&#10;&#10;AI-generated content may be incorrect.">
            <a:extLst>
              <a:ext uri="{FF2B5EF4-FFF2-40B4-BE49-F238E27FC236}">
                <a16:creationId xmlns:a16="http://schemas.microsoft.com/office/drawing/2014/main" id="{3E470C50-4BEE-C02B-937D-D7A49CA29D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9117" y="-175400"/>
            <a:ext cx="1362853" cy="1362853"/>
          </a:xfrm>
          <a:prstGeom prst="rect">
            <a:avLst/>
          </a:prstGeom>
        </p:spPr>
      </p:pic>
      <p:sp>
        <p:nvSpPr>
          <p:cNvPr id="13" name="Arrow: Right 12">
            <a:extLst>
              <a:ext uri="{FF2B5EF4-FFF2-40B4-BE49-F238E27FC236}">
                <a16:creationId xmlns:a16="http://schemas.microsoft.com/office/drawing/2014/main" id="{9C53EADA-976A-9A04-20B1-342124D7FD10}"/>
              </a:ext>
            </a:extLst>
          </p:cNvPr>
          <p:cNvSpPr/>
          <p:nvPr/>
        </p:nvSpPr>
        <p:spPr>
          <a:xfrm>
            <a:off x="1" y="1501494"/>
            <a:ext cx="1772667" cy="1575452"/>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5DB6975-9584-D07B-E760-26B8E6FCEB81}"/>
              </a:ext>
            </a:extLst>
          </p:cNvPr>
          <p:cNvSpPr txBox="1"/>
          <p:nvPr/>
        </p:nvSpPr>
        <p:spPr>
          <a:xfrm>
            <a:off x="-165386" y="2003002"/>
            <a:ext cx="1766604" cy="584775"/>
          </a:xfrm>
          <a:prstGeom prst="rect">
            <a:avLst/>
          </a:prstGeom>
          <a:noFill/>
        </p:spPr>
        <p:txBody>
          <a:bodyPr wrap="square" rtlCol="0">
            <a:spAutoFit/>
          </a:bodyPr>
          <a:lstStyle/>
          <a:p>
            <a:pPr algn="ctr"/>
            <a:r>
              <a:rPr lang="en-US" sz="3200" b="1" dirty="0"/>
              <a:t>QUERY</a:t>
            </a:r>
          </a:p>
        </p:txBody>
      </p:sp>
      <p:sp>
        <p:nvSpPr>
          <p:cNvPr id="6" name="TextBox 5">
            <a:extLst>
              <a:ext uri="{FF2B5EF4-FFF2-40B4-BE49-F238E27FC236}">
                <a16:creationId xmlns:a16="http://schemas.microsoft.com/office/drawing/2014/main" id="{1FC06E6C-C5CC-B58D-D46F-675833CA9379}"/>
              </a:ext>
            </a:extLst>
          </p:cNvPr>
          <p:cNvSpPr txBox="1"/>
          <p:nvPr/>
        </p:nvSpPr>
        <p:spPr>
          <a:xfrm>
            <a:off x="571500" y="5707344"/>
            <a:ext cx="11856635" cy="1631216"/>
          </a:xfrm>
          <a:prstGeom prst="rect">
            <a:avLst/>
          </a:prstGeom>
          <a:noFill/>
        </p:spPr>
        <p:txBody>
          <a:bodyPr wrap="square" rtlCol="0">
            <a:spAutoFit/>
          </a:bodyPr>
          <a:lstStyle/>
          <a:p>
            <a:r>
              <a:rPr lang="en-US" sz="2000" b="1" dirty="0">
                <a:solidFill>
                  <a:schemeClr val="bg1"/>
                </a:solidFill>
                <a:latin typeface="Segoe UI Black" panose="020B0A02040204020203" pitchFamily="34" charset="0"/>
                <a:ea typeface="Segoe UI Black" panose="020B0A02040204020203" pitchFamily="34" charset="0"/>
              </a:rPr>
              <a:t>SUMMARY; This query counts the total number of bookings based on gender. It groups records using the Gender column. The result shows booking distribution between Male (M) and Female (F) passengers. Useful for understanding gender-wise travel patterns</a:t>
            </a:r>
          </a:p>
          <a:p>
            <a:r>
              <a:rPr lang="en-US" sz="2000" b="1" dirty="0">
                <a:solidFill>
                  <a:schemeClr val="bg1"/>
                </a:solidFill>
                <a:latin typeface="Segoe UI Black" panose="020B0A02040204020203" pitchFamily="34" charset="0"/>
                <a:ea typeface="Segoe UI Black" panose="020B0A02040204020203" pitchFamily="34" charset="0"/>
              </a:rPr>
              <a:t> </a:t>
            </a:r>
          </a:p>
          <a:p>
            <a:endParaRPr lang="en-US" sz="2000" b="1" dirty="0">
              <a:solidFill>
                <a:schemeClr val="bg1"/>
              </a:solidFill>
              <a:latin typeface="Segoe UI Black" panose="020B0A02040204020203" pitchFamily="34" charset="0"/>
              <a:ea typeface="Segoe UI Black" panose="020B0A02040204020203" pitchFamily="34" charset="0"/>
            </a:endParaRPr>
          </a:p>
        </p:txBody>
      </p:sp>
      <p:pic>
        <p:nvPicPr>
          <p:cNvPr id="4" name="Picture 3" descr="A screenshot of a number&#10;&#10;AI-generated content may be incorrect.">
            <a:extLst>
              <a:ext uri="{FF2B5EF4-FFF2-40B4-BE49-F238E27FC236}">
                <a16:creationId xmlns:a16="http://schemas.microsoft.com/office/drawing/2014/main" id="{465D01D5-256E-E8C4-DD59-C85C6BCC8D59}"/>
              </a:ext>
            </a:extLst>
          </p:cNvPr>
          <p:cNvPicPr>
            <a:picLocks noChangeAspect="1"/>
          </p:cNvPicPr>
          <p:nvPr/>
        </p:nvPicPr>
        <p:blipFill>
          <a:blip r:embed="rId3"/>
          <a:stretch>
            <a:fillRect/>
          </a:stretch>
        </p:blipFill>
        <p:spPr>
          <a:xfrm>
            <a:off x="3925789" y="3533550"/>
            <a:ext cx="4576165" cy="1743300"/>
          </a:xfrm>
          <a:prstGeom prst="rect">
            <a:avLst/>
          </a:prstGeom>
          <a:ln w="19050">
            <a:solidFill>
              <a:schemeClr val="tx1"/>
            </a:solidFill>
          </a:ln>
        </p:spPr>
      </p:pic>
    </p:spTree>
    <p:extLst>
      <p:ext uri="{BB962C8B-B14F-4D97-AF65-F5344CB8AC3E}">
        <p14:creationId xmlns:p14="http://schemas.microsoft.com/office/powerpoint/2010/main" val="2138630327"/>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E960B0C1-824A-7280-1223-69F5540F2891}"/>
            </a:ext>
          </a:extLst>
        </p:cNvPr>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31882094-4370-2E62-534B-679C9CF582D1}"/>
              </a:ext>
            </a:extLst>
          </p:cNvPr>
          <p:cNvSpPr/>
          <p:nvPr/>
        </p:nvSpPr>
        <p:spPr>
          <a:xfrm>
            <a:off x="2579285" y="1260916"/>
            <a:ext cx="7650565" cy="1551438"/>
          </a:xfrm>
          <a:prstGeom prst="round2Same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1400" dirty="0"/>
          </a:p>
        </p:txBody>
      </p:sp>
      <p:sp>
        <p:nvSpPr>
          <p:cNvPr id="7" name="Rectangle: Top Corners Rounded 6">
            <a:extLst>
              <a:ext uri="{FF2B5EF4-FFF2-40B4-BE49-F238E27FC236}">
                <a16:creationId xmlns:a16="http://schemas.microsoft.com/office/drawing/2014/main" id="{5B8563E8-C72C-EFCD-C94F-3C47F82A87AE}"/>
              </a:ext>
            </a:extLst>
          </p:cNvPr>
          <p:cNvSpPr/>
          <p:nvPr/>
        </p:nvSpPr>
        <p:spPr>
          <a:xfrm>
            <a:off x="202180" y="6040640"/>
            <a:ext cx="12307320" cy="1077218"/>
          </a:xfrm>
          <a:prstGeom prst="round2SameRect">
            <a:avLst>
              <a:gd name="adj1" fmla="val 16667"/>
              <a:gd name="adj2" fmla="val 0"/>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72" dirty="0"/>
          </a:p>
        </p:txBody>
      </p:sp>
      <p:sp>
        <p:nvSpPr>
          <p:cNvPr id="11" name="TextBox 10">
            <a:extLst>
              <a:ext uri="{FF2B5EF4-FFF2-40B4-BE49-F238E27FC236}">
                <a16:creationId xmlns:a16="http://schemas.microsoft.com/office/drawing/2014/main" id="{8CFEC021-B5AB-6260-31CF-4D165B2F32F4}"/>
              </a:ext>
            </a:extLst>
          </p:cNvPr>
          <p:cNvSpPr txBox="1"/>
          <p:nvPr/>
        </p:nvSpPr>
        <p:spPr>
          <a:xfrm>
            <a:off x="1600199" y="131721"/>
            <a:ext cx="10858501" cy="1077218"/>
          </a:xfrm>
          <a:prstGeom prst="rect">
            <a:avLst/>
          </a:prstGeom>
          <a:solidFill>
            <a:schemeClr val="accent4">
              <a:lumMod val="50000"/>
            </a:schemeClr>
          </a:solidFill>
        </p:spPr>
        <p:txBody>
          <a:bodyPr wrap="square" rtlCol="0">
            <a:spAutoFit/>
          </a:bodyPr>
          <a:lstStyle/>
          <a:p>
            <a:pPr algn="ctr"/>
            <a:r>
              <a:rPr lang="en-US" sz="32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21. Display bookings where passenger age is above average age</a:t>
            </a:r>
            <a:endParaRPr lang="en-US" sz="32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endParaRPr>
          </a:p>
        </p:txBody>
      </p:sp>
      <p:pic>
        <p:nvPicPr>
          <p:cNvPr id="12" name="Picture 11" descr="A blue and white circular sign with a circular design&#10;&#10;AI-generated content may be incorrect.">
            <a:extLst>
              <a:ext uri="{FF2B5EF4-FFF2-40B4-BE49-F238E27FC236}">
                <a16:creationId xmlns:a16="http://schemas.microsoft.com/office/drawing/2014/main" id="{D031FDF1-9A80-C835-D57F-1DED76BCF1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418" y="-302048"/>
            <a:ext cx="1905000" cy="1905000"/>
          </a:xfrm>
          <a:prstGeom prst="rect">
            <a:avLst/>
          </a:prstGeom>
        </p:spPr>
      </p:pic>
      <p:sp>
        <p:nvSpPr>
          <p:cNvPr id="13" name="Arrow: Right 12">
            <a:extLst>
              <a:ext uri="{FF2B5EF4-FFF2-40B4-BE49-F238E27FC236}">
                <a16:creationId xmlns:a16="http://schemas.microsoft.com/office/drawing/2014/main" id="{D5973325-6568-C77C-EEF8-0EB6C11E03FA}"/>
              </a:ext>
            </a:extLst>
          </p:cNvPr>
          <p:cNvSpPr/>
          <p:nvPr/>
        </p:nvSpPr>
        <p:spPr>
          <a:xfrm>
            <a:off x="1" y="1215744"/>
            <a:ext cx="1772667" cy="1575452"/>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56020E3A-0DD5-59DC-6DD1-8D15514B93A1}"/>
              </a:ext>
            </a:extLst>
          </p:cNvPr>
          <p:cNvSpPr txBox="1"/>
          <p:nvPr/>
        </p:nvSpPr>
        <p:spPr>
          <a:xfrm>
            <a:off x="-165386" y="1736302"/>
            <a:ext cx="1766604" cy="584775"/>
          </a:xfrm>
          <a:prstGeom prst="rect">
            <a:avLst/>
          </a:prstGeom>
          <a:noFill/>
        </p:spPr>
        <p:txBody>
          <a:bodyPr wrap="square" rtlCol="0">
            <a:spAutoFit/>
          </a:bodyPr>
          <a:lstStyle/>
          <a:p>
            <a:pPr algn="ctr"/>
            <a:r>
              <a:rPr lang="en-US" sz="3200" b="1" dirty="0"/>
              <a:t>QUERY</a:t>
            </a:r>
          </a:p>
        </p:txBody>
      </p:sp>
      <p:sp>
        <p:nvSpPr>
          <p:cNvPr id="6" name="TextBox 5">
            <a:extLst>
              <a:ext uri="{FF2B5EF4-FFF2-40B4-BE49-F238E27FC236}">
                <a16:creationId xmlns:a16="http://schemas.microsoft.com/office/drawing/2014/main" id="{FDCEAD5C-E52F-6B97-CD2C-82273F209876}"/>
              </a:ext>
            </a:extLst>
          </p:cNvPr>
          <p:cNvSpPr txBox="1"/>
          <p:nvPr/>
        </p:nvSpPr>
        <p:spPr>
          <a:xfrm>
            <a:off x="240280" y="6047420"/>
            <a:ext cx="12307320" cy="1877437"/>
          </a:xfrm>
          <a:prstGeom prst="rect">
            <a:avLst/>
          </a:prstGeom>
          <a:noFill/>
        </p:spPr>
        <p:txBody>
          <a:bodyPr wrap="square" rtlCol="0">
            <a:spAutoFit/>
          </a:bodyPr>
          <a:lstStyle/>
          <a:p>
            <a:r>
              <a:rPr lang="en-US" sz="2000" b="1" dirty="0">
                <a:solidFill>
                  <a:schemeClr val="bg1"/>
                </a:solidFill>
                <a:latin typeface="Segoe UI Black" panose="020B0A02040204020203" pitchFamily="34" charset="0"/>
                <a:ea typeface="Segoe UI Black" panose="020B0A02040204020203" pitchFamily="34" charset="0"/>
              </a:rPr>
              <a:t>SUMMARY;</a:t>
            </a:r>
            <a:r>
              <a:rPr lang="en-US" sz="2000" dirty="0"/>
              <a:t> </a:t>
            </a:r>
            <a:r>
              <a:rPr lang="en-US" b="1" dirty="0">
                <a:solidFill>
                  <a:schemeClr val="bg1"/>
                </a:solidFill>
                <a:latin typeface="Segoe UI Black" panose="020B0A02040204020203" pitchFamily="34" charset="0"/>
                <a:ea typeface="Segoe UI Black" panose="020B0A02040204020203" pitchFamily="34" charset="0"/>
              </a:rPr>
              <a:t>This query displays all bookings where the passenger’s age is greater than the average age of all passengers.It uses a subquery with AVG(Age) to calculate the average age.Only records with Age above average are selected.Total records returned: 87 rows.Helpful for analyzing older passengerbooking trends.</a:t>
            </a:r>
          </a:p>
          <a:p>
            <a:r>
              <a:rPr lang="en-US" sz="2000" b="1" dirty="0">
                <a:solidFill>
                  <a:schemeClr val="bg1"/>
                </a:solidFill>
                <a:latin typeface="Segoe UI Black" panose="020B0A02040204020203" pitchFamily="34" charset="0"/>
                <a:ea typeface="Segoe UI Black" panose="020B0A02040204020203" pitchFamily="34" charset="0"/>
              </a:rPr>
              <a:t> </a:t>
            </a:r>
          </a:p>
          <a:p>
            <a:r>
              <a:rPr lang="en-US" sz="2000" b="1" dirty="0">
                <a:solidFill>
                  <a:schemeClr val="bg1"/>
                </a:solidFill>
                <a:latin typeface="Segoe UI Black" panose="020B0A02040204020203" pitchFamily="34" charset="0"/>
                <a:ea typeface="Segoe UI Black" panose="020B0A02040204020203" pitchFamily="34" charset="0"/>
              </a:rPr>
              <a:t> </a:t>
            </a:r>
          </a:p>
          <a:p>
            <a:endParaRPr lang="en-US" sz="2000" b="1" dirty="0">
              <a:solidFill>
                <a:schemeClr val="bg1"/>
              </a:solidFill>
              <a:latin typeface="Segoe UI Black" panose="020B0A02040204020203" pitchFamily="34" charset="0"/>
              <a:ea typeface="Segoe UI Black" panose="020B0A02040204020203" pitchFamily="34" charset="0"/>
            </a:endParaRPr>
          </a:p>
        </p:txBody>
      </p:sp>
      <p:sp>
        <p:nvSpPr>
          <p:cNvPr id="3" name="TextBox 2">
            <a:extLst>
              <a:ext uri="{FF2B5EF4-FFF2-40B4-BE49-F238E27FC236}">
                <a16:creationId xmlns:a16="http://schemas.microsoft.com/office/drawing/2014/main" id="{682402B0-C48C-B84B-2A98-A8551219BF41}"/>
              </a:ext>
            </a:extLst>
          </p:cNvPr>
          <p:cNvSpPr txBox="1"/>
          <p:nvPr/>
        </p:nvSpPr>
        <p:spPr>
          <a:xfrm>
            <a:off x="3185117" y="1463394"/>
            <a:ext cx="6438900" cy="923330"/>
          </a:xfrm>
          <a:prstGeom prst="rect">
            <a:avLst/>
          </a:prstGeom>
          <a:noFill/>
        </p:spPr>
        <p:txBody>
          <a:bodyPr wrap="square">
            <a:spAutoFit/>
          </a:bodyPr>
          <a:lstStyle/>
          <a:p>
            <a:r>
              <a:rPr lang="en-US" b="1" dirty="0">
                <a:latin typeface="Daytona" panose="020B0604030500040204" pitchFamily="34" charset="0"/>
              </a:rPr>
              <a:t>select *from booking</a:t>
            </a:r>
          </a:p>
          <a:p>
            <a:r>
              <a:rPr lang="en-US" b="1" dirty="0">
                <a:latin typeface="Daytona" panose="020B0604030500040204" pitchFamily="34" charset="0"/>
              </a:rPr>
              <a:t>where age &gt;</a:t>
            </a:r>
          </a:p>
          <a:p>
            <a:r>
              <a:rPr lang="en-US" b="1" dirty="0">
                <a:latin typeface="Daytona" panose="020B0604030500040204" pitchFamily="34" charset="0"/>
              </a:rPr>
              <a:t>(select AVG(Age) from booking);</a:t>
            </a:r>
          </a:p>
        </p:txBody>
      </p:sp>
      <p:pic>
        <p:nvPicPr>
          <p:cNvPr id="9" name="Picture 8" descr="A screenshot of a computer&#10;&#10;AI-generated content may be incorrect.">
            <a:extLst>
              <a:ext uri="{FF2B5EF4-FFF2-40B4-BE49-F238E27FC236}">
                <a16:creationId xmlns:a16="http://schemas.microsoft.com/office/drawing/2014/main" id="{832F372E-3CE0-894C-A151-546D7007CA12}"/>
              </a:ext>
            </a:extLst>
          </p:cNvPr>
          <p:cNvPicPr>
            <a:picLocks noChangeAspect="1"/>
          </p:cNvPicPr>
          <p:nvPr/>
        </p:nvPicPr>
        <p:blipFill>
          <a:blip r:embed="rId3"/>
          <a:stretch>
            <a:fillRect/>
          </a:stretch>
        </p:blipFill>
        <p:spPr>
          <a:xfrm>
            <a:off x="2731685" y="2896788"/>
            <a:ext cx="7498165" cy="3066198"/>
          </a:xfrm>
          <a:prstGeom prst="rect">
            <a:avLst/>
          </a:prstGeom>
          <a:ln w="19050">
            <a:solidFill>
              <a:schemeClr val="tx1"/>
            </a:solidFill>
          </a:ln>
        </p:spPr>
      </p:pic>
    </p:spTree>
    <p:extLst>
      <p:ext uri="{BB962C8B-B14F-4D97-AF65-F5344CB8AC3E}">
        <p14:creationId xmlns:p14="http://schemas.microsoft.com/office/powerpoint/2010/main" val="1184163776"/>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6D276279-AEF9-F94D-AC28-D8FCF41EF3B8}"/>
            </a:ext>
          </a:extLst>
        </p:cNvPr>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6BB6CFFD-A4B4-714E-C4CD-7AFD0505B935}"/>
              </a:ext>
            </a:extLst>
          </p:cNvPr>
          <p:cNvSpPr/>
          <p:nvPr/>
        </p:nvSpPr>
        <p:spPr>
          <a:xfrm>
            <a:off x="2579285" y="1644761"/>
            <a:ext cx="9650815" cy="1845358"/>
          </a:xfrm>
          <a:prstGeom prst="round2Same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1400" dirty="0"/>
          </a:p>
        </p:txBody>
      </p:sp>
      <p:sp>
        <p:nvSpPr>
          <p:cNvPr id="7" name="Rectangle: Top Corners Rounded 6">
            <a:extLst>
              <a:ext uri="{FF2B5EF4-FFF2-40B4-BE49-F238E27FC236}">
                <a16:creationId xmlns:a16="http://schemas.microsoft.com/office/drawing/2014/main" id="{D2D45884-D7AA-5BBA-5E33-507A214E6451}"/>
              </a:ext>
            </a:extLst>
          </p:cNvPr>
          <p:cNvSpPr/>
          <p:nvPr/>
        </p:nvSpPr>
        <p:spPr>
          <a:xfrm>
            <a:off x="202180" y="6040640"/>
            <a:ext cx="12307320" cy="1077218"/>
          </a:xfrm>
          <a:prstGeom prst="round2SameRect">
            <a:avLst>
              <a:gd name="adj1" fmla="val 16667"/>
              <a:gd name="adj2" fmla="val 0"/>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72" dirty="0"/>
          </a:p>
        </p:txBody>
      </p:sp>
      <p:sp>
        <p:nvSpPr>
          <p:cNvPr id="11" name="TextBox 10">
            <a:extLst>
              <a:ext uri="{FF2B5EF4-FFF2-40B4-BE49-F238E27FC236}">
                <a16:creationId xmlns:a16="http://schemas.microsoft.com/office/drawing/2014/main" id="{D368F917-F643-DBB5-8F28-7CAD661F5393}"/>
              </a:ext>
            </a:extLst>
          </p:cNvPr>
          <p:cNvSpPr txBox="1"/>
          <p:nvPr/>
        </p:nvSpPr>
        <p:spPr>
          <a:xfrm>
            <a:off x="1676399" y="131721"/>
            <a:ext cx="10858501" cy="1446550"/>
          </a:xfrm>
          <a:prstGeom prst="rect">
            <a:avLst/>
          </a:prstGeom>
          <a:solidFill>
            <a:schemeClr val="accent4">
              <a:lumMod val="50000"/>
            </a:schemeClr>
          </a:solidFill>
        </p:spPr>
        <p:txBody>
          <a:bodyPr wrap="square" rtlCol="0">
            <a:spAutoFit/>
          </a:bodyPr>
          <a:lstStyle/>
          <a:p>
            <a:pPr algn="ctr"/>
            <a:r>
              <a:rPr lang="en-US" sz="32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  22. </a:t>
            </a:r>
            <a:r>
              <a:rPr lang="en-US" sz="28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Identify passengers who have used more than one</a:t>
            </a:r>
          </a:p>
          <a:p>
            <a:pPr algn="ctr"/>
            <a:r>
              <a:rPr lang="en-US" sz="28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payment mode for their bookings and display their names</a:t>
            </a:r>
          </a:p>
          <a:p>
            <a:pPr algn="ctr"/>
            <a:r>
              <a:rPr lang="en-US" sz="28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along with one of the payment modes used. </a:t>
            </a:r>
            <a:endParaRPr lang="en-US" sz="28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endParaRPr>
          </a:p>
        </p:txBody>
      </p:sp>
      <p:pic>
        <p:nvPicPr>
          <p:cNvPr id="12" name="Picture 11" descr="A blue and white circular sign with a circular design&#10;&#10;AI-generated content may be incorrect.">
            <a:extLst>
              <a:ext uri="{FF2B5EF4-FFF2-40B4-BE49-F238E27FC236}">
                <a16:creationId xmlns:a16="http://schemas.microsoft.com/office/drawing/2014/main" id="{C3DB90E7-4B98-4771-2925-EE9D960428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85" y="-460467"/>
            <a:ext cx="2636270" cy="2636270"/>
          </a:xfrm>
          <a:prstGeom prst="rect">
            <a:avLst/>
          </a:prstGeom>
        </p:spPr>
      </p:pic>
      <p:sp>
        <p:nvSpPr>
          <p:cNvPr id="13" name="Arrow: Right 12">
            <a:extLst>
              <a:ext uri="{FF2B5EF4-FFF2-40B4-BE49-F238E27FC236}">
                <a16:creationId xmlns:a16="http://schemas.microsoft.com/office/drawing/2014/main" id="{774BF39F-589D-615B-D8A3-765A545BFC67}"/>
              </a:ext>
            </a:extLst>
          </p:cNvPr>
          <p:cNvSpPr/>
          <p:nvPr/>
        </p:nvSpPr>
        <p:spPr>
          <a:xfrm>
            <a:off x="1" y="1615794"/>
            <a:ext cx="1772667" cy="1575452"/>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835FC9B3-7E5F-916B-054E-3EA6CF234A0D}"/>
              </a:ext>
            </a:extLst>
          </p:cNvPr>
          <p:cNvSpPr txBox="1"/>
          <p:nvPr/>
        </p:nvSpPr>
        <p:spPr>
          <a:xfrm>
            <a:off x="-165386" y="2136352"/>
            <a:ext cx="1766604" cy="584775"/>
          </a:xfrm>
          <a:prstGeom prst="rect">
            <a:avLst/>
          </a:prstGeom>
          <a:noFill/>
        </p:spPr>
        <p:txBody>
          <a:bodyPr wrap="square" rtlCol="0">
            <a:spAutoFit/>
          </a:bodyPr>
          <a:lstStyle/>
          <a:p>
            <a:pPr algn="ctr"/>
            <a:r>
              <a:rPr lang="en-US" sz="3200" b="1" dirty="0"/>
              <a:t>QUERY</a:t>
            </a:r>
          </a:p>
        </p:txBody>
      </p:sp>
      <p:sp>
        <p:nvSpPr>
          <p:cNvPr id="6" name="TextBox 5">
            <a:extLst>
              <a:ext uri="{FF2B5EF4-FFF2-40B4-BE49-F238E27FC236}">
                <a16:creationId xmlns:a16="http://schemas.microsoft.com/office/drawing/2014/main" id="{C689A6FC-DF5F-8A9A-E9CB-09A0007D5EB4}"/>
              </a:ext>
            </a:extLst>
          </p:cNvPr>
          <p:cNvSpPr txBox="1"/>
          <p:nvPr/>
        </p:nvSpPr>
        <p:spPr>
          <a:xfrm>
            <a:off x="250907" y="5970803"/>
            <a:ext cx="12430043" cy="1538883"/>
          </a:xfrm>
          <a:prstGeom prst="rect">
            <a:avLst/>
          </a:prstGeom>
          <a:noFill/>
        </p:spPr>
        <p:txBody>
          <a:bodyPr wrap="square" rtlCol="0">
            <a:spAutoFit/>
          </a:bodyPr>
          <a:lstStyle/>
          <a:p>
            <a:r>
              <a:rPr lang="en-US" sz="2000" b="1" dirty="0">
                <a:solidFill>
                  <a:schemeClr val="bg1"/>
                </a:solidFill>
                <a:latin typeface="Segoe UI Black" panose="020B0A02040204020203" pitchFamily="34" charset="0"/>
                <a:ea typeface="Segoe UI Black" panose="020B0A02040204020203" pitchFamily="34" charset="0"/>
              </a:rPr>
              <a:t>SUMMARY;</a:t>
            </a:r>
            <a:r>
              <a:rPr lang="en-US" sz="2000" dirty="0"/>
              <a:t> </a:t>
            </a:r>
            <a:r>
              <a:rPr lang="en-US" b="1" dirty="0">
                <a:solidFill>
                  <a:schemeClr val="bg1"/>
                </a:solidFill>
                <a:latin typeface="Segoe UI Black" panose="020B0A02040204020203" pitchFamily="34" charset="0"/>
                <a:ea typeface="Segoe UI Black" panose="020B0A02040204020203" pitchFamily="34" charset="0"/>
              </a:rPr>
              <a:t>This query finds passengers who used more than one payment mode. It joins Booking and Payment tables using BookingID. GROUP_CONCAT shows all payment modes used by each passenger. HAVING COUNT(DISTINCT PaymentMode) &gt; 1 filters such passengers.It helps understand multiple payment usage patterns of passengers.</a:t>
            </a:r>
          </a:p>
          <a:p>
            <a:r>
              <a:rPr lang="en-US" sz="2000" dirty="0"/>
              <a:t> </a:t>
            </a:r>
            <a:endParaRPr lang="en-US" sz="2000" b="1" dirty="0">
              <a:solidFill>
                <a:schemeClr val="bg1"/>
              </a:solidFill>
              <a:latin typeface="Segoe UI Black" panose="020B0A02040204020203" pitchFamily="34" charset="0"/>
              <a:ea typeface="Segoe UI Black" panose="020B0A02040204020203" pitchFamily="34" charset="0"/>
            </a:endParaRPr>
          </a:p>
        </p:txBody>
      </p:sp>
      <p:sp>
        <p:nvSpPr>
          <p:cNvPr id="3" name="TextBox 2">
            <a:extLst>
              <a:ext uri="{FF2B5EF4-FFF2-40B4-BE49-F238E27FC236}">
                <a16:creationId xmlns:a16="http://schemas.microsoft.com/office/drawing/2014/main" id="{D453C903-A821-5BBA-D56D-6C5886A638C5}"/>
              </a:ext>
            </a:extLst>
          </p:cNvPr>
          <p:cNvSpPr txBox="1"/>
          <p:nvPr/>
        </p:nvSpPr>
        <p:spPr>
          <a:xfrm>
            <a:off x="3185117" y="1844394"/>
            <a:ext cx="6438900" cy="369332"/>
          </a:xfrm>
          <a:prstGeom prst="rect">
            <a:avLst/>
          </a:prstGeom>
          <a:noFill/>
        </p:spPr>
        <p:txBody>
          <a:bodyPr wrap="square">
            <a:spAutoFit/>
          </a:bodyPr>
          <a:lstStyle/>
          <a:p>
            <a:endParaRPr lang="en-US" b="1" dirty="0">
              <a:latin typeface="Daytona" panose="020B0604030500040204" pitchFamily="34" charset="0"/>
            </a:endParaRPr>
          </a:p>
        </p:txBody>
      </p:sp>
      <p:sp>
        <p:nvSpPr>
          <p:cNvPr id="4" name="TextBox 3">
            <a:extLst>
              <a:ext uri="{FF2B5EF4-FFF2-40B4-BE49-F238E27FC236}">
                <a16:creationId xmlns:a16="http://schemas.microsoft.com/office/drawing/2014/main" id="{2A709F8F-8AE9-6262-1CF5-B89A5EC19206}"/>
              </a:ext>
            </a:extLst>
          </p:cNvPr>
          <p:cNvSpPr txBox="1"/>
          <p:nvPr/>
        </p:nvSpPr>
        <p:spPr>
          <a:xfrm>
            <a:off x="2914650" y="1685862"/>
            <a:ext cx="9315450" cy="1754326"/>
          </a:xfrm>
          <a:prstGeom prst="rect">
            <a:avLst/>
          </a:prstGeom>
          <a:noFill/>
        </p:spPr>
        <p:txBody>
          <a:bodyPr wrap="square">
            <a:spAutoFit/>
          </a:bodyPr>
          <a:lstStyle/>
          <a:p>
            <a:r>
              <a:rPr lang="en-US" b="1" dirty="0">
                <a:latin typeface="Daytona" panose="020B0604030500040204" pitchFamily="34" charset="0"/>
              </a:rPr>
              <a:t>select B.PassengerName,group_concat(P.PaymentMode) AS PaymentMode</a:t>
            </a:r>
          </a:p>
          <a:p>
            <a:r>
              <a:rPr lang="en-US" b="1" dirty="0">
                <a:latin typeface="Daytona" panose="020B0604030500040204" pitchFamily="34" charset="0"/>
              </a:rPr>
              <a:t>from Booking as B</a:t>
            </a:r>
          </a:p>
          <a:p>
            <a:r>
              <a:rPr lang="en-US" b="1" dirty="0">
                <a:latin typeface="Daytona" panose="020B0604030500040204" pitchFamily="34" charset="0"/>
              </a:rPr>
              <a:t>join Payment as p</a:t>
            </a:r>
          </a:p>
          <a:p>
            <a:r>
              <a:rPr lang="en-US" b="1" dirty="0">
                <a:latin typeface="Daytona" panose="020B0604030500040204" pitchFamily="34" charset="0"/>
              </a:rPr>
              <a:t>on B.BookingId = P.BookingID</a:t>
            </a:r>
          </a:p>
          <a:p>
            <a:r>
              <a:rPr lang="en-US" b="1" dirty="0">
                <a:latin typeface="Daytona" panose="020B0604030500040204" pitchFamily="34" charset="0"/>
              </a:rPr>
              <a:t>group by B.PassengerName</a:t>
            </a:r>
          </a:p>
          <a:p>
            <a:r>
              <a:rPr lang="en-US" b="1" dirty="0">
                <a:latin typeface="Daytona" panose="020B0604030500040204" pitchFamily="34" charset="0"/>
              </a:rPr>
              <a:t>having count(distinct P.PaymentMode) &gt;1 ;</a:t>
            </a:r>
          </a:p>
        </p:txBody>
      </p:sp>
      <p:pic>
        <p:nvPicPr>
          <p:cNvPr id="10" name="Picture 9" descr="A screenshot of a computer&#10;&#10;AI-generated content may be incorrect.">
            <a:extLst>
              <a:ext uri="{FF2B5EF4-FFF2-40B4-BE49-F238E27FC236}">
                <a16:creationId xmlns:a16="http://schemas.microsoft.com/office/drawing/2014/main" id="{D6587462-5724-0937-198B-28620ED646DE}"/>
              </a:ext>
            </a:extLst>
          </p:cNvPr>
          <p:cNvPicPr>
            <a:picLocks noChangeAspect="1"/>
          </p:cNvPicPr>
          <p:nvPr/>
        </p:nvPicPr>
        <p:blipFill>
          <a:blip r:embed="rId3"/>
          <a:stretch>
            <a:fillRect/>
          </a:stretch>
        </p:blipFill>
        <p:spPr>
          <a:xfrm>
            <a:off x="4813411" y="3524970"/>
            <a:ext cx="4749689" cy="2452906"/>
          </a:xfrm>
          <a:prstGeom prst="rect">
            <a:avLst/>
          </a:prstGeom>
          <a:ln w="19050">
            <a:solidFill>
              <a:schemeClr val="tx1"/>
            </a:solidFill>
          </a:ln>
        </p:spPr>
      </p:pic>
    </p:spTree>
    <p:extLst>
      <p:ext uri="{BB962C8B-B14F-4D97-AF65-F5344CB8AC3E}">
        <p14:creationId xmlns:p14="http://schemas.microsoft.com/office/powerpoint/2010/main" val="3531764135"/>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2819C471-4BCB-2F6D-9E31-AF54F1A7D9EB}"/>
            </a:ext>
          </a:extLst>
        </p:cNvPr>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2D6C4156-DBEC-6536-F13C-09CFF2A16437}"/>
              </a:ext>
            </a:extLst>
          </p:cNvPr>
          <p:cNvSpPr/>
          <p:nvPr/>
        </p:nvSpPr>
        <p:spPr>
          <a:xfrm>
            <a:off x="2674536" y="1530461"/>
            <a:ext cx="7783904" cy="1488381"/>
          </a:xfrm>
          <a:prstGeom prst="round2Same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1400" dirty="0"/>
          </a:p>
        </p:txBody>
      </p:sp>
      <p:sp>
        <p:nvSpPr>
          <p:cNvPr id="7" name="Rectangle: Top Corners Rounded 6">
            <a:extLst>
              <a:ext uri="{FF2B5EF4-FFF2-40B4-BE49-F238E27FC236}">
                <a16:creationId xmlns:a16="http://schemas.microsoft.com/office/drawing/2014/main" id="{53A5AF7D-6DE0-B4F2-9BD2-C14515D512DD}"/>
              </a:ext>
            </a:extLst>
          </p:cNvPr>
          <p:cNvSpPr/>
          <p:nvPr/>
        </p:nvSpPr>
        <p:spPr>
          <a:xfrm>
            <a:off x="202180" y="5450090"/>
            <a:ext cx="12307320" cy="1077218"/>
          </a:xfrm>
          <a:prstGeom prst="round2SameRect">
            <a:avLst>
              <a:gd name="adj1" fmla="val 16667"/>
              <a:gd name="adj2" fmla="val 0"/>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72" dirty="0"/>
          </a:p>
        </p:txBody>
      </p:sp>
      <p:sp>
        <p:nvSpPr>
          <p:cNvPr id="11" name="TextBox 10">
            <a:extLst>
              <a:ext uri="{FF2B5EF4-FFF2-40B4-BE49-F238E27FC236}">
                <a16:creationId xmlns:a16="http://schemas.microsoft.com/office/drawing/2014/main" id="{8BCD4069-931A-4D37-6702-F85E9CEEB4D0}"/>
              </a:ext>
            </a:extLst>
          </p:cNvPr>
          <p:cNvSpPr txBox="1"/>
          <p:nvPr/>
        </p:nvSpPr>
        <p:spPr>
          <a:xfrm>
            <a:off x="1676399" y="131721"/>
            <a:ext cx="10858501" cy="1077218"/>
          </a:xfrm>
          <a:prstGeom prst="rect">
            <a:avLst/>
          </a:prstGeom>
          <a:solidFill>
            <a:schemeClr val="accent4">
              <a:lumMod val="50000"/>
            </a:schemeClr>
          </a:solidFill>
        </p:spPr>
        <p:txBody>
          <a:bodyPr wrap="square" rtlCol="0">
            <a:spAutoFit/>
          </a:bodyPr>
          <a:lstStyle/>
          <a:p>
            <a:pPr algn="ctr"/>
            <a:r>
              <a:rPr lang="en-US" sz="32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  23. Identify the date on which the highest number of bookings were made in the system. </a:t>
            </a:r>
            <a:endParaRPr lang="en-US" sz="28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endParaRPr>
          </a:p>
        </p:txBody>
      </p:sp>
      <p:pic>
        <p:nvPicPr>
          <p:cNvPr id="12" name="Picture 11" descr="A blue and white circular sign with a circular design&#10;&#10;AI-generated content may be incorrect.">
            <a:extLst>
              <a:ext uri="{FF2B5EF4-FFF2-40B4-BE49-F238E27FC236}">
                <a16:creationId xmlns:a16="http://schemas.microsoft.com/office/drawing/2014/main" id="{D4AAC595-890B-C19A-3A59-7FD0C02C0D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459" y="-315416"/>
            <a:ext cx="2054143" cy="2054143"/>
          </a:xfrm>
          <a:prstGeom prst="rect">
            <a:avLst/>
          </a:prstGeom>
        </p:spPr>
      </p:pic>
      <p:sp>
        <p:nvSpPr>
          <p:cNvPr id="13" name="Arrow: Right 12">
            <a:extLst>
              <a:ext uri="{FF2B5EF4-FFF2-40B4-BE49-F238E27FC236}">
                <a16:creationId xmlns:a16="http://schemas.microsoft.com/office/drawing/2014/main" id="{3B3A3633-A5F2-EEC8-B8B2-1E920A59FB86}"/>
              </a:ext>
            </a:extLst>
          </p:cNvPr>
          <p:cNvSpPr/>
          <p:nvPr/>
        </p:nvSpPr>
        <p:spPr>
          <a:xfrm>
            <a:off x="1" y="1615794"/>
            <a:ext cx="1772667" cy="1575452"/>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E5E0D3E0-998A-2971-C16E-28951C162E4B}"/>
              </a:ext>
            </a:extLst>
          </p:cNvPr>
          <p:cNvSpPr txBox="1"/>
          <p:nvPr/>
        </p:nvSpPr>
        <p:spPr>
          <a:xfrm>
            <a:off x="-165386" y="2136352"/>
            <a:ext cx="1766604" cy="584775"/>
          </a:xfrm>
          <a:prstGeom prst="rect">
            <a:avLst/>
          </a:prstGeom>
          <a:noFill/>
        </p:spPr>
        <p:txBody>
          <a:bodyPr wrap="square" rtlCol="0">
            <a:spAutoFit/>
          </a:bodyPr>
          <a:lstStyle/>
          <a:p>
            <a:pPr algn="ctr"/>
            <a:r>
              <a:rPr lang="en-US" sz="3200" b="1" dirty="0"/>
              <a:t>QUERY</a:t>
            </a:r>
          </a:p>
        </p:txBody>
      </p:sp>
      <p:sp>
        <p:nvSpPr>
          <p:cNvPr id="6" name="TextBox 5">
            <a:extLst>
              <a:ext uri="{FF2B5EF4-FFF2-40B4-BE49-F238E27FC236}">
                <a16:creationId xmlns:a16="http://schemas.microsoft.com/office/drawing/2014/main" id="{53C09E1E-5590-163C-A7BA-2FD90C680666}"/>
              </a:ext>
            </a:extLst>
          </p:cNvPr>
          <p:cNvSpPr txBox="1"/>
          <p:nvPr/>
        </p:nvSpPr>
        <p:spPr>
          <a:xfrm>
            <a:off x="357459" y="5486966"/>
            <a:ext cx="12323491" cy="1323439"/>
          </a:xfrm>
          <a:prstGeom prst="rect">
            <a:avLst/>
          </a:prstGeom>
          <a:noFill/>
        </p:spPr>
        <p:txBody>
          <a:bodyPr wrap="square" rtlCol="0">
            <a:spAutoFit/>
          </a:bodyPr>
          <a:lstStyle/>
          <a:p>
            <a:r>
              <a:rPr lang="en-US" sz="2000" b="1" dirty="0">
                <a:solidFill>
                  <a:schemeClr val="bg1"/>
                </a:solidFill>
                <a:latin typeface="Segoe UI Black" panose="020B0A02040204020203" pitchFamily="34" charset="0"/>
                <a:ea typeface="Segoe UI Black" panose="020B0A02040204020203" pitchFamily="34" charset="0"/>
              </a:rPr>
              <a:t>SUMMARY;</a:t>
            </a:r>
            <a:r>
              <a:rPr lang="en-US" sz="2000" dirty="0"/>
              <a:t> </a:t>
            </a:r>
            <a:r>
              <a:rPr lang="en-US" sz="2000" b="1" dirty="0">
                <a:solidFill>
                  <a:schemeClr val="bg1"/>
                </a:solidFill>
                <a:latin typeface="Segoe UI Black" panose="020B0A02040204020203" pitchFamily="34" charset="0"/>
                <a:ea typeface="Segoe UI Black" panose="020B0A02040204020203" pitchFamily="34" charset="0"/>
              </a:rPr>
              <a:t>This query groups bookings by DateOfJourney. It counts total bookings for each date. Results are sorted in descending order. The date with the highest bookings comes first.2024-07-05 has the maximum bookings (3).</a:t>
            </a:r>
          </a:p>
          <a:p>
            <a:r>
              <a:rPr lang="en-US" sz="2000" dirty="0"/>
              <a:t> </a:t>
            </a:r>
            <a:endParaRPr lang="en-US" sz="2000" b="1" dirty="0">
              <a:solidFill>
                <a:schemeClr val="bg1"/>
              </a:solidFill>
              <a:latin typeface="Segoe UI Black" panose="020B0A02040204020203" pitchFamily="34" charset="0"/>
              <a:ea typeface="Segoe UI Black" panose="020B0A02040204020203" pitchFamily="34" charset="0"/>
            </a:endParaRPr>
          </a:p>
        </p:txBody>
      </p:sp>
      <p:sp>
        <p:nvSpPr>
          <p:cNvPr id="3" name="TextBox 2">
            <a:extLst>
              <a:ext uri="{FF2B5EF4-FFF2-40B4-BE49-F238E27FC236}">
                <a16:creationId xmlns:a16="http://schemas.microsoft.com/office/drawing/2014/main" id="{2294FBFB-504D-6040-C41E-99CF17E7FF05}"/>
              </a:ext>
            </a:extLst>
          </p:cNvPr>
          <p:cNvSpPr txBox="1"/>
          <p:nvPr/>
        </p:nvSpPr>
        <p:spPr>
          <a:xfrm>
            <a:off x="3185117" y="1844394"/>
            <a:ext cx="6438900" cy="369332"/>
          </a:xfrm>
          <a:prstGeom prst="rect">
            <a:avLst/>
          </a:prstGeom>
          <a:noFill/>
        </p:spPr>
        <p:txBody>
          <a:bodyPr wrap="square">
            <a:spAutoFit/>
          </a:bodyPr>
          <a:lstStyle/>
          <a:p>
            <a:endParaRPr lang="en-US" b="1" dirty="0">
              <a:latin typeface="Daytona" panose="020B0604030500040204" pitchFamily="34" charset="0"/>
            </a:endParaRPr>
          </a:p>
        </p:txBody>
      </p:sp>
      <p:sp>
        <p:nvSpPr>
          <p:cNvPr id="4" name="TextBox 3">
            <a:extLst>
              <a:ext uri="{FF2B5EF4-FFF2-40B4-BE49-F238E27FC236}">
                <a16:creationId xmlns:a16="http://schemas.microsoft.com/office/drawing/2014/main" id="{A4D2644F-26D7-DDC8-00FA-ABA315D066CB}"/>
              </a:ext>
            </a:extLst>
          </p:cNvPr>
          <p:cNvSpPr txBox="1"/>
          <p:nvPr/>
        </p:nvSpPr>
        <p:spPr>
          <a:xfrm>
            <a:off x="3009900" y="1695041"/>
            <a:ext cx="7513412" cy="1200329"/>
          </a:xfrm>
          <a:prstGeom prst="rect">
            <a:avLst/>
          </a:prstGeom>
          <a:noFill/>
        </p:spPr>
        <p:txBody>
          <a:bodyPr wrap="square">
            <a:spAutoFit/>
          </a:bodyPr>
          <a:lstStyle/>
          <a:p>
            <a:r>
              <a:rPr lang="en-US" b="1" dirty="0">
                <a:latin typeface="Daytona" panose="020B0604030500040204" pitchFamily="34" charset="0"/>
              </a:rPr>
              <a:t>select DateOfJourney,count(*) as TotalBooking</a:t>
            </a:r>
          </a:p>
          <a:p>
            <a:r>
              <a:rPr lang="en-US" b="1" dirty="0">
                <a:latin typeface="Daytona" panose="020B0604030500040204" pitchFamily="34" charset="0"/>
              </a:rPr>
              <a:t>from booking</a:t>
            </a:r>
          </a:p>
          <a:p>
            <a:r>
              <a:rPr lang="en-US" b="1" dirty="0">
                <a:latin typeface="Daytona" panose="020B0604030500040204" pitchFamily="34" charset="0"/>
              </a:rPr>
              <a:t>group by DateOfJourney</a:t>
            </a:r>
          </a:p>
          <a:p>
            <a:r>
              <a:rPr lang="en-US" b="1" dirty="0">
                <a:latin typeface="Daytona" panose="020B0604030500040204" pitchFamily="34" charset="0"/>
              </a:rPr>
              <a:t>order by TotalBooking desc;</a:t>
            </a:r>
          </a:p>
        </p:txBody>
      </p:sp>
      <p:pic>
        <p:nvPicPr>
          <p:cNvPr id="8" name="Picture 7">
            <a:extLst>
              <a:ext uri="{FF2B5EF4-FFF2-40B4-BE49-F238E27FC236}">
                <a16:creationId xmlns:a16="http://schemas.microsoft.com/office/drawing/2014/main" id="{CF82B020-1073-D1C5-C8C4-9AE6A733F20C}"/>
              </a:ext>
            </a:extLst>
          </p:cNvPr>
          <p:cNvPicPr>
            <a:picLocks noChangeAspect="1"/>
          </p:cNvPicPr>
          <p:nvPr/>
        </p:nvPicPr>
        <p:blipFill>
          <a:blip r:embed="rId3"/>
          <a:stretch>
            <a:fillRect/>
          </a:stretch>
        </p:blipFill>
        <p:spPr>
          <a:xfrm>
            <a:off x="3465199" y="3516181"/>
            <a:ext cx="6450414" cy="1459830"/>
          </a:xfrm>
          <a:prstGeom prst="rect">
            <a:avLst/>
          </a:prstGeom>
          <a:ln w="19050">
            <a:solidFill>
              <a:schemeClr val="tx1"/>
            </a:solidFill>
          </a:ln>
        </p:spPr>
      </p:pic>
    </p:spTree>
    <p:extLst>
      <p:ext uri="{BB962C8B-B14F-4D97-AF65-F5344CB8AC3E}">
        <p14:creationId xmlns:p14="http://schemas.microsoft.com/office/powerpoint/2010/main" val="1876603021"/>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0B36D0A7-EFE6-16B2-BFE6-A339454993B3}"/>
            </a:ext>
          </a:extLst>
        </p:cNvPr>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0FDECDD3-619E-C93A-115B-3B30FECFB5E3}"/>
              </a:ext>
            </a:extLst>
          </p:cNvPr>
          <p:cNvSpPr/>
          <p:nvPr/>
        </p:nvSpPr>
        <p:spPr>
          <a:xfrm>
            <a:off x="2674536" y="1263761"/>
            <a:ext cx="7783904" cy="1488381"/>
          </a:xfrm>
          <a:prstGeom prst="round2Same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1400" dirty="0"/>
          </a:p>
        </p:txBody>
      </p:sp>
      <p:sp>
        <p:nvSpPr>
          <p:cNvPr id="7" name="Rectangle: Top Corners Rounded 6">
            <a:extLst>
              <a:ext uri="{FF2B5EF4-FFF2-40B4-BE49-F238E27FC236}">
                <a16:creationId xmlns:a16="http://schemas.microsoft.com/office/drawing/2014/main" id="{95C34F4C-B225-0FCD-8E80-9C402595062E}"/>
              </a:ext>
            </a:extLst>
          </p:cNvPr>
          <p:cNvSpPr/>
          <p:nvPr/>
        </p:nvSpPr>
        <p:spPr>
          <a:xfrm>
            <a:off x="91564" y="5956468"/>
            <a:ext cx="12494135" cy="1077218"/>
          </a:xfrm>
          <a:prstGeom prst="round2SameRect">
            <a:avLst>
              <a:gd name="adj1" fmla="val 16667"/>
              <a:gd name="adj2" fmla="val 0"/>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72" dirty="0"/>
          </a:p>
        </p:txBody>
      </p:sp>
      <p:sp>
        <p:nvSpPr>
          <p:cNvPr id="11" name="TextBox 10">
            <a:extLst>
              <a:ext uri="{FF2B5EF4-FFF2-40B4-BE49-F238E27FC236}">
                <a16:creationId xmlns:a16="http://schemas.microsoft.com/office/drawing/2014/main" id="{E4B5AC1B-AF9F-0121-43F7-809CECC3A891}"/>
              </a:ext>
            </a:extLst>
          </p:cNvPr>
          <p:cNvSpPr txBox="1"/>
          <p:nvPr/>
        </p:nvSpPr>
        <p:spPr>
          <a:xfrm>
            <a:off x="1676399" y="131721"/>
            <a:ext cx="10858501" cy="1077218"/>
          </a:xfrm>
          <a:prstGeom prst="rect">
            <a:avLst/>
          </a:prstGeom>
          <a:solidFill>
            <a:schemeClr val="accent4">
              <a:lumMod val="50000"/>
            </a:schemeClr>
          </a:solidFill>
        </p:spPr>
        <p:txBody>
          <a:bodyPr wrap="square" rtlCol="0">
            <a:spAutoFit/>
          </a:bodyPr>
          <a:lstStyle/>
          <a:p>
            <a:pPr algn="ctr"/>
            <a:r>
              <a:rPr lang="en-US" sz="32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  24. Show each passenger for a train along with their rank based on age (oldest → youngest). </a:t>
            </a:r>
            <a:endParaRPr lang="en-US" sz="28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endParaRPr>
          </a:p>
        </p:txBody>
      </p:sp>
      <p:pic>
        <p:nvPicPr>
          <p:cNvPr id="12" name="Picture 11" descr="A blue and white circular sign with a circular design&#10;&#10;AI-generated content may be incorrect.">
            <a:extLst>
              <a:ext uri="{FF2B5EF4-FFF2-40B4-BE49-F238E27FC236}">
                <a16:creationId xmlns:a16="http://schemas.microsoft.com/office/drawing/2014/main" id="{0ED372A6-2950-93A8-0BD1-5599611A20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459" y="-315416"/>
            <a:ext cx="2054143" cy="2054143"/>
          </a:xfrm>
          <a:prstGeom prst="rect">
            <a:avLst/>
          </a:prstGeom>
        </p:spPr>
      </p:pic>
      <p:sp>
        <p:nvSpPr>
          <p:cNvPr id="13" name="Arrow: Right 12">
            <a:extLst>
              <a:ext uri="{FF2B5EF4-FFF2-40B4-BE49-F238E27FC236}">
                <a16:creationId xmlns:a16="http://schemas.microsoft.com/office/drawing/2014/main" id="{50AA7897-AEA7-6C2D-5B6E-221682CDBA8A}"/>
              </a:ext>
            </a:extLst>
          </p:cNvPr>
          <p:cNvSpPr/>
          <p:nvPr/>
        </p:nvSpPr>
        <p:spPr>
          <a:xfrm>
            <a:off x="1" y="1615794"/>
            <a:ext cx="1772667" cy="1575452"/>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35015DE3-F792-C58C-8A6B-F01DD2589AD9}"/>
              </a:ext>
            </a:extLst>
          </p:cNvPr>
          <p:cNvSpPr txBox="1"/>
          <p:nvPr/>
        </p:nvSpPr>
        <p:spPr>
          <a:xfrm>
            <a:off x="-165386" y="2136352"/>
            <a:ext cx="1766604" cy="584775"/>
          </a:xfrm>
          <a:prstGeom prst="rect">
            <a:avLst/>
          </a:prstGeom>
          <a:noFill/>
        </p:spPr>
        <p:txBody>
          <a:bodyPr wrap="square" rtlCol="0">
            <a:spAutoFit/>
          </a:bodyPr>
          <a:lstStyle/>
          <a:p>
            <a:pPr algn="ctr"/>
            <a:r>
              <a:rPr lang="en-US" sz="3200" b="1" dirty="0"/>
              <a:t>QUERY</a:t>
            </a:r>
          </a:p>
        </p:txBody>
      </p:sp>
      <p:sp>
        <p:nvSpPr>
          <p:cNvPr id="6" name="TextBox 5">
            <a:extLst>
              <a:ext uri="{FF2B5EF4-FFF2-40B4-BE49-F238E27FC236}">
                <a16:creationId xmlns:a16="http://schemas.microsoft.com/office/drawing/2014/main" id="{F2E6BB7A-E988-354A-B3B1-5204CFA7AE0B}"/>
              </a:ext>
            </a:extLst>
          </p:cNvPr>
          <p:cNvSpPr txBox="1"/>
          <p:nvPr/>
        </p:nvSpPr>
        <p:spPr>
          <a:xfrm>
            <a:off x="91564" y="6019264"/>
            <a:ext cx="12690985" cy="1261884"/>
          </a:xfrm>
          <a:prstGeom prst="rect">
            <a:avLst/>
          </a:prstGeom>
          <a:noFill/>
        </p:spPr>
        <p:txBody>
          <a:bodyPr wrap="square" rtlCol="0">
            <a:spAutoFit/>
          </a:bodyPr>
          <a:lstStyle/>
          <a:p>
            <a:r>
              <a:rPr lang="en-US" sz="2000" b="1" dirty="0">
                <a:solidFill>
                  <a:schemeClr val="bg1"/>
                </a:solidFill>
                <a:latin typeface="Segoe UI Black" panose="020B0A02040204020203" pitchFamily="34" charset="0"/>
                <a:ea typeface="Segoe UI Black" panose="020B0A02040204020203" pitchFamily="34" charset="0"/>
              </a:rPr>
              <a:t>SUMMARY;</a:t>
            </a:r>
            <a:r>
              <a:rPr lang="en-US" sz="2000" dirty="0"/>
              <a:t> </a:t>
            </a:r>
            <a:r>
              <a:rPr lang="en-US" b="1" dirty="0">
                <a:solidFill>
                  <a:schemeClr val="bg1"/>
                </a:solidFill>
                <a:latin typeface="Segoe UI Black" panose="020B0A02040204020203" pitchFamily="34" charset="0"/>
                <a:ea typeface="Segoe UI Black" panose="020B0A02040204020203" pitchFamily="34" charset="0"/>
              </a:rPr>
              <a:t>This query shows passengers for each train with their age-based rank. Passengers are ranked from oldest to youngest within each train. Ranking restarts separately for every TrainID. The oldest passenger in a train gets Rank 1.The result is sorted by TrainID and then by Age (descending).Total rows returned: 200.</a:t>
            </a:r>
          </a:p>
          <a:p>
            <a:r>
              <a:rPr lang="en-US" sz="2000" dirty="0"/>
              <a:t> </a:t>
            </a:r>
            <a:endParaRPr lang="en-US" sz="2000" b="1" dirty="0">
              <a:solidFill>
                <a:schemeClr val="bg1"/>
              </a:solidFill>
              <a:latin typeface="Segoe UI Black" panose="020B0A02040204020203" pitchFamily="34" charset="0"/>
              <a:ea typeface="Segoe UI Black" panose="020B0A02040204020203" pitchFamily="34" charset="0"/>
            </a:endParaRPr>
          </a:p>
        </p:txBody>
      </p:sp>
      <p:sp>
        <p:nvSpPr>
          <p:cNvPr id="3" name="TextBox 2">
            <a:extLst>
              <a:ext uri="{FF2B5EF4-FFF2-40B4-BE49-F238E27FC236}">
                <a16:creationId xmlns:a16="http://schemas.microsoft.com/office/drawing/2014/main" id="{39238159-6EBF-01D0-E247-DFCEC7FC755F}"/>
              </a:ext>
            </a:extLst>
          </p:cNvPr>
          <p:cNvSpPr txBox="1"/>
          <p:nvPr/>
        </p:nvSpPr>
        <p:spPr>
          <a:xfrm>
            <a:off x="2968624" y="1418935"/>
            <a:ext cx="7337415" cy="1200329"/>
          </a:xfrm>
          <a:prstGeom prst="rect">
            <a:avLst/>
          </a:prstGeom>
          <a:noFill/>
        </p:spPr>
        <p:txBody>
          <a:bodyPr wrap="square">
            <a:spAutoFit/>
          </a:bodyPr>
          <a:lstStyle/>
          <a:p>
            <a:r>
              <a:rPr lang="en-US" b="1" dirty="0">
                <a:latin typeface="Daytona" panose="020B0604030500040204" pitchFamily="34" charset="0"/>
              </a:rPr>
              <a:t>select TrainID,PassengerName,Age,</a:t>
            </a:r>
          </a:p>
          <a:p>
            <a:r>
              <a:rPr lang="en-US" b="1" dirty="0">
                <a:latin typeface="Daytona" panose="020B0604030500040204" pitchFamily="34" charset="0"/>
              </a:rPr>
              <a:t>RANK() over(Partition by TrainID order by Age) as AgeRank</a:t>
            </a:r>
          </a:p>
          <a:p>
            <a:r>
              <a:rPr lang="en-US" b="1" dirty="0">
                <a:latin typeface="Daytona" panose="020B0604030500040204" pitchFamily="34" charset="0"/>
              </a:rPr>
              <a:t>from booking</a:t>
            </a:r>
          </a:p>
          <a:p>
            <a:r>
              <a:rPr lang="en-US" b="1" dirty="0">
                <a:latin typeface="Daytona" panose="020B0604030500040204" pitchFamily="34" charset="0"/>
              </a:rPr>
              <a:t>order by TrainID,AgeRank desc;</a:t>
            </a:r>
          </a:p>
        </p:txBody>
      </p:sp>
      <p:pic>
        <p:nvPicPr>
          <p:cNvPr id="9" name="Picture 8" descr="A table with numbers and letters&#10;&#10;AI-generated content may be incorrect.">
            <a:extLst>
              <a:ext uri="{FF2B5EF4-FFF2-40B4-BE49-F238E27FC236}">
                <a16:creationId xmlns:a16="http://schemas.microsoft.com/office/drawing/2014/main" id="{20604D27-6D21-8776-C9C8-96245686FE06}"/>
              </a:ext>
            </a:extLst>
          </p:cNvPr>
          <p:cNvPicPr>
            <a:picLocks noChangeAspect="1"/>
          </p:cNvPicPr>
          <p:nvPr/>
        </p:nvPicPr>
        <p:blipFill>
          <a:blip r:embed="rId3"/>
          <a:stretch>
            <a:fillRect/>
          </a:stretch>
        </p:blipFill>
        <p:spPr>
          <a:xfrm>
            <a:off x="5145996" y="2787915"/>
            <a:ext cx="2343699" cy="3100326"/>
          </a:xfrm>
          <a:prstGeom prst="rect">
            <a:avLst/>
          </a:prstGeom>
          <a:ln w="19050">
            <a:solidFill>
              <a:schemeClr val="tx1"/>
            </a:solidFill>
          </a:ln>
        </p:spPr>
      </p:pic>
    </p:spTree>
    <p:extLst>
      <p:ext uri="{BB962C8B-B14F-4D97-AF65-F5344CB8AC3E}">
        <p14:creationId xmlns:p14="http://schemas.microsoft.com/office/powerpoint/2010/main" val="4161816593"/>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044699CD-31BD-FF5B-D3E4-7927DDEA2D53}"/>
            </a:ext>
          </a:extLst>
        </p:cNvPr>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D849916D-6234-B3D4-21A1-8F8EA3031EE7}"/>
              </a:ext>
            </a:extLst>
          </p:cNvPr>
          <p:cNvSpPr/>
          <p:nvPr/>
        </p:nvSpPr>
        <p:spPr>
          <a:xfrm>
            <a:off x="2674536" y="1263761"/>
            <a:ext cx="8984064" cy="1632502"/>
          </a:xfrm>
          <a:prstGeom prst="round2Same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1400" dirty="0"/>
          </a:p>
        </p:txBody>
      </p:sp>
      <p:sp>
        <p:nvSpPr>
          <p:cNvPr id="7" name="Rectangle: Top Corners Rounded 6">
            <a:extLst>
              <a:ext uri="{FF2B5EF4-FFF2-40B4-BE49-F238E27FC236}">
                <a16:creationId xmlns:a16="http://schemas.microsoft.com/office/drawing/2014/main" id="{15D6D46D-6ABB-15CD-3E21-C85099BDA817}"/>
              </a:ext>
            </a:extLst>
          </p:cNvPr>
          <p:cNvSpPr/>
          <p:nvPr/>
        </p:nvSpPr>
        <p:spPr>
          <a:xfrm>
            <a:off x="91564" y="5675603"/>
            <a:ext cx="12494135" cy="1319983"/>
          </a:xfrm>
          <a:prstGeom prst="round2SameRect">
            <a:avLst>
              <a:gd name="adj1" fmla="val 16667"/>
              <a:gd name="adj2" fmla="val 0"/>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72" dirty="0"/>
          </a:p>
        </p:txBody>
      </p:sp>
      <p:sp>
        <p:nvSpPr>
          <p:cNvPr id="11" name="TextBox 10">
            <a:extLst>
              <a:ext uri="{FF2B5EF4-FFF2-40B4-BE49-F238E27FC236}">
                <a16:creationId xmlns:a16="http://schemas.microsoft.com/office/drawing/2014/main" id="{C6B28846-A3B0-89D5-5C5F-2DF1BF0DB86D}"/>
              </a:ext>
            </a:extLst>
          </p:cNvPr>
          <p:cNvSpPr txBox="1"/>
          <p:nvPr/>
        </p:nvSpPr>
        <p:spPr>
          <a:xfrm>
            <a:off x="1676399" y="131721"/>
            <a:ext cx="10858501" cy="1077218"/>
          </a:xfrm>
          <a:prstGeom prst="rect">
            <a:avLst/>
          </a:prstGeom>
          <a:solidFill>
            <a:schemeClr val="accent4">
              <a:lumMod val="50000"/>
            </a:schemeClr>
          </a:solidFill>
        </p:spPr>
        <p:txBody>
          <a:bodyPr wrap="square" rtlCol="0">
            <a:spAutoFit/>
          </a:bodyPr>
          <a:lstStyle/>
          <a:p>
            <a:pPr algn="ctr"/>
            <a:r>
              <a:rPr lang="en-US" sz="32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  25. Find passengers who have both confirmed and cancelled bookings</a:t>
            </a:r>
            <a:endParaRPr lang="en-US" sz="28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endParaRPr>
          </a:p>
        </p:txBody>
      </p:sp>
      <p:pic>
        <p:nvPicPr>
          <p:cNvPr id="12" name="Picture 11" descr="A blue and white circular sign with a circular design&#10;&#10;AI-generated content may be incorrect.">
            <a:extLst>
              <a:ext uri="{FF2B5EF4-FFF2-40B4-BE49-F238E27FC236}">
                <a16:creationId xmlns:a16="http://schemas.microsoft.com/office/drawing/2014/main" id="{3280733D-A7F9-375F-7054-BA13E3585C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459" y="-315416"/>
            <a:ext cx="2054143" cy="2054143"/>
          </a:xfrm>
          <a:prstGeom prst="rect">
            <a:avLst/>
          </a:prstGeom>
        </p:spPr>
      </p:pic>
      <p:sp>
        <p:nvSpPr>
          <p:cNvPr id="13" name="Arrow: Right 12">
            <a:extLst>
              <a:ext uri="{FF2B5EF4-FFF2-40B4-BE49-F238E27FC236}">
                <a16:creationId xmlns:a16="http://schemas.microsoft.com/office/drawing/2014/main" id="{D6EE68C3-1C12-B27E-0525-8FAD402515DB}"/>
              </a:ext>
            </a:extLst>
          </p:cNvPr>
          <p:cNvSpPr/>
          <p:nvPr/>
        </p:nvSpPr>
        <p:spPr>
          <a:xfrm>
            <a:off x="1" y="1615794"/>
            <a:ext cx="1772667" cy="1575452"/>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FF865642-7ADE-BBB2-FB04-6BEEEA2F4D11}"/>
              </a:ext>
            </a:extLst>
          </p:cNvPr>
          <p:cNvSpPr txBox="1"/>
          <p:nvPr/>
        </p:nvSpPr>
        <p:spPr>
          <a:xfrm>
            <a:off x="-165386" y="2136352"/>
            <a:ext cx="1766604" cy="584775"/>
          </a:xfrm>
          <a:prstGeom prst="rect">
            <a:avLst/>
          </a:prstGeom>
          <a:noFill/>
        </p:spPr>
        <p:txBody>
          <a:bodyPr wrap="square" rtlCol="0">
            <a:spAutoFit/>
          </a:bodyPr>
          <a:lstStyle/>
          <a:p>
            <a:pPr algn="ctr"/>
            <a:r>
              <a:rPr lang="en-US" sz="3200" b="1" dirty="0"/>
              <a:t>QUERY</a:t>
            </a:r>
          </a:p>
        </p:txBody>
      </p:sp>
      <p:sp>
        <p:nvSpPr>
          <p:cNvPr id="6" name="TextBox 5">
            <a:extLst>
              <a:ext uri="{FF2B5EF4-FFF2-40B4-BE49-F238E27FC236}">
                <a16:creationId xmlns:a16="http://schemas.microsoft.com/office/drawing/2014/main" id="{46EC8A02-8494-C743-4A26-541408A7DA8B}"/>
              </a:ext>
            </a:extLst>
          </p:cNvPr>
          <p:cNvSpPr txBox="1"/>
          <p:nvPr/>
        </p:nvSpPr>
        <p:spPr>
          <a:xfrm>
            <a:off x="374650" y="5713703"/>
            <a:ext cx="12211049" cy="1538883"/>
          </a:xfrm>
          <a:prstGeom prst="rect">
            <a:avLst/>
          </a:prstGeom>
          <a:noFill/>
        </p:spPr>
        <p:txBody>
          <a:bodyPr wrap="square" rtlCol="0">
            <a:spAutoFit/>
          </a:bodyPr>
          <a:lstStyle/>
          <a:p>
            <a:r>
              <a:rPr lang="en-US" sz="2000" b="1" dirty="0">
                <a:solidFill>
                  <a:schemeClr val="bg1"/>
                </a:solidFill>
                <a:latin typeface="Segoe UI Black" panose="020B0A02040204020203" pitchFamily="34" charset="0"/>
                <a:ea typeface="Segoe UI Black" panose="020B0A02040204020203" pitchFamily="34" charset="0"/>
              </a:rPr>
              <a:t>SUMMARY</a:t>
            </a:r>
            <a:r>
              <a:rPr lang="en-US" dirty="0">
                <a:solidFill>
                  <a:schemeClr val="bg1"/>
                </a:solidFill>
                <a:latin typeface="Segoe UI Black" panose="020B0A02040204020203" pitchFamily="34" charset="0"/>
                <a:ea typeface="Segoe UI Black" panose="020B0A02040204020203" pitchFamily="34" charset="0"/>
              </a:rPr>
              <a:t>; This SQL query is used to identify passengers who have made at least one confirmed booking and at least one cancelled booking . It groups the data by passenger name and applies conditions to ensure both booking statuses exist for the same passenger. The final result shows passengers like Rahul Mehta and Arun Kumar, who have experienced both confirmed and cancelled bookings.</a:t>
            </a:r>
          </a:p>
          <a:p>
            <a:r>
              <a:rPr lang="en-US" sz="2000" dirty="0"/>
              <a:t> </a:t>
            </a:r>
            <a:endParaRPr lang="en-US" sz="2000" b="1" dirty="0">
              <a:solidFill>
                <a:schemeClr val="bg1"/>
              </a:solidFill>
              <a:latin typeface="Segoe UI Black" panose="020B0A02040204020203" pitchFamily="34" charset="0"/>
              <a:ea typeface="Segoe UI Black" panose="020B0A02040204020203" pitchFamily="34" charset="0"/>
            </a:endParaRPr>
          </a:p>
        </p:txBody>
      </p:sp>
      <p:sp>
        <p:nvSpPr>
          <p:cNvPr id="3" name="TextBox 2">
            <a:extLst>
              <a:ext uri="{FF2B5EF4-FFF2-40B4-BE49-F238E27FC236}">
                <a16:creationId xmlns:a16="http://schemas.microsoft.com/office/drawing/2014/main" id="{BE708BB7-9BEA-2D44-3CC4-0B9E5CAACA63}"/>
              </a:ext>
            </a:extLst>
          </p:cNvPr>
          <p:cNvSpPr txBox="1"/>
          <p:nvPr/>
        </p:nvSpPr>
        <p:spPr>
          <a:xfrm>
            <a:off x="2873374" y="1418935"/>
            <a:ext cx="8689976" cy="1200329"/>
          </a:xfrm>
          <a:prstGeom prst="rect">
            <a:avLst/>
          </a:prstGeom>
          <a:noFill/>
        </p:spPr>
        <p:txBody>
          <a:bodyPr wrap="square">
            <a:spAutoFit/>
          </a:bodyPr>
          <a:lstStyle/>
          <a:p>
            <a:r>
              <a:rPr lang="en-US" b="1" dirty="0">
                <a:latin typeface="Daytona" panose="020B0604030500040204" pitchFamily="34" charset="0"/>
              </a:rPr>
              <a:t>select PassengerName</a:t>
            </a:r>
          </a:p>
          <a:p>
            <a:r>
              <a:rPr lang="en-US" b="1" dirty="0">
                <a:latin typeface="Daytona" panose="020B0604030500040204" pitchFamily="34" charset="0"/>
              </a:rPr>
              <a:t>from booking</a:t>
            </a:r>
          </a:p>
          <a:p>
            <a:r>
              <a:rPr lang="en-US" b="1" dirty="0">
                <a:latin typeface="Daytona" panose="020B0604030500040204" pitchFamily="34" charset="0"/>
              </a:rPr>
              <a:t>group by PassengerName</a:t>
            </a:r>
          </a:p>
          <a:p>
            <a:r>
              <a:rPr lang="en-US" b="1" dirty="0">
                <a:latin typeface="Daytona" panose="020B0604030500040204" pitchFamily="34" charset="0"/>
              </a:rPr>
              <a:t>Having sum(Status = 'Confirmed') &gt; 0 AND sum(Status = 'Cancelled') &gt; 0;</a:t>
            </a:r>
          </a:p>
        </p:txBody>
      </p:sp>
      <p:pic>
        <p:nvPicPr>
          <p:cNvPr id="10" name="Picture 9" descr="A screenshot of a computer&#10;&#10;AI-generated content may be incorrect.">
            <a:extLst>
              <a:ext uri="{FF2B5EF4-FFF2-40B4-BE49-F238E27FC236}">
                <a16:creationId xmlns:a16="http://schemas.microsoft.com/office/drawing/2014/main" id="{4330D686-53F3-546E-465A-7769E6D07B99}"/>
              </a:ext>
            </a:extLst>
          </p:cNvPr>
          <p:cNvPicPr>
            <a:picLocks noChangeAspect="1"/>
          </p:cNvPicPr>
          <p:nvPr/>
        </p:nvPicPr>
        <p:blipFill>
          <a:blip r:embed="rId3"/>
          <a:stretch>
            <a:fillRect/>
          </a:stretch>
        </p:blipFill>
        <p:spPr>
          <a:xfrm>
            <a:off x="4559221" y="3078666"/>
            <a:ext cx="4682545" cy="2380956"/>
          </a:xfrm>
          <a:prstGeom prst="rect">
            <a:avLst/>
          </a:prstGeom>
          <a:ln w="19050">
            <a:solidFill>
              <a:schemeClr val="tx1"/>
            </a:solidFill>
          </a:ln>
        </p:spPr>
      </p:pic>
    </p:spTree>
    <p:extLst>
      <p:ext uri="{BB962C8B-B14F-4D97-AF65-F5344CB8AC3E}">
        <p14:creationId xmlns:p14="http://schemas.microsoft.com/office/powerpoint/2010/main" val="663839702"/>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42DCE77E-0794-4DF3-8273-F51D84C72C00}"/>
            </a:ext>
          </a:extLst>
        </p:cNvPr>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97D95FD7-3CBF-8411-51BC-8AE9AC510ADE}"/>
              </a:ext>
            </a:extLst>
          </p:cNvPr>
          <p:cNvSpPr/>
          <p:nvPr/>
        </p:nvSpPr>
        <p:spPr>
          <a:xfrm>
            <a:off x="2674536" y="844661"/>
            <a:ext cx="8107764" cy="1477328"/>
          </a:xfrm>
          <a:prstGeom prst="round2Same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1400" dirty="0"/>
          </a:p>
        </p:txBody>
      </p:sp>
      <p:sp>
        <p:nvSpPr>
          <p:cNvPr id="7" name="Rectangle: Top Corners Rounded 6">
            <a:extLst>
              <a:ext uri="{FF2B5EF4-FFF2-40B4-BE49-F238E27FC236}">
                <a16:creationId xmlns:a16="http://schemas.microsoft.com/office/drawing/2014/main" id="{4AD027E1-7EAD-4D8D-57D0-166DB74FC13F}"/>
              </a:ext>
            </a:extLst>
          </p:cNvPr>
          <p:cNvSpPr/>
          <p:nvPr/>
        </p:nvSpPr>
        <p:spPr>
          <a:xfrm>
            <a:off x="38100" y="5675603"/>
            <a:ext cx="12623800" cy="1384308"/>
          </a:xfrm>
          <a:prstGeom prst="round2SameRect">
            <a:avLst>
              <a:gd name="adj1" fmla="val 16667"/>
              <a:gd name="adj2" fmla="val 0"/>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72" dirty="0"/>
          </a:p>
        </p:txBody>
      </p:sp>
      <p:sp>
        <p:nvSpPr>
          <p:cNvPr id="11" name="TextBox 10">
            <a:extLst>
              <a:ext uri="{FF2B5EF4-FFF2-40B4-BE49-F238E27FC236}">
                <a16:creationId xmlns:a16="http://schemas.microsoft.com/office/drawing/2014/main" id="{410B69BA-1384-8DBE-2AB6-AB82555186A3}"/>
              </a:ext>
            </a:extLst>
          </p:cNvPr>
          <p:cNvSpPr txBox="1"/>
          <p:nvPr/>
        </p:nvSpPr>
        <p:spPr>
          <a:xfrm>
            <a:off x="1752599" y="131721"/>
            <a:ext cx="10858501" cy="584775"/>
          </a:xfrm>
          <a:prstGeom prst="rect">
            <a:avLst/>
          </a:prstGeom>
          <a:solidFill>
            <a:schemeClr val="accent4">
              <a:lumMod val="50000"/>
            </a:schemeClr>
          </a:solidFill>
        </p:spPr>
        <p:txBody>
          <a:bodyPr wrap="square" rtlCol="0">
            <a:spAutoFit/>
          </a:bodyPr>
          <a:lstStyle/>
          <a:p>
            <a:r>
              <a:rPr lang="en-US" sz="32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  26. Train-wise Confirmed vs Cancelled booking count </a:t>
            </a:r>
            <a:endParaRPr lang="en-US" sz="28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endParaRPr>
          </a:p>
        </p:txBody>
      </p:sp>
      <p:pic>
        <p:nvPicPr>
          <p:cNvPr id="12" name="Picture 11" descr="A blue and white circular sign with a circular design&#10;&#10;AI-generated content may be incorrect.">
            <a:extLst>
              <a:ext uri="{FF2B5EF4-FFF2-40B4-BE49-F238E27FC236}">
                <a16:creationId xmlns:a16="http://schemas.microsoft.com/office/drawing/2014/main" id="{7494788F-F441-208B-7D20-A93904F5E9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2554" y="-220972"/>
            <a:ext cx="1384308" cy="1384308"/>
          </a:xfrm>
          <a:prstGeom prst="rect">
            <a:avLst/>
          </a:prstGeom>
        </p:spPr>
      </p:pic>
      <p:sp>
        <p:nvSpPr>
          <p:cNvPr id="13" name="Arrow: Right 12">
            <a:extLst>
              <a:ext uri="{FF2B5EF4-FFF2-40B4-BE49-F238E27FC236}">
                <a16:creationId xmlns:a16="http://schemas.microsoft.com/office/drawing/2014/main" id="{1593EFAD-69D5-EA6C-FFAE-4E9D57F281F5}"/>
              </a:ext>
            </a:extLst>
          </p:cNvPr>
          <p:cNvSpPr/>
          <p:nvPr/>
        </p:nvSpPr>
        <p:spPr>
          <a:xfrm>
            <a:off x="1" y="1615794"/>
            <a:ext cx="1772667" cy="1575452"/>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B35F912F-F2E6-6D7E-7024-B85DA48B7E77}"/>
              </a:ext>
            </a:extLst>
          </p:cNvPr>
          <p:cNvSpPr txBox="1"/>
          <p:nvPr/>
        </p:nvSpPr>
        <p:spPr>
          <a:xfrm>
            <a:off x="-165386" y="2136352"/>
            <a:ext cx="1766604" cy="584775"/>
          </a:xfrm>
          <a:prstGeom prst="rect">
            <a:avLst/>
          </a:prstGeom>
          <a:noFill/>
        </p:spPr>
        <p:txBody>
          <a:bodyPr wrap="square" rtlCol="0">
            <a:spAutoFit/>
          </a:bodyPr>
          <a:lstStyle/>
          <a:p>
            <a:pPr algn="ctr"/>
            <a:r>
              <a:rPr lang="en-US" sz="3200" b="1" dirty="0"/>
              <a:t>QUERY</a:t>
            </a:r>
          </a:p>
        </p:txBody>
      </p:sp>
      <p:sp>
        <p:nvSpPr>
          <p:cNvPr id="6" name="TextBox 5">
            <a:extLst>
              <a:ext uri="{FF2B5EF4-FFF2-40B4-BE49-F238E27FC236}">
                <a16:creationId xmlns:a16="http://schemas.microsoft.com/office/drawing/2014/main" id="{B6178A5B-8C96-389A-408E-A0CA543FE993}"/>
              </a:ext>
            </a:extLst>
          </p:cNvPr>
          <p:cNvSpPr txBox="1"/>
          <p:nvPr/>
        </p:nvSpPr>
        <p:spPr>
          <a:xfrm>
            <a:off x="-38100" y="5693265"/>
            <a:ext cx="12839700" cy="1323439"/>
          </a:xfrm>
          <a:prstGeom prst="rect">
            <a:avLst/>
          </a:prstGeom>
          <a:noFill/>
        </p:spPr>
        <p:txBody>
          <a:bodyPr wrap="square" rtlCol="0">
            <a:spAutoFit/>
          </a:bodyPr>
          <a:lstStyle/>
          <a:p>
            <a:r>
              <a:rPr lang="en-US" sz="2000" b="1" dirty="0" err="1">
                <a:solidFill>
                  <a:schemeClr val="bg1"/>
                </a:solidFill>
                <a:latin typeface="Segoe UI Black" panose="020B0A02040204020203" pitchFamily="34" charset="0"/>
                <a:ea typeface="Segoe UI Black" panose="020B0A02040204020203" pitchFamily="34" charset="0"/>
              </a:rPr>
              <a:t>SUMMARY</a:t>
            </a:r>
            <a:r>
              <a:rPr lang="en-US" dirty="0" err="1">
                <a:solidFill>
                  <a:schemeClr val="bg1"/>
                </a:solidFill>
                <a:latin typeface="Segoe UI Black" panose="020B0A02040204020203" pitchFamily="34" charset="0"/>
                <a:ea typeface="Segoe UI Black" panose="020B0A02040204020203" pitchFamily="34" charset="0"/>
              </a:rPr>
              <a:t>;</a:t>
            </a:r>
            <a:r>
              <a:rPr lang="en-US" sz="2000" b="1" dirty="0" err="1">
                <a:solidFill>
                  <a:schemeClr val="bg1"/>
                </a:solidFill>
                <a:latin typeface="Segoe UI Black" panose="020B0A02040204020203" pitchFamily="34" charset="0"/>
                <a:ea typeface="Segoe UI Black" panose="020B0A02040204020203" pitchFamily="34" charset="0"/>
              </a:rPr>
              <a:t>This</a:t>
            </a:r>
            <a:r>
              <a:rPr lang="en-US" sz="2000" b="1" dirty="0">
                <a:solidFill>
                  <a:schemeClr val="bg1"/>
                </a:solidFill>
                <a:latin typeface="Segoe UI Black" panose="020B0A02040204020203" pitchFamily="34" charset="0"/>
                <a:ea typeface="Segoe UI Black" panose="020B0A02040204020203" pitchFamily="34" charset="0"/>
              </a:rPr>
              <a:t> SQL query calculates the number of confirmed and cancelled bookings for each train by grouping the data using </a:t>
            </a:r>
            <a:r>
              <a:rPr lang="en-US" b="1" dirty="0">
                <a:solidFill>
                  <a:schemeClr val="bg1"/>
                </a:solidFill>
                <a:latin typeface="Segoe UI Black" panose="020B0A02040204020203" pitchFamily="34" charset="0"/>
                <a:ea typeface="Segoe UI Black" panose="020B0A02040204020203" pitchFamily="34" charset="0"/>
              </a:rPr>
              <a:t>TrainID</a:t>
            </a:r>
            <a:r>
              <a:rPr lang="en-US" sz="2000" b="1" dirty="0">
                <a:solidFill>
                  <a:schemeClr val="bg1"/>
                </a:solidFill>
                <a:latin typeface="Segoe UI Black" panose="020B0A02040204020203" pitchFamily="34" charset="0"/>
                <a:ea typeface="Segoe UI Black" panose="020B0A02040204020203" pitchFamily="34" charset="0"/>
              </a:rPr>
              <a:t>. It summarizes booking activity on a train-wise basis and orders the results for better comparison. The final output contains 20 rows, representing booking details for 20 different trains, which helps analyze booking trends and cancellation patterns across trains.</a:t>
            </a:r>
          </a:p>
        </p:txBody>
      </p:sp>
      <p:sp>
        <p:nvSpPr>
          <p:cNvPr id="3" name="TextBox 2">
            <a:extLst>
              <a:ext uri="{FF2B5EF4-FFF2-40B4-BE49-F238E27FC236}">
                <a16:creationId xmlns:a16="http://schemas.microsoft.com/office/drawing/2014/main" id="{9F8B6042-076E-3889-9D09-AC6205C2696D}"/>
              </a:ext>
            </a:extLst>
          </p:cNvPr>
          <p:cNvSpPr txBox="1"/>
          <p:nvPr/>
        </p:nvSpPr>
        <p:spPr>
          <a:xfrm>
            <a:off x="2953917" y="885535"/>
            <a:ext cx="7908926" cy="1477328"/>
          </a:xfrm>
          <a:prstGeom prst="rect">
            <a:avLst/>
          </a:prstGeom>
          <a:noFill/>
        </p:spPr>
        <p:txBody>
          <a:bodyPr wrap="square">
            <a:spAutoFit/>
          </a:bodyPr>
          <a:lstStyle/>
          <a:p>
            <a:r>
              <a:rPr lang="en-US" b="1" dirty="0">
                <a:latin typeface="Daytona" panose="020B0604030500040204" pitchFamily="34" charset="0"/>
              </a:rPr>
              <a:t>select TrainID,sum(Status = 'Confirmed') as ConfirmedBooking,</a:t>
            </a:r>
          </a:p>
          <a:p>
            <a:r>
              <a:rPr lang="en-US" b="1" dirty="0">
                <a:latin typeface="Daytona" panose="020B0604030500040204" pitchFamily="34" charset="0"/>
              </a:rPr>
              <a:t>sum(Status = 'Cancelled') as CancelledBooking</a:t>
            </a:r>
          </a:p>
          <a:p>
            <a:r>
              <a:rPr lang="en-US" b="1" dirty="0">
                <a:latin typeface="Daytona" panose="020B0604030500040204" pitchFamily="34" charset="0"/>
              </a:rPr>
              <a:t>from booking</a:t>
            </a:r>
          </a:p>
          <a:p>
            <a:r>
              <a:rPr lang="en-US" b="1" dirty="0">
                <a:latin typeface="Daytona" panose="020B0604030500040204" pitchFamily="34" charset="0"/>
              </a:rPr>
              <a:t>group by TrainID</a:t>
            </a:r>
          </a:p>
          <a:p>
            <a:r>
              <a:rPr lang="en-US" b="1" dirty="0">
                <a:latin typeface="Daytona" panose="020B0604030500040204" pitchFamily="34" charset="0"/>
              </a:rPr>
              <a:t>order by ConfirmedBooking,CancelledBooking desc;</a:t>
            </a:r>
          </a:p>
        </p:txBody>
      </p:sp>
      <p:pic>
        <p:nvPicPr>
          <p:cNvPr id="4" name="Picture 3" descr="A screenshot of a table&#10;&#10;AI-generated content may be incorrect.">
            <a:extLst>
              <a:ext uri="{FF2B5EF4-FFF2-40B4-BE49-F238E27FC236}">
                <a16:creationId xmlns:a16="http://schemas.microsoft.com/office/drawing/2014/main" id="{6C98A060-EFEF-32BD-5F59-A2CBCA0985FB}"/>
              </a:ext>
            </a:extLst>
          </p:cNvPr>
          <p:cNvPicPr>
            <a:picLocks noChangeAspect="1"/>
          </p:cNvPicPr>
          <p:nvPr/>
        </p:nvPicPr>
        <p:blipFill>
          <a:blip r:embed="rId3"/>
          <a:stretch>
            <a:fillRect/>
          </a:stretch>
        </p:blipFill>
        <p:spPr>
          <a:xfrm>
            <a:off x="5090682" y="2360089"/>
            <a:ext cx="2495898" cy="3305636"/>
          </a:xfrm>
          <a:prstGeom prst="rect">
            <a:avLst/>
          </a:prstGeom>
          <a:ln w="19050">
            <a:solidFill>
              <a:schemeClr val="tx1"/>
            </a:solidFill>
          </a:ln>
        </p:spPr>
      </p:pic>
    </p:spTree>
    <p:extLst>
      <p:ext uri="{BB962C8B-B14F-4D97-AF65-F5344CB8AC3E}">
        <p14:creationId xmlns:p14="http://schemas.microsoft.com/office/powerpoint/2010/main" val="196998439"/>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FB1F5C1F-DD21-E2B4-17DE-C3D5244F0BF6}"/>
            </a:ext>
          </a:extLst>
        </p:cNvPr>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0F14D763-8F4E-F361-7EE0-6E9BA742A9CA}"/>
              </a:ext>
            </a:extLst>
          </p:cNvPr>
          <p:cNvSpPr/>
          <p:nvPr/>
        </p:nvSpPr>
        <p:spPr>
          <a:xfrm>
            <a:off x="2674536" y="844661"/>
            <a:ext cx="8107764" cy="1477328"/>
          </a:xfrm>
          <a:prstGeom prst="round2Same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1400" dirty="0"/>
          </a:p>
        </p:txBody>
      </p:sp>
      <p:sp>
        <p:nvSpPr>
          <p:cNvPr id="7" name="Rectangle: Top Corners Rounded 6">
            <a:extLst>
              <a:ext uri="{FF2B5EF4-FFF2-40B4-BE49-F238E27FC236}">
                <a16:creationId xmlns:a16="http://schemas.microsoft.com/office/drawing/2014/main" id="{536CB010-B955-AA85-EED8-6A91233A1F0D}"/>
              </a:ext>
            </a:extLst>
          </p:cNvPr>
          <p:cNvSpPr/>
          <p:nvPr/>
        </p:nvSpPr>
        <p:spPr>
          <a:xfrm>
            <a:off x="38100" y="5675603"/>
            <a:ext cx="12623800" cy="1384308"/>
          </a:xfrm>
          <a:prstGeom prst="round2SameRect">
            <a:avLst>
              <a:gd name="adj1" fmla="val 16667"/>
              <a:gd name="adj2" fmla="val 0"/>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72" dirty="0"/>
          </a:p>
        </p:txBody>
      </p:sp>
      <p:sp>
        <p:nvSpPr>
          <p:cNvPr id="11" name="TextBox 10">
            <a:extLst>
              <a:ext uri="{FF2B5EF4-FFF2-40B4-BE49-F238E27FC236}">
                <a16:creationId xmlns:a16="http://schemas.microsoft.com/office/drawing/2014/main" id="{FA7ECB2E-4B0B-ED64-C597-757DF4E7B85F}"/>
              </a:ext>
            </a:extLst>
          </p:cNvPr>
          <p:cNvSpPr txBox="1"/>
          <p:nvPr/>
        </p:nvSpPr>
        <p:spPr>
          <a:xfrm>
            <a:off x="1752599" y="131721"/>
            <a:ext cx="10858501" cy="584775"/>
          </a:xfrm>
          <a:prstGeom prst="rect">
            <a:avLst/>
          </a:prstGeom>
          <a:solidFill>
            <a:schemeClr val="accent4">
              <a:lumMod val="50000"/>
            </a:schemeClr>
          </a:solidFill>
        </p:spPr>
        <p:txBody>
          <a:bodyPr wrap="square" rtlCol="0">
            <a:spAutoFit/>
          </a:bodyPr>
          <a:lstStyle/>
          <a:p>
            <a:r>
              <a:rPr lang="en-US" sz="32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  27. Find the most preferred seat class </a:t>
            </a:r>
            <a:endParaRPr lang="en-US" sz="28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endParaRPr>
          </a:p>
        </p:txBody>
      </p:sp>
      <p:pic>
        <p:nvPicPr>
          <p:cNvPr id="12" name="Picture 11" descr="A blue and white circular sign with a circular design&#10;&#10;AI-generated content may be incorrect.">
            <a:extLst>
              <a:ext uri="{FF2B5EF4-FFF2-40B4-BE49-F238E27FC236}">
                <a16:creationId xmlns:a16="http://schemas.microsoft.com/office/drawing/2014/main" id="{FE0BD652-A296-5C13-EFE7-BC91D646BA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7894" y="-203311"/>
            <a:ext cx="1366647" cy="1366647"/>
          </a:xfrm>
          <a:prstGeom prst="rect">
            <a:avLst/>
          </a:prstGeom>
        </p:spPr>
      </p:pic>
      <p:sp>
        <p:nvSpPr>
          <p:cNvPr id="13" name="Arrow: Right 12">
            <a:extLst>
              <a:ext uri="{FF2B5EF4-FFF2-40B4-BE49-F238E27FC236}">
                <a16:creationId xmlns:a16="http://schemas.microsoft.com/office/drawing/2014/main" id="{F68D24AD-280E-93E4-2135-5387A2EE422D}"/>
              </a:ext>
            </a:extLst>
          </p:cNvPr>
          <p:cNvSpPr/>
          <p:nvPr/>
        </p:nvSpPr>
        <p:spPr>
          <a:xfrm>
            <a:off x="1" y="1615794"/>
            <a:ext cx="1772667" cy="1575452"/>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56B5764B-C261-34AE-68ED-FC17F6B67EA7}"/>
              </a:ext>
            </a:extLst>
          </p:cNvPr>
          <p:cNvSpPr txBox="1"/>
          <p:nvPr/>
        </p:nvSpPr>
        <p:spPr>
          <a:xfrm>
            <a:off x="-165386" y="2136352"/>
            <a:ext cx="1766604" cy="584775"/>
          </a:xfrm>
          <a:prstGeom prst="rect">
            <a:avLst/>
          </a:prstGeom>
          <a:noFill/>
        </p:spPr>
        <p:txBody>
          <a:bodyPr wrap="square" rtlCol="0">
            <a:spAutoFit/>
          </a:bodyPr>
          <a:lstStyle/>
          <a:p>
            <a:pPr algn="ctr"/>
            <a:r>
              <a:rPr lang="en-US" sz="3200" b="1" dirty="0"/>
              <a:t>QUERY</a:t>
            </a:r>
          </a:p>
        </p:txBody>
      </p:sp>
      <p:sp>
        <p:nvSpPr>
          <p:cNvPr id="6" name="TextBox 5">
            <a:extLst>
              <a:ext uri="{FF2B5EF4-FFF2-40B4-BE49-F238E27FC236}">
                <a16:creationId xmlns:a16="http://schemas.microsoft.com/office/drawing/2014/main" id="{B218E002-8563-F271-E940-B89C4CC732E3}"/>
              </a:ext>
            </a:extLst>
          </p:cNvPr>
          <p:cNvSpPr txBox="1"/>
          <p:nvPr/>
        </p:nvSpPr>
        <p:spPr>
          <a:xfrm>
            <a:off x="76200" y="5693265"/>
            <a:ext cx="12382500" cy="1631216"/>
          </a:xfrm>
          <a:prstGeom prst="rect">
            <a:avLst/>
          </a:prstGeom>
          <a:noFill/>
        </p:spPr>
        <p:txBody>
          <a:bodyPr wrap="square" rtlCol="0">
            <a:spAutoFit/>
          </a:bodyPr>
          <a:lstStyle/>
          <a:p>
            <a:r>
              <a:rPr lang="en-US" sz="2000" b="1" dirty="0">
                <a:solidFill>
                  <a:schemeClr val="bg1"/>
                </a:solidFill>
                <a:latin typeface="Segoe UI Black" panose="020B0A02040204020203" pitchFamily="34" charset="0"/>
                <a:ea typeface="Segoe UI Black" panose="020B0A02040204020203" pitchFamily="34" charset="0"/>
              </a:rPr>
              <a:t>SUMMARY</a:t>
            </a:r>
            <a:r>
              <a:rPr lang="en-US" dirty="0">
                <a:solidFill>
                  <a:schemeClr val="bg1"/>
                </a:solidFill>
                <a:latin typeface="Segoe UI Black" panose="020B0A02040204020203" pitchFamily="34" charset="0"/>
                <a:ea typeface="Segoe UI Black" panose="020B0A02040204020203" pitchFamily="34" charset="0"/>
              </a:rPr>
              <a:t>;</a:t>
            </a:r>
            <a:r>
              <a:rPr lang="en-US" sz="2000" dirty="0"/>
              <a:t> </a:t>
            </a:r>
            <a:r>
              <a:rPr lang="en-US" sz="2000" b="1" dirty="0">
                <a:solidFill>
                  <a:schemeClr val="bg1"/>
                </a:solidFill>
                <a:latin typeface="Segoe UI Black" panose="020B0A02040204020203" pitchFamily="34" charset="0"/>
                <a:ea typeface="Segoe UI Black" panose="020B0A02040204020203" pitchFamily="34" charset="0"/>
              </a:rPr>
              <a:t>This SQL query finds the most preferred seat class by counting total bookings for each seat type. It groups the data by SeatClass and sorts the results in descending </a:t>
            </a:r>
            <a:r>
              <a:rPr lang="en-US" sz="2000" b="1" dirty="0" err="1">
                <a:solidFill>
                  <a:schemeClr val="bg1"/>
                </a:solidFill>
                <a:latin typeface="Segoe UI Black" panose="020B0A02040204020203" pitchFamily="34" charset="0"/>
                <a:ea typeface="Segoe UI Black" panose="020B0A02040204020203" pitchFamily="34" charset="0"/>
              </a:rPr>
              <a:t>order.The</a:t>
            </a:r>
            <a:r>
              <a:rPr lang="en-US" sz="2000" b="1" dirty="0">
                <a:solidFill>
                  <a:schemeClr val="bg1"/>
                </a:solidFill>
                <a:latin typeface="Segoe UI Black" panose="020B0A02040204020203" pitchFamily="34" charset="0"/>
                <a:ea typeface="Segoe UI Black" panose="020B0A02040204020203" pitchFamily="34" charset="0"/>
              </a:rPr>
              <a:t> output shows that Sleeper class has the highest number of bookings. This indicates that Sleeper is the most popular choice among passengers.</a:t>
            </a:r>
          </a:p>
          <a:p>
            <a:endParaRPr lang="en-US" sz="2000" b="1" dirty="0">
              <a:solidFill>
                <a:schemeClr val="bg1"/>
              </a:solidFill>
              <a:latin typeface="Segoe UI Black" panose="020B0A02040204020203" pitchFamily="34" charset="0"/>
              <a:ea typeface="Segoe UI Black" panose="020B0A02040204020203" pitchFamily="34" charset="0"/>
            </a:endParaRPr>
          </a:p>
        </p:txBody>
      </p:sp>
      <p:sp>
        <p:nvSpPr>
          <p:cNvPr id="8" name="TextBox 7">
            <a:extLst>
              <a:ext uri="{FF2B5EF4-FFF2-40B4-BE49-F238E27FC236}">
                <a16:creationId xmlns:a16="http://schemas.microsoft.com/office/drawing/2014/main" id="{BD88F471-EEDB-46CD-0BBC-75EB42D700C5}"/>
              </a:ext>
            </a:extLst>
          </p:cNvPr>
          <p:cNvSpPr txBox="1"/>
          <p:nvPr/>
        </p:nvSpPr>
        <p:spPr>
          <a:xfrm>
            <a:off x="3082925" y="983160"/>
            <a:ext cx="6515100" cy="1200329"/>
          </a:xfrm>
          <a:prstGeom prst="rect">
            <a:avLst/>
          </a:prstGeom>
          <a:noFill/>
        </p:spPr>
        <p:txBody>
          <a:bodyPr wrap="square">
            <a:spAutoFit/>
          </a:bodyPr>
          <a:lstStyle/>
          <a:p>
            <a:r>
              <a:rPr lang="en-US" b="1" dirty="0">
                <a:latin typeface="Daytona" panose="020B0604030500040204" pitchFamily="34" charset="0"/>
                <a:ea typeface="Segoe UI Black" panose="020B0A02040204020203" pitchFamily="34" charset="0"/>
              </a:rPr>
              <a:t>select SeatClass,count(*) as TotalBooking</a:t>
            </a:r>
          </a:p>
          <a:p>
            <a:r>
              <a:rPr lang="en-US" b="1" dirty="0">
                <a:latin typeface="Daytona" panose="020B0604030500040204" pitchFamily="34" charset="0"/>
                <a:ea typeface="Segoe UI Black" panose="020B0A02040204020203" pitchFamily="34" charset="0"/>
              </a:rPr>
              <a:t>from booking</a:t>
            </a:r>
          </a:p>
          <a:p>
            <a:r>
              <a:rPr lang="en-US" b="1" dirty="0">
                <a:latin typeface="Daytona" panose="020B0604030500040204" pitchFamily="34" charset="0"/>
                <a:ea typeface="Segoe UI Black" panose="020B0A02040204020203" pitchFamily="34" charset="0"/>
              </a:rPr>
              <a:t>group by SeatClass</a:t>
            </a:r>
          </a:p>
          <a:p>
            <a:r>
              <a:rPr lang="en-US" b="1" dirty="0">
                <a:latin typeface="Daytona" panose="020B0604030500040204" pitchFamily="34" charset="0"/>
                <a:ea typeface="Segoe UI Black" panose="020B0A02040204020203" pitchFamily="34" charset="0"/>
              </a:rPr>
              <a:t>order by TotalBooking desc;</a:t>
            </a:r>
          </a:p>
        </p:txBody>
      </p:sp>
      <p:pic>
        <p:nvPicPr>
          <p:cNvPr id="10" name="Picture 9" descr="A screenshot of a table&#10;&#10;AI-generated content may be incorrect.">
            <a:extLst>
              <a:ext uri="{FF2B5EF4-FFF2-40B4-BE49-F238E27FC236}">
                <a16:creationId xmlns:a16="http://schemas.microsoft.com/office/drawing/2014/main" id="{90D41B85-5773-9EDE-347F-C61C655E97CA}"/>
              </a:ext>
            </a:extLst>
          </p:cNvPr>
          <p:cNvPicPr>
            <a:picLocks noChangeAspect="1"/>
          </p:cNvPicPr>
          <p:nvPr/>
        </p:nvPicPr>
        <p:blipFill>
          <a:blip r:embed="rId3"/>
          <a:stretch>
            <a:fillRect/>
          </a:stretch>
        </p:blipFill>
        <p:spPr>
          <a:xfrm>
            <a:off x="5149704" y="2377002"/>
            <a:ext cx="3539127" cy="3198201"/>
          </a:xfrm>
          <a:prstGeom prst="rect">
            <a:avLst/>
          </a:prstGeom>
          <a:ln w="19050">
            <a:solidFill>
              <a:schemeClr val="tx1"/>
            </a:solidFill>
          </a:ln>
        </p:spPr>
      </p:pic>
    </p:spTree>
    <p:extLst>
      <p:ext uri="{BB962C8B-B14F-4D97-AF65-F5344CB8AC3E}">
        <p14:creationId xmlns:p14="http://schemas.microsoft.com/office/powerpoint/2010/main" val="2356639647"/>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BEE48ABB-8998-6DC6-0D86-37271B3BCAFD}"/>
            </a:ext>
          </a:extLst>
        </p:cNvPr>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8F242A9B-005E-E436-C721-15185179D5AC}"/>
              </a:ext>
            </a:extLst>
          </p:cNvPr>
          <p:cNvSpPr/>
          <p:nvPr/>
        </p:nvSpPr>
        <p:spPr>
          <a:xfrm>
            <a:off x="1874436" y="1339960"/>
            <a:ext cx="10584264" cy="2001886"/>
          </a:xfrm>
          <a:prstGeom prst="round2Same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1400" dirty="0"/>
          </a:p>
        </p:txBody>
      </p:sp>
      <p:sp>
        <p:nvSpPr>
          <p:cNvPr id="7" name="Rectangle: Top Corners Rounded 6">
            <a:extLst>
              <a:ext uri="{FF2B5EF4-FFF2-40B4-BE49-F238E27FC236}">
                <a16:creationId xmlns:a16="http://schemas.microsoft.com/office/drawing/2014/main" id="{8804F16D-8C6E-85F2-25F9-995130FC7028}"/>
              </a:ext>
            </a:extLst>
          </p:cNvPr>
          <p:cNvSpPr/>
          <p:nvPr/>
        </p:nvSpPr>
        <p:spPr>
          <a:xfrm>
            <a:off x="38100" y="5675603"/>
            <a:ext cx="12623800" cy="1384308"/>
          </a:xfrm>
          <a:prstGeom prst="round2SameRect">
            <a:avLst>
              <a:gd name="adj1" fmla="val 16667"/>
              <a:gd name="adj2" fmla="val 0"/>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72" dirty="0"/>
          </a:p>
        </p:txBody>
      </p:sp>
      <p:sp>
        <p:nvSpPr>
          <p:cNvPr id="11" name="TextBox 10">
            <a:extLst>
              <a:ext uri="{FF2B5EF4-FFF2-40B4-BE49-F238E27FC236}">
                <a16:creationId xmlns:a16="http://schemas.microsoft.com/office/drawing/2014/main" id="{801C45C3-CA20-18CA-7606-A7B48DD4990F}"/>
              </a:ext>
            </a:extLst>
          </p:cNvPr>
          <p:cNvSpPr txBox="1"/>
          <p:nvPr/>
        </p:nvSpPr>
        <p:spPr>
          <a:xfrm>
            <a:off x="1733549" y="131721"/>
            <a:ext cx="10858501" cy="1077218"/>
          </a:xfrm>
          <a:prstGeom prst="rect">
            <a:avLst/>
          </a:prstGeom>
          <a:solidFill>
            <a:schemeClr val="accent4">
              <a:lumMod val="50000"/>
            </a:schemeClr>
          </a:solidFill>
        </p:spPr>
        <p:txBody>
          <a:bodyPr wrap="square" rtlCol="0">
            <a:spAutoFit/>
          </a:bodyPr>
          <a:lstStyle/>
          <a:p>
            <a:pPr algn="ctr"/>
            <a:r>
              <a:rPr lang="en-US" sz="32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28. Find train-wise total revenue and show only       those  trains  whose  revenue  is  above average. </a:t>
            </a:r>
            <a:endParaRPr lang="en-US" sz="28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endParaRPr>
          </a:p>
        </p:txBody>
      </p:sp>
      <p:pic>
        <p:nvPicPr>
          <p:cNvPr id="12" name="Picture 11" descr="A blue and white circular sign with a circular design&#10;&#10;AI-generated content may be incorrect.">
            <a:extLst>
              <a:ext uri="{FF2B5EF4-FFF2-40B4-BE49-F238E27FC236}">
                <a16:creationId xmlns:a16="http://schemas.microsoft.com/office/drawing/2014/main" id="{8F9B49E2-A760-592D-A782-3A91C71423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4358" y="-290387"/>
            <a:ext cx="1956620" cy="1956620"/>
          </a:xfrm>
          <a:prstGeom prst="rect">
            <a:avLst/>
          </a:prstGeom>
        </p:spPr>
      </p:pic>
      <p:sp>
        <p:nvSpPr>
          <p:cNvPr id="13" name="Arrow: Right 12">
            <a:extLst>
              <a:ext uri="{FF2B5EF4-FFF2-40B4-BE49-F238E27FC236}">
                <a16:creationId xmlns:a16="http://schemas.microsoft.com/office/drawing/2014/main" id="{8423697F-80CF-5643-5822-98F693837E53}"/>
              </a:ext>
            </a:extLst>
          </p:cNvPr>
          <p:cNvSpPr/>
          <p:nvPr/>
        </p:nvSpPr>
        <p:spPr>
          <a:xfrm>
            <a:off x="1" y="1310994"/>
            <a:ext cx="1772667" cy="1575452"/>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18E8FA60-F161-5683-3AE6-6E66C64A59F0}"/>
              </a:ext>
            </a:extLst>
          </p:cNvPr>
          <p:cNvSpPr txBox="1"/>
          <p:nvPr/>
        </p:nvSpPr>
        <p:spPr>
          <a:xfrm>
            <a:off x="-165386" y="1831552"/>
            <a:ext cx="1766604" cy="584775"/>
          </a:xfrm>
          <a:prstGeom prst="rect">
            <a:avLst/>
          </a:prstGeom>
          <a:noFill/>
        </p:spPr>
        <p:txBody>
          <a:bodyPr wrap="square" rtlCol="0">
            <a:spAutoFit/>
          </a:bodyPr>
          <a:lstStyle/>
          <a:p>
            <a:pPr algn="ctr"/>
            <a:r>
              <a:rPr lang="en-US" sz="3200" b="1" dirty="0"/>
              <a:t>QUERY</a:t>
            </a:r>
          </a:p>
        </p:txBody>
      </p:sp>
      <p:sp>
        <p:nvSpPr>
          <p:cNvPr id="6" name="TextBox 5">
            <a:extLst>
              <a:ext uri="{FF2B5EF4-FFF2-40B4-BE49-F238E27FC236}">
                <a16:creationId xmlns:a16="http://schemas.microsoft.com/office/drawing/2014/main" id="{38820447-2C04-E21A-0C2E-831BED0DC13F}"/>
              </a:ext>
            </a:extLst>
          </p:cNvPr>
          <p:cNvSpPr txBox="1"/>
          <p:nvPr/>
        </p:nvSpPr>
        <p:spPr>
          <a:xfrm>
            <a:off x="56542" y="5675603"/>
            <a:ext cx="12382500" cy="1631216"/>
          </a:xfrm>
          <a:prstGeom prst="rect">
            <a:avLst/>
          </a:prstGeom>
          <a:noFill/>
        </p:spPr>
        <p:txBody>
          <a:bodyPr wrap="square" rtlCol="0">
            <a:spAutoFit/>
          </a:bodyPr>
          <a:lstStyle/>
          <a:p>
            <a:r>
              <a:rPr lang="en-US" sz="2000" b="1" dirty="0">
                <a:solidFill>
                  <a:schemeClr val="bg1"/>
                </a:solidFill>
                <a:latin typeface="Segoe UI Black" panose="020B0A02040204020203" pitchFamily="34" charset="0"/>
                <a:ea typeface="Segoe UI Black" panose="020B0A02040204020203" pitchFamily="34" charset="0"/>
              </a:rPr>
              <a:t>SUMMARY; This SQL query calculates the total revenue for each train by joining train, booking, and payment tables. It considers only paid bookings and sums the amount paid for every train. The query then compares each train’s revenue with the average revenue. Only those trains whose total revenue is above average are shown in the final result</a:t>
            </a:r>
          </a:p>
          <a:p>
            <a:endParaRPr lang="en-US" sz="2000" b="1" dirty="0">
              <a:solidFill>
                <a:schemeClr val="bg1"/>
              </a:solidFill>
              <a:latin typeface="Segoe UI Black" panose="020B0A02040204020203" pitchFamily="34" charset="0"/>
              <a:ea typeface="Segoe UI Black" panose="020B0A02040204020203" pitchFamily="34" charset="0"/>
            </a:endParaRPr>
          </a:p>
        </p:txBody>
      </p:sp>
      <p:sp>
        <p:nvSpPr>
          <p:cNvPr id="8" name="TextBox 7">
            <a:extLst>
              <a:ext uri="{FF2B5EF4-FFF2-40B4-BE49-F238E27FC236}">
                <a16:creationId xmlns:a16="http://schemas.microsoft.com/office/drawing/2014/main" id="{68554333-92EC-3EEB-1441-66868D1FDFA5}"/>
              </a:ext>
            </a:extLst>
          </p:cNvPr>
          <p:cNvSpPr txBox="1"/>
          <p:nvPr/>
        </p:nvSpPr>
        <p:spPr>
          <a:xfrm>
            <a:off x="2190142" y="1426368"/>
            <a:ext cx="10248900" cy="1815882"/>
          </a:xfrm>
          <a:prstGeom prst="rect">
            <a:avLst/>
          </a:prstGeom>
          <a:noFill/>
        </p:spPr>
        <p:txBody>
          <a:bodyPr wrap="square">
            <a:spAutoFit/>
          </a:bodyPr>
          <a:lstStyle/>
          <a:p>
            <a:r>
              <a:rPr lang="en-US" sz="1600" b="1" dirty="0">
                <a:latin typeface="Daytona" panose="020B0604030500040204" pitchFamily="34" charset="0"/>
                <a:ea typeface="Segoe UI Black" panose="020B0A02040204020203" pitchFamily="34" charset="0"/>
              </a:rPr>
              <a:t>with Trainrevenue as(select T.TrainID,T.TrainName,sum(p.AmountPaid) as Totalrevenue</a:t>
            </a:r>
          </a:p>
          <a:p>
            <a:r>
              <a:rPr lang="en-US" sz="1600" b="1" dirty="0">
                <a:latin typeface="Daytona" panose="020B0604030500040204" pitchFamily="34" charset="0"/>
                <a:ea typeface="Segoe UI Black" panose="020B0A02040204020203" pitchFamily="34" charset="0"/>
              </a:rPr>
              <a:t>from Train as T</a:t>
            </a:r>
          </a:p>
          <a:p>
            <a:r>
              <a:rPr lang="en-US" sz="1600" b="1" dirty="0">
                <a:latin typeface="Daytona" panose="020B0604030500040204" pitchFamily="34" charset="0"/>
                <a:ea typeface="Segoe UI Black" panose="020B0A02040204020203" pitchFamily="34" charset="0"/>
              </a:rPr>
              <a:t>join booking as B on B.TrainID = T.TrainID</a:t>
            </a:r>
          </a:p>
          <a:p>
            <a:r>
              <a:rPr lang="en-US" sz="1600" b="1" dirty="0">
                <a:latin typeface="Daytona" panose="020B0604030500040204" pitchFamily="34" charset="0"/>
                <a:ea typeface="Segoe UI Black" panose="020B0A02040204020203" pitchFamily="34" charset="0"/>
              </a:rPr>
              <a:t>join Payment as p on B.BookingID = p.BookingID</a:t>
            </a:r>
          </a:p>
          <a:p>
            <a:r>
              <a:rPr lang="en-US" sz="1600" b="1" dirty="0">
                <a:latin typeface="Daytona" panose="020B0604030500040204" pitchFamily="34" charset="0"/>
                <a:ea typeface="Segoe UI Black" panose="020B0A02040204020203" pitchFamily="34" charset="0"/>
              </a:rPr>
              <a:t>where p.PaymentStatus = 'Paid’</a:t>
            </a:r>
          </a:p>
          <a:p>
            <a:r>
              <a:rPr lang="en-US" sz="1600" b="1" dirty="0">
                <a:latin typeface="Daytona" panose="020B0604030500040204" pitchFamily="34" charset="0"/>
                <a:ea typeface="Segoe UI Black" panose="020B0A02040204020203" pitchFamily="34" charset="0"/>
              </a:rPr>
              <a:t>group by T.TrainID,T.TrainName)</a:t>
            </a:r>
          </a:p>
          <a:p>
            <a:r>
              <a:rPr lang="en-US" sz="1600" b="1" dirty="0">
                <a:latin typeface="Daytona" panose="020B0604030500040204" pitchFamily="34" charset="0"/>
                <a:ea typeface="Segoe UI Black" panose="020B0A02040204020203" pitchFamily="34" charset="0"/>
              </a:rPr>
              <a:t>select* from Trainrevenuewhere Totalrevenue &gt; (select avg(Totalrevenue) from Trainrevenue);</a:t>
            </a:r>
          </a:p>
        </p:txBody>
      </p:sp>
      <p:pic>
        <p:nvPicPr>
          <p:cNvPr id="3" name="Picture 2" descr="A screenshot of a computer&#10;&#10;AI-generated content may be incorrect.">
            <a:extLst>
              <a:ext uri="{FF2B5EF4-FFF2-40B4-BE49-F238E27FC236}">
                <a16:creationId xmlns:a16="http://schemas.microsoft.com/office/drawing/2014/main" id="{CECA9D03-9A3F-A8C2-B7CA-8D1AE22304F3}"/>
              </a:ext>
            </a:extLst>
          </p:cNvPr>
          <p:cNvPicPr>
            <a:picLocks noChangeAspect="1"/>
          </p:cNvPicPr>
          <p:nvPr/>
        </p:nvPicPr>
        <p:blipFill>
          <a:blip r:embed="rId3"/>
          <a:stretch>
            <a:fillRect/>
          </a:stretch>
        </p:blipFill>
        <p:spPr>
          <a:xfrm>
            <a:off x="4078099" y="3395305"/>
            <a:ext cx="5559805" cy="2180702"/>
          </a:xfrm>
          <a:prstGeom prst="rect">
            <a:avLst/>
          </a:prstGeom>
          <a:ln w="19050">
            <a:solidFill>
              <a:schemeClr val="tx1"/>
            </a:solidFill>
          </a:ln>
        </p:spPr>
      </p:pic>
    </p:spTree>
    <p:extLst>
      <p:ext uri="{BB962C8B-B14F-4D97-AF65-F5344CB8AC3E}">
        <p14:creationId xmlns:p14="http://schemas.microsoft.com/office/powerpoint/2010/main" val="2539081585"/>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3C961B91-FB7D-7238-B9C8-AF802A4CAD3F}"/>
            </a:ext>
          </a:extLst>
        </p:cNvPr>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D2162D2D-5DCC-27DA-4061-1D5E96A62850}"/>
              </a:ext>
            </a:extLst>
          </p:cNvPr>
          <p:cNvSpPr/>
          <p:nvPr/>
        </p:nvSpPr>
        <p:spPr>
          <a:xfrm>
            <a:off x="1874435" y="1244709"/>
            <a:ext cx="10806515" cy="1984717"/>
          </a:xfrm>
          <a:prstGeom prst="round2Same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1400" dirty="0"/>
          </a:p>
        </p:txBody>
      </p:sp>
      <p:sp>
        <p:nvSpPr>
          <p:cNvPr id="7" name="Rectangle: Top Corners Rounded 6">
            <a:extLst>
              <a:ext uri="{FF2B5EF4-FFF2-40B4-BE49-F238E27FC236}">
                <a16:creationId xmlns:a16="http://schemas.microsoft.com/office/drawing/2014/main" id="{94FEDF15-8A9A-FB80-0701-31AF26A8FC4E}"/>
              </a:ext>
            </a:extLst>
          </p:cNvPr>
          <p:cNvSpPr/>
          <p:nvPr/>
        </p:nvSpPr>
        <p:spPr>
          <a:xfrm>
            <a:off x="38100" y="5675603"/>
            <a:ext cx="12623800" cy="1384308"/>
          </a:xfrm>
          <a:prstGeom prst="round2SameRect">
            <a:avLst>
              <a:gd name="adj1" fmla="val 16667"/>
              <a:gd name="adj2" fmla="val 0"/>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72" dirty="0"/>
          </a:p>
        </p:txBody>
      </p:sp>
      <p:sp>
        <p:nvSpPr>
          <p:cNvPr id="11" name="TextBox 10">
            <a:extLst>
              <a:ext uri="{FF2B5EF4-FFF2-40B4-BE49-F238E27FC236}">
                <a16:creationId xmlns:a16="http://schemas.microsoft.com/office/drawing/2014/main" id="{1BAE4824-E9B2-EB8D-B270-E23F5527B4AF}"/>
              </a:ext>
            </a:extLst>
          </p:cNvPr>
          <p:cNvSpPr txBox="1"/>
          <p:nvPr/>
        </p:nvSpPr>
        <p:spPr>
          <a:xfrm>
            <a:off x="1733549" y="131721"/>
            <a:ext cx="10858501" cy="1077218"/>
          </a:xfrm>
          <a:prstGeom prst="rect">
            <a:avLst/>
          </a:prstGeom>
          <a:solidFill>
            <a:schemeClr val="accent4">
              <a:lumMod val="50000"/>
            </a:schemeClr>
          </a:solidFill>
        </p:spPr>
        <p:txBody>
          <a:bodyPr wrap="square" rtlCol="0">
            <a:spAutoFit/>
          </a:bodyPr>
          <a:lstStyle/>
          <a:p>
            <a:pPr algn="ctr"/>
            <a:r>
              <a:rPr lang="en-US" sz="32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29. Create a VIEW to show booking, train, and payment summary.</a:t>
            </a:r>
            <a:endParaRPr lang="en-US" sz="28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endParaRPr>
          </a:p>
        </p:txBody>
      </p:sp>
      <p:pic>
        <p:nvPicPr>
          <p:cNvPr id="12" name="Picture 11" descr="A blue and white circular sign with a circular design&#10;&#10;AI-generated content may be incorrect.">
            <a:extLst>
              <a:ext uri="{FF2B5EF4-FFF2-40B4-BE49-F238E27FC236}">
                <a16:creationId xmlns:a16="http://schemas.microsoft.com/office/drawing/2014/main" id="{39F5941A-31C0-DD9E-4F0F-493CC1DA91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4358" y="-290387"/>
            <a:ext cx="1956620" cy="1956620"/>
          </a:xfrm>
          <a:prstGeom prst="rect">
            <a:avLst/>
          </a:prstGeom>
        </p:spPr>
      </p:pic>
      <p:sp>
        <p:nvSpPr>
          <p:cNvPr id="13" name="Arrow: Right 12">
            <a:extLst>
              <a:ext uri="{FF2B5EF4-FFF2-40B4-BE49-F238E27FC236}">
                <a16:creationId xmlns:a16="http://schemas.microsoft.com/office/drawing/2014/main" id="{646A5F90-C6E7-D415-9FF0-3F8E4A91468D}"/>
              </a:ext>
            </a:extLst>
          </p:cNvPr>
          <p:cNvSpPr/>
          <p:nvPr/>
        </p:nvSpPr>
        <p:spPr>
          <a:xfrm>
            <a:off x="1" y="1310994"/>
            <a:ext cx="1772667" cy="1575452"/>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24973208-9F64-0810-FA3B-C82DEECF2735}"/>
              </a:ext>
            </a:extLst>
          </p:cNvPr>
          <p:cNvSpPr txBox="1"/>
          <p:nvPr/>
        </p:nvSpPr>
        <p:spPr>
          <a:xfrm>
            <a:off x="-165386" y="1831552"/>
            <a:ext cx="1766604" cy="584775"/>
          </a:xfrm>
          <a:prstGeom prst="rect">
            <a:avLst/>
          </a:prstGeom>
          <a:noFill/>
        </p:spPr>
        <p:txBody>
          <a:bodyPr wrap="square" rtlCol="0">
            <a:spAutoFit/>
          </a:bodyPr>
          <a:lstStyle/>
          <a:p>
            <a:pPr algn="ctr"/>
            <a:r>
              <a:rPr lang="en-US" sz="3200" b="1" dirty="0"/>
              <a:t>QUERY</a:t>
            </a:r>
          </a:p>
        </p:txBody>
      </p:sp>
      <p:sp>
        <p:nvSpPr>
          <p:cNvPr id="6" name="TextBox 5">
            <a:extLst>
              <a:ext uri="{FF2B5EF4-FFF2-40B4-BE49-F238E27FC236}">
                <a16:creationId xmlns:a16="http://schemas.microsoft.com/office/drawing/2014/main" id="{F2C61E4B-A4E9-51B5-9926-5C54A5B0B1E3}"/>
              </a:ext>
            </a:extLst>
          </p:cNvPr>
          <p:cNvSpPr txBox="1"/>
          <p:nvPr/>
        </p:nvSpPr>
        <p:spPr>
          <a:xfrm>
            <a:off x="56542" y="5618453"/>
            <a:ext cx="12382500" cy="1815882"/>
          </a:xfrm>
          <a:prstGeom prst="rect">
            <a:avLst/>
          </a:prstGeom>
          <a:noFill/>
        </p:spPr>
        <p:txBody>
          <a:bodyPr wrap="square" rtlCol="0">
            <a:spAutoFit/>
          </a:bodyPr>
          <a:lstStyle/>
          <a:p>
            <a:r>
              <a:rPr lang="en-US" sz="2000" b="1" dirty="0">
                <a:solidFill>
                  <a:schemeClr val="bg1"/>
                </a:solidFill>
                <a:latin typeface="Segoe UI Black" panose="020B0A02040204020203" pitchFamily="34" charset="0"/>
                <a:ea typeface="Segoe UI Black" panose="020B0A02040204020203" pitchFamily="34" charset="0"/>
              </a:rPr>
              <a:t>SUMMARY;</a:t>
            </a:r>
            <a:r>
              <a:rPr lang="en-US" sz="2000" dirty="0"/>
              <a:t> </a:t>
            </a:r>
            <a:r>
              <a:rPr lang="en-US" b="1" dirty="0">
                <a:solidFill>
                  <a:schemeClr val="bg1"/>
                </a:solidFill>
                <a:latin typeface="Segoe UI Black" panose="020B0A02040204020203" pitchFamily="34" charset="0"/>
                <a:ea typeface="Segoe UI Black" panose="020B0A02040204020203" pitchFamily="34" charset="0"/>
              </a:rPr>
              <a:t>This SQL statement creates a VIEW that combines booking, train, and payment details into a single summary. It joins the booking, train, and payment tables using their related </a:t>
            </a:r>
            <a:r>
              <a:rPr lang="en-US" b="1" dirty="0" err="1">
                <a:solidFill>
                  <a:schemeClr val="bg1"/>
                </a:solidFill>
                <a:latin typeface="Segoe UI Black" panose="020B0A02040204020203" pitchFamily="34" charset="0"/>
                <a:ea typeface="Segoe UI Black" panose="020B0A02040204020203" pitchFamily="34" charset="0"/>
              </a:rPr>
              <a:t>IDs.The</a:t>
            </a:r>
            <a:r>
              <a:rPr lang="en-US" b="1" dirty="0">
                <a:solidFill>
                  <a:schemeClr val="bg1"/>
                </a:solidFill>
                <a:latin typeface="Segoe UI Black" panose="020B0A02040204020203" pitchFamily="34" charset="0"/>
                <a:ea typeface="Segoe UI Black" panose="020B0A02040204020203" pitchFamily="34" charset="0"/>
              </a:rPr>
              <a:t> view displays passenger name, train name, journey date, seat class, payment amount, mode, and status. This view makes it easier to view and analyze complete booking and payment information in one place. The final output contains 200 total rows, representing all booking records.</a:t>
            </a:r>
          </a:p>
          <a:p>
            <a:endParaRPr lang="en-US" sz="2000" b="1" dirty="0">
              <a:solidFill>
                <a:schemeClr val="bg1"/>
              </a:solidFill>
              <a:latin typeface="Segoe UI Black" panose="020B0A02040204020203" pitchFamily="34" charset="0"/>
              <a:ea typeface="Segoe UI Black" panose="020B0A02040204020203" pitchFamily="34" charset="0"/>
            </a:endParaRPr>
          </a:p>
        </p:txBody>
      </p:sp>
      <p:sp>
        <p:nvSpPr>
          <p:cNvPr id="8" name="TextBox 7">
            <a:extLst>
              <a:ext uri="{FF2B5EF4-FFF2-40B4-BE49-F238E27FC236}">
                <a16:creationId xmlns:a16="http://schemas.microsoft.com/office/drawing/2014/main" id="{A1B806DD-61A6-B150-A2DC-25F4CAF9C9DB}"/>
              </a:ext>
            </a:extLst>
          </p:cNvPr>
          <p:cNvSpPr txBox="1"/>
          <p:nvPr/>
        </p:nvSpPr>
        <p:spPr>
          <a:xfrm>
            <a:off x="2179235" y="1224299"/>
            <a:ext cx="10248900" cy="2031325"/>
          </a:xfrm>
          <a:prstGeom prst="rect">
            <a:avLst/>
          </a:prstGeom>
          <a:noFill/>
        </p:spPr>
        <p:txBody>
          <a:bodyPr wrap="square">
            <a:spAutoFit/>
          </a:bodyPr>
          <a:lstStyle/>
          <a:p>
            <a:r>
              <a:rPr lang="en-US" b="1" dirty="0">
                <a:latin typeface="Daytona" panose="020B0604030500040204" pitchFamily="34" charset="0"/>
                <a:ea typeface="Segoe UI Black" panose="020B0A02040204020203" pitchFamily="34" charset="0"/>
              </a:rPr>
              <a:t>create VIEW Booking_Train_Payment_Summary as select B.BookingID,B.PassengerName,T.TrainName,B.DateOfJourney,B.SeatClass,P.AmountPaid,P.PaymentMode,P.PaymentStatus</a:t>
            </a:r>
          </a:p>
          <a:p>
            <a:r>
              <a:rPr lang="en-US" b="1" dirty="0">
                <a:latin typeface="Daytona" panose="020B0604030500040204" pitchFamily="34" charset="0"/>
                <a:ea typeface="Segoe UI Black" panose="020B0A02040204020203" pitchFamily="34" charset="0"/>
              </a:rPr>
              <a:t>from booking as B</a:t>
            </a:r>
          </a:p>
          <a:p>
            <a:r>
              <a:rPr lang="en-US" b="1" dirty="0">
                <a:latin typeface="Daytona" panose="020B0604030500040204" pitchFamily="34" charset="0"/>
                <a:ea typeface="Segoe UI Black" panose="020B0A02040204020203" pitchFamily="34" charset="0"/>
              </a:rPr>
              <a:t>join train as T on B.TrainID = T.TrainID</a:t>
            </a:r>
          </a:p>
          <a:p>
            <a:r>
              <a:rPr lang="en-US" b="1" dirty="0">
                <a:latin typeface="Daytona" panose="020B0604030500040204" pitchFamily="34" charset="0"/>
                <a:ea typeface="Segoe UI Black" panose="020B0A02040204020203" pitchFamily="34" charset="0"/>
              </a:rPr>
              <a:t>join payment as Pon B.BookingID = P.BookingID;</a:t>
            </a:r>
          </a:p>
          <a:p>
            <a:r>
              <a:rPr lang="en-US" b="1" dirty="0">
                <a:latin typeface="Daytona" panose="020B0604030500040204" pitchFamily="34" charset="0"/>
                <a:ea typeface="Segoe UI Black" panose="020B0A02040204020203" pitchFamily="34" charset="0"/>
              </a:rPr>
              <a:t>select*from Booking_Train_Payment_Summary;</a:t>
            </a:r>
          </a:p>
        </p:txBody>
      </p:sp>
      <p:pic>
        <p:nvPicPr>
          <p:cNvPr id="4" name="Picture 3" descr="A table with numbers and numbers&#10;&#10;AI-generated content may be incorrect.">
            <a:extLst>
              <a:ext uri="{FF2B5EF4-FFF2-40B4-BE49-F238E27FC236}">
                <a16:creationId xmlns:a16="http://schemas.microsoft.com/office/drawing/2014/main" id="{B1E47873-37D1-5A39-4D11-D01AB4CB159E}"/>
              </a:ext>
            </a:extLst>
          </p:cNvPr>
          <p:cNvPicPr>
            <a:picLocks noChangeAspect="1"/>
          </p:cNvPicPr>
          <p:nvPr/>
        </p:nvPicPr>
        <p:blipFill>
          <a:blip r:embed="rId4"/>
          <a:stretch>
            <a:fillRect/>
          </a:stretch>
        </p:blipFill>
        <p:spPr>
          <a:xfrm>
            <a:off x="3493928" y="3253598"/>
            <a:ext cx="6602572" cy="2410103"/>
          </a:xfrm>
          <a:prstGeom prst="rect">
            <a:avLst/>
          </a:prstGeom>
          <a:ln w="19050">
            <a:solidFill>
              <a:schemeClr val="tx1"/>
            </a:solidFill>
          </a:ln>
        </p:spPr>
      </p:pic>
    </p:spTree>
    <p:extLst>
      <p:ext uri="{BB962C8B-B14F-4D97-AF65-F5344CB8AC3E}">
        <p14:creationId xmlns:p14="http://schemas.microsoft.com/office/powerpoint/2010/main" val="431725944"/>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A30B2D50-BEBD-0144-C530-5CDB6CD4965B}"/>
            </a:ext>
          </a:extLst>
        </p:cNvPr>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B14D6F9E-8BFB-4CF4-BB62-3E82F34BA137}"/>
              </a:ext>
            </a:extLst>
          </p:cNvPr>
          <p:cNvSpPr/>
          <p:nvPr/>
        </p:nvSpPr>
        <p:spPr>
          <a:xfrm>
            <a:off x="1817285" y="1244709"/>
            <a:ext cx="10806515" cy="1984717"/>
          </a:xfrm>
          <a:prstGeom prst="round2Same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1400" dirty="0"/>
          </a:p>
        </p:txBody>
      </p:sp>
      <p:sp>
        <p:nvSpPr>
          <p:cNvPr id="7" name="Rectangle: Top Corners Rounded 6">
            <a:extLst>
              <a:ext uri="{FF2B5EF4-FFF2-40B4-BE49-F238E27FC236}">
                <a16:creationId xmlns:a16="http://schemas.microsoft.com/office/drawing/2014/main" id="{340716B0-3988-D106-A3C6-E359316C48E6}"/>
              </a:ext>
            </a:extLst>
          </p:cNvPr>
          <p:cNvSpPr/>
          <p:nvPr/>
        </p:nvSpPr>
        <p:spPr>
          <a:xfrm>
            <a:off x="38100" y="5675603"/>
            <a:ext cx="12623800" cy="1384308"/>
          </a:xfrm>
          <a:prstGeom prst="round2SameRect">
            <a:avLst>
              <a:gd name="adj1" fmla="val 16667"/>
              <a:gd name="adj2" fmla="val 0"/>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72" dirty="0"/>
          </a:p>
        </p:txBody>
      </p:sp>
      <p:sp>
        <p:nvSpPr>
          <p:cNvPr id="11" name="TextBox 10">
            <a:extLst>
              <a:ext uri="{FF2B5EF4-FFF2-40B4-BE49-F238E27FC236}">
                <a16:creationId xmlns:a16="http://schemas.microsoft.com/office/drawing/2014/main" id="{0A350C0B-BF78-39BD-A6A4-5578790BAECC}"/>
              </a:ext>
            </a:extLst>
          </p:cNvPr>
          <p:cNvSpPr txBox="1"/>
          <p:nvPr/>
        </p:nvSpPr>
        <p:spPr>
          <a:xfrm>
            <a:off x="1733549" y="131721"/>
            <a:ext cx="10858501" cy="1077218"/>
          </a:xfrm>
          <a:prstGeom prst="rect">
            <a:avLst/>
          </a:prstGeom>
          <a:solidFill>
            <a:schemeClr val="accent4">
              <a:lumMod val="50000"/>
            </a:schemeClr>
          </a:solidFill>
        </p:spPr>
        <p:txBody>
          <a:bodyPr wrap="square" rtlCol="0">
            <a:spAutoFit/>
          </a:bodyPr>
          <a:lstStyle/>
          <a:p>
            <a:pPr algn="ctr"/>
            <a:r>
              <a:rPr lang="en-US" sz="32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30. Create a stored procedure to display all bookings for a given TrainID.</a:t>
            </a:r>
            <a:endParaRPr lang="en-US" sz="28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endParaRPr>
          </a:p>
        </p:txBody>
      </p:sp>
      <p:pic>
        <p:nvPicPr>
          <p:cNvPr id="12" name="Picture 11" descr="A blue and white circular sign with a circular design&#10;&#10;AI-generated content may be incorrect.">
            <a:extLst>
              <a:ext uri="{FF2B5EF4-FFF2-40B4-BE49-F238E27FC236}">
                <a16:creationId xmlns:a16="http://schemas.microsoft.com/office/drawing/2014/main" id="{A4807A91-CD6D-67F9-31D5-AD8A604821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2407" y="-307981"/>
            <a:ext cx="1984717" cy="1984717"/>
          </a:xfrm>
          <a:prstGeom prst="rect">
            <a:avLst/>
          </a:prstGeom>
        </p:spPr>
      </p:pic>
      <p:sp>
        <p:nvSpPr>
          <p:cNvPr id="13" name="Arrow: Right 12">
            <a:extLst>
              <a:ext uri="{FF2B5EF4-FFF2-40B4-BE49-F238E27FC236}">
                <a16:creationId xmlns:a16="http://schemas.microsoft.com/office/drawing/2014/main" id="{45EB26C8-355A-AB7E-2B8C-7714343CB091}"/>
              </a:ext>
            </a:extLst>
          </p:cNvPr>
          <p:cNvSpPr/>
          <p:nvPr/>
        </p:nvSpPr>
        <p:spPr>
          <a:xfrm>
            <a:off x="1" y="1310994"/>
            <a:ext cx="1772667" cy="1575452"/>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59DED4BC-3E73-892D-2B48-1B6B07082FFE}"/>
              </a:ext>
            </a:extLst>
          </p:cNvPr>
          <p:cNvSpPr txBox="1"/>
          <p:nvPr/>
        </p:nvSpPr>
        <p:spPr>
          <a:xfrm>
            <a:off x="-165386" y="1831552"/>
            <a:ext cx="1766604" cy="584775"/>
          </a:xfrm>
          <a:prstGeom prst="rect">
            <a:avLst/>
          </a:prstGeom>
          <a:noFill/>
        </p:spPr>
        <p:txBody>
          <a:bodyPr wrap="square" rtlCol="0">
            <a:spAutoFit/>
          </a:bodyPr>
          <a:lstStyle/>
          <a:p>
            <a:pPr algn="ctr"/>
            <a:r>
              <a:rPr lang="en-US" sz="3200" b="1" dirty="0"/>
              <a:t>QUERY</a:t>
            </a:r>
          </a:p>
        </p:txBody>
      </p:sp>
      <p:sp>
        <p:nvSpPr>
          <p:cNvPr id="6" name="TextBox 5">
            <a:extLst>
              <a:ext uri="{FF2B5EF4-FFF2-40B4-BE49-F238E27FC236}">
                <a16:creationId xmlns:a16="http://schemas.microsoft.com/office/drawing/2014/main" id="{A72EBF17-9019-7D57-A823-9FC21AF731A4}"/>
              </a:ext>
            </a:extLst>
          </p:cNvPr>
          <p:cNvSpPr txBox="1"/>
          <p:nvPr/>
        </p:nvSpPr>
        <p:spPr>
          <a:xfrm>
            <a:off x="171449" y="5732752"/>
            <a:ext cx="12363450" cy="1477328"/>
          </a:xfrm>
          <a:prstGeom prst="rect">
            <a:avLst/>
          </a:prstGeom>
          <a:noFill/>
        </p:spPr>
        <p:txBody>
          <a:bodyPr wrap="square" rtlCol="0">
            <a:spAutoFit/>
          </a:bodyPr>
          <a:lstStyle/>
          <a:p>
            <a:r>
              <a:rPr lang="en-US" b="1" dirty="0">
                <a:solidFill>
                  <a:schemeClr val="bg1"/>
                </a:solidFill>
                <a:latin typeface="Segoe UI Black" panose="020B0A02040204020203" pitchFamily="34" charset="0"/>
                <a:ea typeface="Segoe UI Black" panose="020B0A02040204020203" pitchFamily="34" charset="0"/>
              </a:rPr>
              <a:t>SUMMARY</a:t>
            </a:r>
            <a:r>
              <a:rPr lang="en-US" dirty="0">
                <a:solidFill>
                  <a:schemeClr val="bg1"/>
                </a:solidFill>
                <a:latin typeface="Segoe UI Black" panose="020B0A02040204020203" pitchFamily="34" charset="0"/>
                <a:ea typeface="Segoe UI Black" panose="020B0A02040204020203" pitchFamily="34" charset="0"/>
              </a:rPr>
              <a:t>; This stored procedure is created to display all bookings for a specific </a:t>
            </a:r>
            <a:r>
              <a:rPr lang="en-US" dirty="0" err="1">
                <a:solidFill>
                  <a:schemeClr val="bg1"/>
                </a:solidFill>
                <a:latin typeface="Segoe UI Black" panose="020B0A02040204020203" pitchFamily="34" charset="0"/>
                <a:ea typeface="Segoe UI Black" panose="020B0A02040204020203" pitchFamily="34" charset="0"/>
              </a:rPr>
              <a:t>TrainID.It</a:t>
            </a:r>
            <a:r>
              <a:rPr lang="en-US" dirty="0">
                <a:solidFill>
                  <a:schemeClr val="bg1"/>
                </a:solidFill>
                <a:latin typeface="Segoe UI Black" panose="020B0A02040204020203" pitchFamily="34" charset="0"/>
                <a:ea typeface="Segoe UI Black" panose="020B0A02040204020203" pitchFamily="34" charset="0"/>
              </a:rPr>
              <a:t> accepts Train_ID as an input parameter and retrieves booking details like passenger name, journey date, seat class, and status. The procedure can be executed using a CALL statement by passing the required </a:t>
            </a:r>
            <a:r>
              <a:rPr lang="en-US" dirty="0" err="1">
                <a:solidFill>
                  <a:schemeClr val="bg1"/>
                </a:solidFill>
                <a:latin typeface="Segoe UI Black" panose="020B0A02040204020203" pitchFamily="34" charset="0"/>
                <a:ea typeface="Segoe UI Black" panose="020B0A02040204020203" pitchFamily="34" charset="0"/>
              </a:rPr>
              <a:t>TrainID.This</a:t>
            </a:r>
            <a:r>
              <a:rPr lang="en-US" dirty="0">
                <a:solidFill>
                  <a:schemeClr val="bg1"/>
                </a:solidFill>
                <a:latin typeface="Segoe UI Black" panose="020B0A02040204020203" pitchFamily="34" charset="0"/>
                <a:ea typeface="Segoe UI Black" panose="020B0A02040204020203" pitchFamily="34" charset="0"/>
              </a:rPr>
              <a:t> makes it easy to fetch train-wise booking information whenever needed.</a:t>
            </a:r>
          </a:p>
          <a:p>
            <a:r>
              <a:rPr lang="en-US" dirty="0">
                <a:solidFill>
                  <a:schemeClr val="bg1"/>
                </a:solidFill>
                <a:latin typeface="Segoe UI Black" panose="020B0A02040204020203" pitchFamily="34" charset="0"/>
                <a:ea typeface="Segoe UI Black" panose="020B0A02040204020203" pitchFamily="34" charset="0"/>
              </a:rPr>
              <a:t> </a:t>
            </a:r>
          </a:p>
        </p:txBody>
      </p:sp>
      <p:sp>
        <p:nvSpPr>
          <p:cNvPr id="8" name="TextBox 7">
            <a:extLst>
              <a:ext uri="{FF2B5EF4-FFF2-40B4-BE49-F238E27FC236}">
                <a16:creationId xmlns:a16="http://schemas.microsoft.com/office/drawing/2014/main" id="{0C28884C-EC4D-6F1A-8168-A83A7A7296C0}"/>
              </a:ext>
            </a:extLst>
          </p:cNvPr>
          <p:cNvSpPr txBox="1"/>
          <p:nvPr/>
        </p:nvSpPr>
        <p:spPr>
          <a:xfrm>
            <a:off x="2122084" y="1224299"/>
            <a:ext cx="10412815" cy="2031325"/>
          </a:xfrm>
          <a:prstGeom prst="rect">
            <a:avLst/>
          </a:prstGeom>
          <a:noFill/>
        </p:spPr>
        <p:txBody>
          <a:bodyPr wrap="square">
            <a:spAutoFit/>
          </a:bodyPr>
          <a:lstStyle/>
          <a:p>
            <a:r>
              <a:rPr lang="en-US" b="1" dirty="0">
                <a:latin typeface="Daytona" panose="020B0604030500040204" pitchFamily="34" charset="0"/>
                <a:ea typeface="Segoe UI Black" panose="020B0A02040204020203" pitchFamily="34" charset="0"/>
              </a:rPr>
              <a:t>DELIMITER //CREATE PROCEDURE getBookingByTrain(IN </a:t>
            </a:r>
            <a:r>
              <a:rPr lang="en-US" b="1" dirty="0" err="1">
                <a:latin typeface="Daytona" panose="020B0604030500040204" pitchFamily="34" charset="0"/>
                <a:ea typeface="Segoe UI Black" panose="020B0A02040204020203" pitchFamily="34" charset="0"/>
              </a:rPr>
              <a:t>Train_ID</a:t>
            </a:r>
            <a:r>
              <a:rPr lang="en-US" b="1" dirty="0">
                <a:latin typeface="Daytona" panose="020B0604030500040204" pitchFamily="34" charset="0"/>
                <a:ea typeface="Segoe UI Black" panose="020B0A02040204020203" pitchFamily="34" charset="0"/>
              </a:rPr>
              <a:t> INT)</a:t>
            </a:r>
          </a:p>
          <a:p>
            <a:r>
              <a:rPr lang="en-US" b="1" dirty="0">
                <a:latin typeface="Daytona" panose="020B0604030500040204" pitchFamily="34" charset="0"/>
                <a:ea typeface="Segoe UI Black" panose="020B0A02040204020203" pitchFamily="34" charset="0"/>
              </a:rPr>
              <a:t>BEGIN     SELECT TrainID,BookingID,PassengerName,DateOfJourney,SeatClass,Status</a:t>
            </a:r>
          </a:p>
          <a:p>
            <a:r>
              <a:rPr lang="en-US" b="1" dirty="0">
                <a:latin typeface="Daytona" panose="020B0604030500040204" pitchFamily="34" charset="0"/>
                <a:ea typeface="Segoe UI Black" panose="020B0A02040204020203" pitchFamily="34" charset="0"/>
              </a:rPr>
              <a:t>from booking	</a:t>
            </a:r>
          </a:p>
          <a:p>
            <a:r>
              <a:rPr lang="en-US" b="1" dirty="0">
                <a:latin typeface="Daytona" panose="020B0604030500040204" pitchFamily="34" charset="0"/>
                <a:ea typeface="Segoe UI Black" panose="020B0A02040204020203" pitchFamily="34" charset="0"/>
              </a:rPr>
              <a:t>where TrainID = Train_ID;</a:t>
            </a:r>
          </a:p>
          <a:p>
            <a:r>
              <a:rPr lang="en-US" b="1" dirty="0">
                <a:latin typeface="Daytona" panose="020B0604030500040204" pitchFamily="34" charset="0"/>
                <a:ea typeface="Segoe UI Black" panose="020B0A02040204020203" pitchFamily="34" charset="0"/>
              </a:rPr>
              <a:t>END //DELIMITER ;</a:t>
            </a:r>
          </a:p>
          <a:p>
            <a:r>
              <a:rPr lang="en-US" b="1" dirty="0">
                <a:latin typeface="Daytona" panose="020B0604030500040204" pitchFamily="34" charset="0"/>
                <a:ea typeface="Segoe UI Black" panose="020B0A02040204020203" pitchFamily="34" charset="0"/>
              </a:rPr>
              <a:t>CALL getBookingByTrain(5);</a:t>
            </a:r>
          </a:p>
          <a:p>
            <a:r>
              <a:rPr lang="en-US" b="1" dirty="0">
                <a:latin typeface="Daytona" panose="020B0604030500040204" pitchFamily="34" charset="0"/>
                <a:ea typeface="Segoe UI Black" panose="020B0A02040204020203" pitchFamily="34" charset="0"/>
              </a:rPr>
              <a:t>DROP PROCEDURE getBookingByTrain;</a:t>
            </a:r>
          </a:p>
        </p:txBody>
      </p:sp>
      <p:pic>
        <p:nvPicPr>
          <p:cNvPr id="3" name="Picture 2" descr="A screenshot of a computer&#10;&#10;AI-generated content may be incorrect.">
            <a:extLst>
              <a:ext uri="{FF2B5EF4-FFF2-40B4-BE49-F238E27FC236}">
                <a16:creationId xmlns:a16="http://schemas.microsoft.com/office/drawing/2014/main" id="{4EBCA706-C1A2-8DAB-5083-9FA235B1626C}"/>
              </a:ext>
            </a:extLst>
          </p:cNvPr>
          <p:cNvPicPr>
            <a:picLocks noChangeAspect="1"/>
          </p:cNvPicPr>
          <p:nvPr/>
        </p:nvPicPr>
        <p:blipFill>
          <a:blip r:embed="rId4"/>
          <a:stretch>
            <a:fillRect/>
          </a:stretch>
        </p:blipFill>
        <p:spPr>
          <a:xfrm>
            <a:off x="4321377" y="3301002"/>
            <a:ext cx="4441623" cy="2336501"/>
          </a:xfrm>
          <a:prstGeom prst="rect">
            <a:avLst/>
          </a:prstGeom>
          <a:ln w="19050">
            <a:solidFill>
              <a:schemeClr val="tx1"/>
            </a:solidFill>
          </a:ln>
        </p:spPr>
      </p:pic>
    </p:spTree>
    <p:extLst>
      <p:ext uri="{BB962C8B-B14F-4D97-AF65-F5344CB8AC3E}">
        <p14:creationId xmlns:p14="http://schemas.microsoft.com/office/powerpoint/2010/main" val="4189144878"/>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485A6A40-AF9A-6770-5249-E8A9FCA85335}"/>
            </a:ext>
          </a:extLst>
        </p:cNvPr>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27D194F1-2D0C-158A-2981-47BCB4BA0C95}"/>
              </a:ext>
            </a:extLst>
          </p:cNvPr>
          <p:cNvSpPr/>
          <p:nvPr/>
        </p:nvSpPr>
        <p:spPr>
          <a:xfrm>
            <a:off x="1817286" y="1244709"/>
            <a:ext cx="10717614" cy="2564913"/>
          </a:xfrm>
          <a:prstGeom prst="round2Same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1400" dirty="0"/>
          </a:p>
        </p:txBody>
      </p:sp>
      <p:sp>
        <p:nvSpPr>
          <p:cNvPr id="7" name="Rectangle: Top Corners Rounded 6">
            <a:extLst>
              <a:ext uri="{FF2B5EF4-FFF2-40B4-BE49-F238E27FC236}">
                <a16:creationId xmlns:a16="http://schemas.microsoft.com/office/drawing/2014/main" id="{71AF2F8B-7F48-4B2E-2E6C-F4340825B47C}"/>
              </a:ext>
            </a:extLst>
          </p:cNvPr>
          <p:cNvSpPr/>
          <p:nvPr/>
        </p:nvSpPr>
        <p:spPr>
          <a:xfrm>
            <a:off x="38100" y="5675603"/>
            <a:ext cx="12623800" cy="1384308"/>
          </a:xfrm>
          <a:prstGeom prst="round2SameRect">
            <a:avLst>
              <a:gd name="adj1" fmla="val 16667"/>
              <a:gd name="adj2" fmla="val 0"/>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72" dirty="0"/>
          </a:p>
        </p:txBody>
      </p:sp>
      <p:sp>
        <p:nvSpPr>
          <p:cNvPr id="11" name="TextBox 10">
            <a:extLst>
              <a:ext uri="{FF2B5EF4-FFF2-40B4-BE49-F238E27FC236}">
                <a16:creationId xmlns:a16="http://schemas.microsoft.com/office/drawing/2014/main" id="{0FFC6A92-AD6B-36D7-B742-F77784B7E910}"/>
              </a:ext>
            </a:extLst>
          </p:cNvPr>
          <p:cNvSpPr txBox="1"/>
          <p:nvPr/>
        </p:nvSpPr>
        <p:spPr>
          <a:xfrm>
            <a:off x="1733549" y="131721"/>
            <a:ext cx="10858501" cy="1077218"/>
          </a:xfrm>
          <a:prstGeom prst="rect">
            <a:avLst/>
          </a:prstGeom>
          <a:solidFill>
            <a:schemeClr val="accent4">
              <a:lumMod val="50000"/>
            </a:schemeClr>
          </a:solidFill>
        </p:spPr>
        <p:txBody>
          <a:bodyPr wrap="square" rtlCol="0">
            <a:spAutoFit/>
          </a:bodyPr>
          <a:lstStyle/>
          <a:p>
            <a:pPr algn="ctr"/>
            <a:r>
              <a:rPr lang="en-US" sz="32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31. Automatically update booking status when payment is marked as Paid.</a:t>
            </a:r>
            <a:endParaRPr lang="en-US" sz="28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endParaRPr>
          </a:p>
        </p:txBody>
      </p:sp>
      <p:pic>
        <p:nvPicPr>
          <p:cNvPr id="12" name="Picture 11" descr="A blue and white circular sign with a circular design&#10;&#10;AI-generated content may be incorrect.">
            <a:extLst>
              <a:ext uri="{FF2B5EF4-FFF2-40B4-BE49-F238E27FC236}">
                <a16:creationId xmlns:a16="http://schemas.microsoft.com/office/drawing/2014/main" id="{C184CA97-FC45-93B5-C6F9-B43C49EFC3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2407" y="-307981"/>
            <a:ext cx="1984717" cy="1984717"/>
          </a:xfrm>
          <a:prstGeom prst="rect">
            <a:avLst/>
          </a:prstGeom>
        </p:spPr>
      </p:pic>
      <p:sp>
        <p:nvSpPr>
          <p:cNvPr id="13" name="Arrow: Right 12">
            <a:extLst>
              <a:ext uri="{FF2B5EF4-FFF2-40B4-BE49-F238E27FC236}">
                <a16:creationId xmlns:a16="http://schemas.microsoft.com/office/drawing/2014/main" id="{3D1827E9-752F-6BDF-0862-19BBB9F0C2E3}"/>
              </a:ext>
            </a:extLst>
          </p:cNvPr>
          <p:cNvSpPr/>
          <p:nvPr/>
        </p:nvSpPr>
        <p:spPr>
          <a:xfrm>
            <a:off x="1" y="1310994"/>
            <a:ext cx="1772667" cy="1575452"/>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E75C352D-BF0F-CBB3-2136-F5F8BFF653DE}"/>
              </a:ext>
            </a:extLst>
          </p:cNvPr>
          <p:cNvSpPr txBox="1"/>
          <p:nvPr/>
        </p:nvSpPr>
        <p:spPr>
          <a:xfrm>
            <a:off x="-165386" y="1831552"/>
            <a:ext cx="1766604" cy="584775"/>
          </a:xfrm>
          <a:prstGeom prst="rect">
            <a:avLst/>
          </a:prstGeom>
          <a:noFill/>
        </p:spPr>
        <p:txBody>
          <a:bodyPr wrap="square" rtlCol="0">
            <a:spAutoFit/>
          </a:bodyPr>
          <a:lstStyle/>
          <a:p>
            <a:pPr algn="ctr"/>
            <a:r>
              <a:rPr lang="en-US" sz="3200" b="1" dirty="0"/>
              <a:t>QUERY</a:t>
            </a:r>
          </a:p>
        </p:txBody>
      </p:sp>
      <p:sp>
        <p:nvSpPr>
          <p:cNvPr id="6" name="TextBox 5">
            <a:extLst>
              <a:ext uri="{FF2B5EF4-FFF2-40B4-BE49-F238E27FC236}">
                <a16:creationId xmlns:a16="http://schemas.microsoft.com/office/drawing/2014/main" id="{0C124316-72A9-7BAE-3B51-66DC009BCCF0}"/>
              </a:ext>
            </a:extLst>
          </p:cNvPr>
          <p:cNvSpPr txBox="1"/>
          <p:nvPr/>
        </p:nvSpPr>
        <p:spPr>
          <a:xfrm>
            <a:off x="171449" y="5789902"/>
            <a:ext cx="12363450" cy="1292662"/>
          </a:xfrm>
          <a:prstGeom prst="rect">
            <a:avLst/>
          </a:prstGeom>
          <a:noFill/>
        </p:spPr>
        <p:txBody>
          <a:bodyPr wrap="square" rtlCol="0">
            <a:spAutoFit/>
          </a:bodyPr>
          <a:lstStyle/>
          <a:p>
            <a:r>
              <a:rPr lang="en-US" b="1" dirty="0">
                <a:solidFill>
                  <a:schemeClr val="bg1"/>
                </a:solidFill>
                <a:latin typeface="Segoe UI Black" panose="020B0A02040204020203" pitchFamily="34" charset="0"/>
                <a:ea typeface="Segoe UI Black" panose="020B0A02040204020203" pitchFamily="34" charset="0"/>
              </a:rPr>
              <a:t>SUMMARY</a:t>
            </a:r>
            <a:r>
              <a:rPr lang="en-US" dirty="0">
                <a:solidFill>
                  <a:schemeClr val="bg1"/>
                </a:solidFill>
                <a:latin typeface="Segoe UI Black" panose="020B0A02040204020203" pitchFamily="34" charset="0"/>
                <a:ea typeface="Segoe UI Black" panose="020B0A02040204020203" pitchFamily="34" charset="0"/>
              </a:rPr>
              <a:t>; </a:t>
            </a:r>
            <a:r>
              <a:rPr lang="en-US" sz="2000" b="1" dirty="0">
                <a:solidFill>
                  <a:schemeClr val="bg1"/>
                </a:solidFill>
                <a:latin typeface="Segoe UI Black" panose="020B0A02040204020203" pitchFamily="34" charset="0"/>
                <a:ea typeface="Segoe UI Black" panose="020B0A02040204020203" pitchFamily="34" charset="0"/>
              </a:rPr>
              <a:t>This trigger automatically updates the booking status to “Confirmed” when the payment status is marked as “Paid”. It runs after an update on the payment table and checks each modified </a:t>
            </a:r>
            <a:r>
              <a:rPr lang="en-US" sz="2000" b="1" dirty="0" err="1">
                <a:solidFill>
                  <a:schemeClr val="bg1"/>
                </a:solidFill>
                <a:latin typeface="Segoe UI Black" panose="020B0A02040204020203" pitchFamily="34" charset="0"/>
                <a:ea typeface="Segoe UI Black" panose="020B0A02040204020203" pitchFamily="34" charset="0"/>
              </a:rPr>
              <a:t>row.The</a:t>
            </a:r>
            <a:r>
              <a:rPr lang="en-US" sz="2000" b="1" dirty="0">
                <a:solidFill>
                  <a:schemeClr val="bg1"/>
                </a:solidFill>
                <a:latin typeface="Segoe UI Black" panose="020B0A02040204020203" pitchFamily="34" charset="0"/>
                <a:ea typeface="Segoe UI Black" panose="020B0A02040204020203" pitchFamily="34" charset="0"/>
              </a:rPr>
              <a:t> trigger ensures data consistency between payment and booking tables.</a:t>
            </a:r>
          </a:p>
          <a:p>
            <a:endParaRPr lang="en-US" dirty="0">
              <a:solidFill>
                <a:schemeClr val="bg1"/>
              </a:solidFill>
              <a:latin typeface="Segoe UI Black" panose="020B0A02040204020203" pitchFamily="34" charset="0"/>
              <a:ea typeface="Segoe UI Black" panose="020B0A02040204020203" pitchFamily="34" charset="0"/>
            </a:endParaRPr>
          </a:p>
        </p:txBody>
      </p:sp>
      <p:sp>
        <p:nvSpPr>
          <p:cNvPr id="8" name="TextBox 7">
            <a:extLst>
              <a:ext uri="{FF2B5EF4-FFF2-40B4-BE49-F238E27FC236}">
                <a16:creationId xmlns:a16="http://schemas.microsoft.com/office/drawing/2014/main" id="{CD3D1C1F-183B-C12A-838B-8D2098FB4921}"/>
              </a:ext>
            </a:extLst>
          </p:cNvPr>
          <p:cNvSpPr txBox="1"/>
          <p:nvPr/>
        </p:nvSpPr>
        <p:spPr>
          <a:xfrm>
            <a:off x="2122084" y="1224299"/>
            <a:ext cx="10558866" cy="2585323"/>
          </a:xfrm>
          <a:prstGeom prst="rect">
            <a:avLst/>
          </a:prstGeom>
          <a:noFill/>
        </p:spPr>
        <p:txBody>
          <a:bodyPr wrap="square">
            <a:spAutoFit/>
          </a:bodyPr>
          <a:lstStyle/>
          <a:p>
            <a:r>
              <a:rPr lang="en-US" b="1" dirty="0">
                <a:latin typeface="Daytona" panose="020B0604030500040204" pitchFamily="34" charset="0"/>
                <a:ea typeface="Segoe UI Black" panose="020B0A02040204020203" pitchFamily="34" charset="0"/>
              </a:rPr>
              <a:t>DELIMITER //</a:t>
            </a:r>
          </a:p>
          <a:p>
            <a:r>
              <a:rPr lang="en-US" b="1" dirty="0">
                <a:latin typeface="Daytona" panose="020B0604030500040204" pitchFamily="34" charset="0"/>
                <a:ea typeface="Segoe UI Black" panose="020B0A02040204020203" pitchFamily="34" charset="0"/>
              </a:rPr>
              <a:t>CREATE TRIGGER AFTERPAYMENTMODEAFTER UPDATE ON payment FOR EACH ROW</a:t>
            </a:r>
          </a:p>
          <a:p>
            <a:r>
              <a:rPr lang="en-US" b="1" dirty="0">
                <a:latin typeface="Daytona" panose="020B0604030500040204" pitchFamily="34" charset="0"/>
                <a:ea typeface="Segoe UI Black" panose="020B0A02040204020203" pitchFamily="34" charset="0"/>
              </a:rPr>
              <a:t>BEGIN IF NEW.PaymenTStatus = 'Paid' THEN  </a:t>
            </a:r>
          </a:p>
          <a:p>
            <a:r>
              <a:rPr lang="en-US" b="1" dirty="0">
                <a:latin typeface="Daytona" panose="020B0604030500040204" pitchFamily="34" charset="0"/>
                <a:ea typeface="Segoe UI Black" panose="020B0A02040204020203" pitchFamily="34" charset="0"/>
              </a:rPr>
              <a:t>update booking </a:t>
            </a:r>
          </a:p>
          <a:p>
            <a:r>
              <a:rPr lang="en-US" b="1" dirty="0">
                <a:latin typeface="Daytona" panose="020B0604030500040204" pitchFamily="34" charset="0"/>
                <a:ea typeface="Segoe UI Black" panose="020B0A02040204020203" pitchFamily="34" charset="0"/>
              </a:rPr>
              <a:t> SET Status = 'Confirmed’  </a:t>
            </a:r>
          </a:p>
          <a:p>
            <a:r>
              <a:rPr lang="en-US" b="1" dirty="0">
                <a:latin typeface="Daytona" panose="020B0604030500040204" pitchFamily="34" charset="0"/>
                <a:ea typeface="Segoe UI Black" panose="020B0A02040204020203" pitchFamily="34" charset="0"/>
              </a:rPr>
              <a:t>where BookingID = NEW.BookingID ; </a:t>
            </a:r>
          </a:p>
          <a:p>
            <a:r>
              <a:rPr lang="en-US" b="1" dirty="0">
                <a:latin typeface="Daytona" panose="020B0604030500040204" pitchFamily="34" charset="0"/>
                <a:ea typeface="Segoe UI Black" panose="020B0A02040204020203" pitchFamily="34" charset="0"/>
              </a:rPr>
              <a:t> END IF; </a:t>
            </a:r>
          </a:p>
          <a:p>
            <a:r>
              <a:rPr lang="en-US" b="1" dirty="0">
                <a:latin typeface="Daytona" panose="020B0604030500040204" pitchFamily="34" charset="0"/>
                <a:ea typeface="Segoe UI Black" panose="020B0A02040204020203" pitchFamily="34" charset="0"/>
              </a:rPr>
              <a:t> END // </a:t>
            </a:r>
          </a:p>
          <a:p>
            <a:r>
              <a:rPr lang="en-US" b="1" dirty="0">
                <a:latin typeface="Daytona" panose="020B0604030500040204" pitchFamily="34" charset="0"/>
                <a:ea typeface="Segoe UI Black" panose="020B0A02040204020203" pitchFamily="34" charset="0"/>
              </a:rPr>
              <a:t>DELIMITER ;</a:t>
            </a:r>
          </a:p>
        </p:txBody>
      </p:sp>
      <p:sp>
        <p:nvSpPr>
          <p:cNvPr id="2" name="Rectangle: Top Corners Rounded 1">
            <a:extLst>
              <a:ext uri="{FF2B5EF4-FFF2-40B4-BE49-F238E27FC236}">
                <a16:creationId xmlns:a16="http://schemas.microsoft.com/office/drawing/2014/main" id="{1E7D15EC-CEB0-2EFD-FE6E-CDB5917ADDA4}"/>
              </a:ext>
            </a:extLst>
          </p:cNvPr>
          <p:cNvSpPr/>
          <p:nvPr/>
        </p:nvSpPr>
        <p:spPr>
          <a:xfrm>
            <a:off x="1066799" y="3998096"/>
            <a:ext cx="10934701" cy="1368324"/>
          </a:xfrm>
          <a:prstGeom prst="round2SameRect">
            <a:avLst>
              <a:gd name="adj1" fmla="val 16667"/>
              <a:gd name="adj2" fmla="val 0"/>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72" dirty="0"/>
          </a:p>
        </p:txBody>
      </p:sp>
      <p:sp>
        <p:nvSpPr>
          <p:cNvPr id="4" name="TextBox 3">
            <a:extLst>
              <a:ext uri="{FF2B5EF4-FFF2-40B4-BE49-F238E27FC236}">
                <a16:creationId xmlns:a16="http://schemas.microsoft.com/office/drawing/2014/main" id="{77807E40-8BF7-D69F-47A4-AD2CDCF8E99D}"/>
              </a:ext>
            </a:extLst>
          </p:cNvPr>
          <p:cNvSpPr txBox="1"/>
          <p:nvPr/>
        </p:nvSpPr>
        <p:spPr>
          <a:xfrm>
            <a:off x="1200148" y="4074295"/>
            <a:ext cx="10709187" cy="1200329"/>
          </a:xfrm>
          <a:prstGeom prst="rect">
            <a:avLst/>
          </a:prstGeom>
          <a:noFill/>
        </p:spPr>
        <p:txBody>
          <a:bodyPr wrap="square" rtlCol="0">
            <a:spAutoFit/>
          </a:bodyPr>
          <a:lstStyle/>
          <a:p>
            <a:r>
              <a:rPr lang="en-US" b="1" dirty="0">
                <a:solidFill>
                  <a:schemeClr val="bg1"/>
                </a:solidFill>
                <a:latin typeface="Segoe UI Black" panose="020B0A02040204020203" pitchFamily="34" charset="0"/>
                <a:ea typeface="Segoe UI Black" panose="020B0A02040204020203" pitchFamily="34" charset="0"/>
              </a:rPr>
              <a:t>NOTE </a:t>
            </a:r>
            <a:r>
              <a:rPr lang="en-US" dirty="0">
                <a:solidFill>
                  <a:schemeClr val="bg1"/>
                </a:solidFill>
                <a:latin typeface="Segoe UI Black" panose="020B0A02040204020203" pitchFamily="34" charset="0"/>
                <a:ea typeface="Segoe UI Black" panose="020B0A02040204020203" pitchFamily="34" charset="0"/>
              </a:rPr>
              <a:t>; </a:t>
            </a:r>
            <a:r>
              <a:rPr lang="en-US" sz="2400" b="1" dirty="0">
                <a:solidFill>
                  <a:schemeClr val="bg1"/>
                </a:solidFill>
                <a:latin typeface="Segoe UI Black" panose="020B0A02040204020203" pitchFamily="34" charset="0"/>
                <a:ea typeface="Segoe UI Black" panose="020B0A02040204020203" pitchFamily="34" charset="0"/>
              </a:rPr>
              <a:t>This is a trigger, so it does not produce any direct output or result set . It works automatically in the background when a specific event occurs.</a:t>
            </a:r>
          </a:p>
        </p:txBody>
      </p:sp>
    </p:spTree>
    <p:extLst>
      <p:ext uri="{BB962C8B-B14F-4D97-AF65-F5344CB8AC3E}">
        <p14:creationId xmlns:p14="http://schemas.microsoft.com/office/powerpoint/2010/main" val="2595159148"/>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3EA98699-2BB3-7B55-5E18-13728ACC61FD}"/>
            </a:ext>
          </a:extLst>
        </p:cNvPr>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8CCCC236-B0C4-79E9-38C8-55C5B14EAC99}"/>
              </a:ext>
            </a:extLst>
          </p:cNvPr>
          <p:cNvSpPr/>
          <p:nvPr/>
        </p:nvSpPr>
        <p:spPr>
          <a:xfrm>
            <a:off x="1988736" y="1301860"/>
            <a:ext cx="8665379" cy="1384308"/>
          </a:xfrm>
          <a:prstGeom prst="round2Same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1400" dirty="0"/>
          </a:p>
        </p:txBody>
      </p:sp>
      <p:sp>
        <p:nvSpPr>
          <p:cNvPr id="7" name="Rectangle: Top Corners Rounded 6">
            <a:extLst>
              <a:ext uri="{FF2B5EF4-FFF2-40B4-BE49-F238E27FC236}">
                <a16:creationId xmlns:a16="http://schemas.microsoft.com/office/drawing/2014/main" id="{EA67BF1C-49B9-945B-8315-851038567872}"/>
              </a:ext>
            </a:extLst>
          </p:cNvPr>
          <p:cNvSpPr/>
          <p:nvPr/>
        </p:nvSpPr>
        <p:spPr>
          <a:xfrm>
            <a:off x="38100" y="5675603"/>
            <a:ext cx="12623800" cy="1384308"/>
          </a:xfrm>
          <a:prstGeom prst="round2SameRect">
            <a:avLst>
              <a:gd name="adj1" fmla="val 16667"/>
              <a:gd name="adj2" fmla="val 0"/>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72" dirty="0"/>
          </a:p>
        </p:txBody>
      </p:sp>
      <p:sp>
        <p:nvSpPr>
          <p:cNvPr id="11" name="TextBox 10">
            <a:extLst>
              <a:ext uri="{FF2B5EF4-FFF2-40B4-BE49-F238E27FC236}">
                <a16:creationId xmlns:a16="http://schemas.microsoft.com/office/drawing/2014/main" id="{81DCF78E-3464-811B-F6C1-4CF5C5B7DD02}"/>
              </a:ext>
            </a:extLst>
          </p:cNvPr>
          <p:cNvSpPr txBox="1"/>
          <p:nvPr/>
        </p:nvSpPr>
        <p:spPr>
          <a:xfrm>
            <a:off x="1733549" y="131721"/>
            <a:ext cx="10858501" cy="1015663"/>
          </a:xfrm>
          <a:prstGeom prst="rect">
            <a:avLst/>
          </a:prstGeom>
          <a:solidFill>
            <a:schemeClr val="accent4">
              <a:lumMod val="50000"/>
            </a:schemeClr>
          </a:solidFill>
        </p:spPr>
        <p:txBody>
          <a:bodyPr wrap="square" rtlCol="0">
            <a:spAutoFit/>
          </a:bodyPr>
          <a:lstStyle/>
          <a:p>
            <a:pPr algn="ctr"/>
            <a:r>
              <a:rPr lang="en-US" sz="32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  32. </a:t>
            </a:r>
            <a:r>
              <a:rPr lang="en-US" sz="28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Find the top 5 most popular source–destination pairs based on the total number of bookings.</a:t>
            </a:r>
          </a:p>
        </p:txBody>
      </p:sp>
      <p:pic>
        <p:nvPicPr>
          <p:cNvPr id="12" name="Picture 11" descr="A blue and white circular sign with a circular design&#10;&#10;AI-generated content may be incorrect.">
            <a:extLst>
              <a:ext uri="{FF2B5EF4-FFF2-40B4-BE49-F238E27FC236}">
                <a16:creationId xmlns:a16="http://schemas.microsoft.com/office/drawing/2014/main" id="{FD733892-B290-E2FA-0D78-44AF37FB45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0631" y="-253742"/>
            <a:ext cx="1766604" cy="1766604"/>
          </a:xfrm>
          <a:prstGeom prst="rect">
            <a:avLst/>
          </a:prstGeom>
        </p:spPr>
      </p:pic>
      <p:sp>
        <p:nvSpPr>
          <p:cNvPr id="13" name="Arrow: Right 12">
            <a:extLst>
              <a:ext uri="{FF2B5EF4-FFF2-40B4-BE49-F238E27FC236}">
                <a16:creationId xmlns:a16="http://schemas.microsoft.com/office/drawing/2014/main" id="{7C5DF3EB-E024-1FEB-A3A9-8774BA75C65F}"/>
              </a:ext>
            </a:extLst>
          </p:cNvPr>
          <p:cNvSpPr/>
          <p:nvPr/>
        </p:nvSpPr>
        <p:spPr>
          <a:xfrm>
            <a:off x="1" y="1120494"/>
            <a:ext cx="1772667" cy="1575452"/>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F8EE38DA-B9E4-EB08-D697-67C91FB3984E}"/>
              </a:ext>
            </a:extLst>
          </p:cNvPr>
          <p:cNvSpPr txBox="1"/>
          <p:nvPr/>
        </p:nvSpPr>
        <p:spPr>
          <a:xfrm>
            <a:off x="-165386" y="1641052"/>
            <a:ext cx="1766604" cy="584775"/>
          </a:xfrm>
          <a:prstGeom prst="rect">
            <a:avLst/>
          </a:prstGeom>
          <a:noFill/>
        </p:spPr>
        <p:txBody>
          <a:bodyPr wrap="square" rtlCol="0">
            <a:spAutoFit/>
          </a:bodyPr>
          <a:lstStyle/>
          <a:p>
            <a:pPr algn="ctr"/>
            <a:r>
              <a:rPr lang="en-US" sz="3200" b="1" dirty="0"/>
              <a:t>QUERY</a:t>
            </a:r>
          </a:p>
        </p:txBody>
      </p:sp>
      <p:sp>
        <p:nvSpPr>
          <p:cNvPr id="6" name="TextBox 5">
            <a:extLst>
              <a:ext uri="{FF2B5EF4-FFF2-40B4-BE49-F238E27FC236}">
                <a16:creationId xmlns:a16="http://schemas.microsoft.com/office/drawing/2014/main" id="{313D614C-65DC-4FEE-CE37-3E3F88F89644}"/>
              </a:ext>
            </a:extLst>
          </p:cNvPr>
          <p:cNvSpPr txBox="1"/>
          <p:nvPr/>
        </p:nvSpPr>
        <p:spPr>
          <a:xfrm>
            <a:off x="228599" y="5789902"/>
            <a:ext cx="12363450" cy="1477328"/>
          </a:xfrm>
          <a:prstGeom prst="rect">
            <a:avLst/>
          </a:prstGeom>
          <a:noFill/>
        </p:spPr>
        <p:txBody>
          <a:bodyPr wrap="square" rtlCol="0">
            <a:spAutoFit/>
          </a:bodyPr>
          <a:lstStyle/>
          <a:p>
            <a:r>
              <a:rPr lang="en-US" b="1" dirty="0">
                <a:solidFill>
                  <a:schemeClr val="bg1"/>
                </a:solidFill>
                <a:latin typeface="Segoe UI Black" panose="020B0A02040204020203" pitchFamily="34" charset="0"/>
                <a:ea typeface="Segoe UI Black" panose="020B0A02040204020203" pitchFamily="34" charset="0"/>
              </a:rPr>
              <a:t>SUMMARY</a:t>
            </a:r>
            <a:r>
              <a:rPr lang="en-US" dirty="0">
                <a:solidFill>
                  <a:schemeClr val="bg1"/>
                </a:solidFill>
                <a:latin typeface="Segoe UI Black" panose="020B0A02040204020203" pitchFamily="34" charset="0"/>
                <a:ea typeface="Segoe UI Black" panose="020B0A02040204020203" pitchFamily="34" charset="0"/>
              </a:rPr>
              <a:t>; </a:t>
            </a:r>
            <a:r>
              <a:rPr lang="en-US" b="1" dirty="0">
                <a:solidFill>
                  <a:schemeClr val="bg1"/>
                </a:solidFill>
                <a:latin typeface="Segoe UI Black" panose="020B0A02040204020203" pitchFamily="34" charset="0"/>
                <a:ea typeface="Segoe UI Black" panose="020B0A02040204020203" pitchFamily="34" charset="0"/>
              </a:rPr>
              <a:t>This query is used to find the top 5 most popular source–destination routes. Bookings are grouped by FromStation and ToStation.COUNT(*) calculates the total number of bookings for each route.</a:t>
            </a:r>
          </a:p>
          <a:p>
            <a:r>
              <a:rPr lang="en-US" b="1" dirty="0">
                <a:solidFill>
                  <a:schemeClr val="bg1"/>
                </a:solidFill>
                <a:latin typeface="Segoe UI Black" panose="020B0A02040204020203" pitchFamily="34" charset="0"/>
                <a:ea typeface="Segoe UI Black" panose="020B0A02040204020203" pitchFamily="34" charset="0"/>
              </a:rPr>
              <a:t>ORDER BY TotalBookings DESC sorts the routes from most to least booked. LIMIT 5 ensures that only the top 5 routes are displayed.</a:t>
            </a:r>
          </a:p>
          <a:p>
            <a:endParaRPr lang="en-US" dirty="0">
              <a:solidFill>
                <a:schemeClr val="bg1"/>
              </a:solidFill>
              <a:latin typeface="Segoe UI Black" panose="020B0A02040204020203" pitchFamily="34" charset="0"/>
              <a:ea typeface="Segoe UI Black" panose="020B0A02040204020203" pitchFamily="34" charset="0"/>
            </a:endParaRPr>
          </a:p>
        </p:txBody>
      </p:sp>
      <p:sp>
        <p:nvSpPr>
          <p:cNvPr id="8" name="TextBox 7">
            <a:extLst>
              <a:ext uri="{FF2B5EF4-FFF2-40B4-BE49-F238E27FC236}">
                <a16:creationId xmlns:a16="http://schemas.microsoft.com/office/drawing/2014/main" id="{17BDB03C-469E-FAA8-FF3C-0FD46709AA05}"/>
              </a:ext>
            </a:extLst>
          </p:cNvPr>
          <p:cNvSpPr txBox="1"/>
          <p:nvPr/>
        </p:nvSpPr>
        <p:spPr>
          <a:xfrm>
            <a:off x="2331635" y="1300499"/>
            <a:ext cx="7726766" cy="1477328"/>
          </a:xfrm>
          <a:prstGeom prst="rect">
            <a:avLst/>
          </a:prstGeom>
          <a:noFill/>
        </p:spPr>
        <p:txBody>
          <a:bodyPr wrap="square">
            <a:spAutoFit/>
          </a:bodyPr>
          <a:lstStyle/>
          <a:p>
            <a:r>
              <a:rPr lang="en-US" b="1" dirty="0">
                <a:latin typeface="Daytona" panose="020B0604030500040204" pitchFamily="34" charset="0"/>
                <a:ea typeface="Segoe UI Black" panose="020B0A02040204020203" pitchFamily="34" charset="0"/>
              </a:rPr>
              <a:t>select FromStation,ToStation,count(*) as TotalBookings</a:t>
            </a:r>
          </a:p>
          <a:p>
            <a:r>
              <a:rPr lang="en-US" b="1" dirty="0">
                <a:latin typeface="Daytona" panose="020B0604030500040204" pitchFamily="34" charset="0"/>
                <a:ea typeface="Segoe UI Black" panose="020B0A02040204020203" pitchFamily="34" charset="0"/>
              </a:rPr>
              <a:t>from booking</a:t>
            </a:r>
          </a:p>
          <a:p>
            <a:r>
              <a:rPr lang="en-US" b="1" dirty="0">
                <a:latin typeface="Daytona" panose="020B0604030500040204" pitchFamily="34" charset="0"/>
                <a:ea typeface="Segoe UI Black" panose="020B0A02040204020203" pitchFamily="34" charset="0"/>
              </a:rPr>
              <a:t>group by FromStation,ToStation</a:t>
            </a:r>
          </a:p>
          <a:p>
            <a:r>
              <a:rPr lang="en-US" b="1" dirty="0">
                <a:latin typeface="Daytona" panose="020B0604030500040204" pitchFamily="34" charset="0"/>
                <a:ea typeface="Segoe UI Black" panose="020B0A02040204020203" pitchFamily="34" charset="0"/>
              </a:rPr>
              <a:t>order by TotalBookings desc</a:t>
            </a:r>
          </a:p>
          <a:p>
            <a:r>
              <a:rPr lang="en-US" b="1" dirty="0">
                <a:latin typeface="Daytona" panose="020B0604030500040204" pitchFamily="34" charset="0"/>
                <a:ea typeface="Segoe UI Black" panose="020B0A02040204020203" pitchFamily="34" charset="0"/>
              </a:rPr>
              <a:t>limit 5;</a:t>
            </a:r>
          </a:p>
        </p:txBody>
      </p:sp>
      <p:pic>
        <p:nvPicPr>
          <p:cNvPr id="17" name="Picture 16">
            <a:extLst>
              <a:ext uri="{FF2B5EF4-FFF2-40B4-BE49-F238E27FC236}">
                <a16:creationId xmlns:a16="http://schemas.microsoft.com/office/drawing/2014/main" id="{31A204BF-B687-57A8-9230-7306ABA055C4}"/>
              </a:ext>
            </a:extLst>
          </p:cNvPr>
          <p:cNvPicPr>
            <a:picLocks noChangeAspect="1"/>
          </p:cNvPicPr>
          <p:nvPr/>
        </p:nvPicPr>
        <p:blipFill>
          <a:blip r:embed="rId4"/>
          <a:stretch>
            <a:fillRect/>
          </a:stretch>
        </p:blipFill>
        <p:spPr>
          <a:xfrm>
            <a:off x="2679569" y="2800467"/>
            <a:ext cx="7321811" cy="2573160"/>
          </a:xfrm>
          <a:prstGeom prst="rect">
            <a:avLst/>
          </a:prstGeom>
          <a:ln w="19050">
            <a:solidFill>
              <a:schemeClr val="tx1"/>
            </a:solidFill>
          </a:ln>
        </p:spPr>
      </p:pic>
    </p:spTree>
    <p:extLst>
      <p:ext uri="{BB962C8B-B14F-4D97-AF65-F5344CB8AC3E}">
        <p14:creationId xmlns:p14="http://schemas.microsoft.com/office/powerpoint/2010/main" val="2004217027"/>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DEAEF964-EC61-4CF5-D9C8-93663BFF85A2}"/>
            </a:ext>
          </a:extLst>
        </p:cNvPr>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890D1DA6-BDF0-C7F2-6AB2-D588D5C31551}"/>
              </a:ext>
            </a:extLst>
          </p:cNvPr>
          <p:cNvSpPr/>
          <p:nvPr/>
        </p:nvSpPr>
        <p:spPr>
          <a:xfrm>
            <a:off x="1988736" y="1473310"/>
            <a:ext cx="8665379" cy="1384308"/>
          </a:xfrm>
          <a:prstGeom prst="round2Same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1400" dirty="0"/>
          </a:p>
        </p:txBody>
      </p:sp>
      <p:sp>
        <p:nvSpPr>
          <p:cNvPr id="7" name="Rectangle: Top Corners Rounded 6">
            <a:extLst>
              <a:ext uri="{FF2B5EF4-FFF2-40B4-BE49-F238E27FC236}">
                <a16:creationId xmlns:a16="http://schemas.microsoft.com/office/drawing/2014/main" id="{EF3D1F32-046F-ED4F-0158-F3790B000132}"/>
              </a:ext>
            </a:extLst>
          </p:cNvPr>
          <p:cNvSpPr/>
          <p:nvPr/>
        </p:nvSpPr>
        <p:spPr>
          <a:xfrm>
            <a:off x="38100" y="5294603"/>
            <a:ext cx="12623800" cy="1384308"/>
          </a:xfrm>
          <a:prstGeom prst="round2SameRect">
            <a:avLst>
              <a:gd name="adj1" fmla="val 16667"/>
              <a:gd name="adj2" fmla="val 0"/>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72" dirty="0"/>
          </a:p>
        </p:txBody>
      </p:sp>
      <p:sp>
        <p:nvSpPr>
          <p:cNvPr id="11" name="TextBox 10">
            <a:extLst>
              <a:ext uri="{FF2B5EF4-FFF2-40B4-BE49-F238E27FC236}">
                <a16:creationId xmlns:a16="http://schemas.microsoft.com/office/drawing/2014/main" id="{CAD9BF23-50C7-BA8F-3E2F-9BF9B6B30A8C}"/>
              </a:ext>
            </a:extLst>
          </p:cNvPr>
          <p:cNvSpPr txBox="1"/>
          <p:nvPr/>
        </p:nvSpPr>
        <p:spPr>
          <a:xfrm>
            <a:off x="1733549" y="131721"/>
            <a:ext cx="10858501" cy="584775"/>
          </a:xfrm>
          <a:prstGeom prst="rect">
            <a:avLst/>
          </a:prstGeom>
          <a:solidFill>
            <a:schemeClr val="accent4">
              <a:lumMod val="50000"/>
            </a:schemeClr>
          </a:solidFill>
        </p:spPr>
        <p:txBody>
          <a:bodyPr wrap="square" rtlCol="0">
            <a:spAutoFit/>
          </a:bodyPr>
          <a:lstStyle/>
          <a:p>
            <a:pPr algn="ctr"/>
            <a:r>
              <a:rPr lang="en-US" sz="32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  33. Cancelled Bookings by Train</a:t>
            </a:r>
            <a:endParaRPr lang="en-US" sz="28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endParaRPr>
          </a:p>
        </p:txBody>
      </p:sp>
      <p:pic>
        <p:nvPicPr>
          <p:cNvPr id="12" name="Picture 11" descr="A blue and white circular sign with a circular design&#10;&#10;AI-generated content may be incorrect.">
            <a:extLst>
              <a:ext uri="{FF2B5EF4-FFF2-40B4-BE49-F238E27FC236}">
                <a16:creationId xmlns:a16="http://schemas.microsoft.com/office/drawing/2014/main" id="{5187680A-9D22-8894-3B5E-314316FA29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8047" y="-187418"/>
            <a:ext cx="1411004" cy="1411004"/>
          </a:xfrm>
          <a:prstGeom prst="rect">
            <a:avLst/>
          </a:prstGeom>
        </p:spPr>
      </p:pic>
      <p:sp>
        <p:nvSpPr>
          <p:cNvPr id="13" name="Arrow: Right 12">
            <a:extLst>
              <a:ext uri="{FF2B5EF4-FFF2-40B4-BE49-F238E27FC236}">
                <a16:creationId xmlns:a16="http://schemas.microsoft.com/office/drawing/2014/main" id="{CD9F1C11-1EF9-BCF9-412E-415E94D84508}"/>
              </a:ext>
            </a:extLst>
          </p:cNvPr>
          <p:cNvSpPr/>
          <p:nvPr/>
        </p:nvSpPr>
        <p:spPr>
          <a:xfrm>
            <a:off x="1" y="1406244"/>
            <a:ext cx="1772667" cy="1575452"/>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1DE30C4-832C-E217-DAE6-34BA1DF5FA0A}"/>
              </a:ext>
            </a:extLst>
          </p:cNvPr>
          <p:cNvSpPr txBox="1"/>
          <p:nvPr/>
        </p:nvSpPr>
        <p:spPr>
          <a:xfrm>
            <a:off x="-165386" y="1926802"/>
            <a:ext cx="1766604" cy="584775"/>
          </a:xfrm>
          <a:prstGeom prst="rect">
            <a:avLst/>
          </a:prstGeom>
          <a:noFill/>
        </p:spPr>
        <p:txBody>
          <a:bodyPr wrap="square" rtlCol="0">
            <a:spAutoFit/>
          </a:bodyPr>
          <a:lstStyle/>
          <a:p>
            <a:pPr algn="ctr"/>
            <a:r>
              <a:rPr lang="en-US" sz="3200" b="1" dirty="0"/>
              <a:t>QUERY</a:t>
            </a:r>
          </a:p>
        </p:txBody>
      </p:sp>
      <p:sp>
        <p:nvSpPr>
          <p:cNvPr id="6" name="TextBox 5">
            <a:extLst>
              <a:ext uri="{FF2B5EF4-FFF2-40B4-BE49-F238E27FC236}">
                <a16:creationId xmlns:a16="http://schemas.microsoft.com/office/drawing/2014/main" id="{849B5398-FA8A-1B2E-B3FC-C4EFD52B7BF3}"/>
              </a:ext>
            </a:extLst>
          </p:cNvPr>
          <p:cNvSpPr txBox="1"/>
          <p:nvPr/>
        </p:nvSpPr>
        <p:spPr>
          <a:xfrm>
            <a:off x="190501" y="5386262"/>
            <a:ext cx="12401548" cy="1477328"/>
          </a:xfrm>
          <a:prstGeom prst="rect">
            <a:avLst/>
          </a:prstGeom>
          <a:noFill/>
        </p:spPr>
        <p:txBody>
          <a:bodyPr wrap="square" rtlCol="0">
            <a:spAutoFit/>
          </a:bodyPr>
          <a:lstStyle/>
          <a:p>
            <a:r>
              <a:rPr lang="en-US" b="1" dirty="0">
                <a:solidFill>
                  <a:schemeClr val="bg1"/>
                </a:solidFill>
                <a:latin typeface="Segoe UI Black" panose="020B0A02040204020203" pitchFamily="34" charset="0"/>
                <a:ea typeface="Segoe UI Black" panose="020B0A02040204020203" pitchFamily="34" charset="0"/>
              </a:rPr>
              <a:t>SUMMARY</a:t>
            </a:r>
            <a:r>
              <a:rPr lang="en-US" dirty="0">
                <a:solidFill>
                  <a:schemeClr val="bg1"/>
                </a:solidFill>
                <a:latin typeface="Segoe UI Black" panose="020B0A02040204020203" pitchFamily="34" charset="0"/>
                <a:ea typeface="Segoe UI Black" panose="020B0A02040204020203" pitchFamily="34" charset="0"/>
              </a:rPr>
              <a:t>;</a:t>
            </a:r>
            <a:r>
              <a:rPr lang="en-US" dirty="0"/>
              <a:t> </a:t>
            </a:r>
            <a:r>
              <a:rPr lang="en-US" b="1" dirty="0">
                <a:solidFill>
                  <a:schemeClr val="bg1"/>
                </a:solidFill>
                <a:latin typeface="Segoe UI Black" panose="020B0A02040204020203" pitchFamily="34" charset="0"/>
                <a:ea typeface="Segoe UI Black" panose="020B0A02040204020203" pitchFamily="34" charset="0"/>
              </a:rPr>
              <a:t>This query is used to find the number of cancelled bookings for each train. The Booking table is joined with the Train table using TrainID to get train names. The WHERE clause filters only those bookings whose status is 'Cancelled’. COUNT(*) calculates the total cancelled bookings for each train.</a:t>
            </a:r>
          </a:p>
          <a:p>
            <a:r>
              <a:rPr lang="en-US" b="1" dirty="0">
                <a:solidFill>
                  <a:schemeClr val="bg1"/>
                </a:solidFill>
                <a:latin typeface="Segoe UI Black" panose="020B0A02040204020203" pitchFamily="34" charset="0"/>
                <a:ea typeface="Segoe UI Black" panose="020B0A02040204020203" pitchFamily="34" charset="0"/>
              </a:rPr>
              <a:t>ROUP BY T.TrainName groups the results train-wise</a:t>
            </a:r>
          </a:p>
          <a:p>
            <a:r>
              <a:rPr lang="en-US" dirty="0">
                <a:solidFill>
                  <a:schemeClr val="bg1"/>
                </a:solidFill>
                <a:latin typeface="Segoe UI Black" panose="020B0A02040204020203" pitchFamily="34" charset="0"/>
                <a:ea typeface="Segoe UI Black" panose="020B0A02040204020203" pitchFamily="34" charset="0"/>
              </a:rPr>
              <a:t> </a:t>
            </a:r>
          </a:p>
        </p:txBody>
      </p:sp>
      <p:sp>
        <p:nvSpPr>
          <p:cNvPr id="8" name="TextBox 7">
            <a:extLst>
              <a:ext uri="{FF2B5EF4-FFF2-40B4-BE49-F238E27FC236}">
                <a16:creationId xmlns:a16="http://schemas.microsoft.com/office/drawing/2014/main" id="{11A03EE2-8A99-3242-3416-629D53B3ED1B}"/>
              </a:ext>
            </a:extLst>
          </p:cNvPr>
          <p:cNvSpPr txBox="1"/>
          <p:nvPr/>
        </p:nvSpPr>
        <p:spPr>
          <a:xfrm>
            <a:off x="2331635" y="1452899"/>
            <a:ext cx="7726766" cy="1477328"/>
          </a:xfrm>
          <a:prstGeom prst="rect">
            <a:avLst/>
          </a:prstGeom>
          <a:noFill/>
        </p:spPr>
        <p:txBody>
          <a:bodyPr wrap="square">
            <a:spAutoFit/>
          </a:bodyPr>
          <a:lstStyle/>
          <a:p>
            <a:r>
              <a:rPr lang="en-US" b="1" dirty="0">
                <a:latin typeface="Daytona" panose="020B0604030500040204" pitchFamily="34" charset="0"/>
                <a:ea typeface="Segoe UI Black" panose="020B0A02040204020203" pitchFamily="34" charset="0"/>
              </a:rPr>
              <a:t>SELECT T.TrainName,COUNT(*) AS CancelledBookings</a:t>
            </a:r>
          </a:p>
          <a:p>
            <a:r>
              <a:rPr lang="en-US" b="1" dirty="0">
                <a:latin typeface="Daytona" panose="020B0604030500040204" pitchFamily="34" charset="0"/>
                <a:ea typeface="Segoe UI Black" panose="020B0A02040204020203" pitchFamily="34" charset="0"/>
              </a:rPr>
              <a:t>FROM Booking B</a:t>
            </a:r>
          </a:p>
          <a:p>
            <a:r>
              <a:rPr lang="en-US" b="1" dirty="0">
                <a:latin typeface="Daytona" panose="020B0604030500040204" pitchFamily="34" charset="0"/>
                <a:ea typeface="Segoe UI Black" panose="020B0A02040204020203" pitchFamily="34" charset="0"/>
              </a:rPr>
              <a:t>JOIN Train T ON B.TrainID = T.TrainID</a:t>
            </a:r>
          </a:p>
          <a:p>
            <a:r>
              <a:rPr lang="en-US" b="1" dirty="0">
                <a:latin typeface="Daytona" panose="020B0604030500040204" pitchFamily="34" charset="0"/>
                <a:ea typeface="Segoe UI Black" panose="020B0A02040204020203" pitchFamily="34" charset="0"/>
              </a:rPr>
              <a:t>WHERE B.Status='Cancelled’</a:t>
            </a:r>
          </a:p>
          <a:p>
            <a:r>
              <a:rPr lang="en-US" b="1" dirty="0">
                <a:latin typeface="Daytona" panose="020B0604030500040204" pitchFamily="34" charset="0"/>
                <a:ea typeface="Segoe UI Black" panose="020B0A02040204020203" pitchFamily="34" charset="0"/>
              </a:rPr>
              <a:t>GROUP BY T.TrainName;</a:t>
            </a:r>
          </a:p>
        </p:txBody>
      </p:sp>
      <p:pic>
        <p:nvPicPr>
          <p:cNvPr id="3" name="Picture 2">
            <a:extLst>
              <a:ext uri="{FF2B5EF4-FFF2-40B4-BE49-F238E27FC236}">
                <a16:creationId xmlns:a16="http://schemas.microsoft.com/office/drawing/2014/main" id="{E5301A6E-F5C4-EE9C-11AB-59C965AE7866}"/>
              </a:ext>
            </a:extLst>
          </p:cNvPr>
          <p:cNvPicPr>
            <a:picLocks noChangeAspect="1"/>
          </p:cNvPicPr>
          <p:nvPr/>
        </p:nvPicPr>
        <p:blipFill>
          <a:blip r:embed="rId4"/>
          <a:stretch>
            <a:fillRect/>
          </a:stretch>
        </p:blipFill>
        <p:spPr>
          <a:xfrm>
            <a:off x="2717005" y="3319439"/>
            <a:ext cx="7386637" cy="1477328"/>
          </a:xfrm>
          <a:prstGeom prst="rect">
            <a:avLst/>
          </a:prstGeom>
          <a:ln w="19050">
            <a:solidFill>
              <a:schemeClr val="tx1"/>
            </a:solidFill>
          </a:ln>
        </p:spPr>
      </p:pic>
    </p:spTree>
    <p:extLst>
      <p:ext uri="{BB962C8B-B14F-4D97-AF65-F5344CB8AC3E}">
        <p14:creationId xmlns:p14="http://schemas.microsoft.com/office/powerpoint/2010/main" val="2626612143"/>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C3EA9D50-817A-9D96-D1C1-F843FE478243}"/>
            </a:ext>
          </a:extLst>
        </p:cNvPr>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69772FC9-073C-D0EF-2AC2-0AEBCEE4F8F3}"/>
              </a:ext>
            </a:extLst>
          </p:cNvPr>
          <p:cNvSpPr/>
          <p:nvPr/>
        </p:nvSpPr>
        <p:spPr>
          <a:xfrm>
            <a:off x="1988736" y="1301860"/>
            <a:ext cx="8665379" cy="1384308"/>
          </a:xfrm>
          <a:prstGeom prst="round2Same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1400" dirty="0"/>
          </a:p>
        </p:txBody>
      </p:sp>
      <p:sp>
        <p:nvSpPr>
          <p:cNvPr id="7" name="Rectangle: Top Corners Rounded 6">
            <a:extLst>
              <a:ext uri="{FF2B5EF4-FFF2-40B4-BE49-F238E27FC236}">
                <a16:creationId xmlns:a16="http://schemas.microsoft.com/office/drawing/2014/main" id="{0FA52779-C022-7FAD-07FA-07D70C5D091E}"/>
              </a:ext>
            </a:extLst>
          </p:cNvPr>
          <p:cNvSpPr/>
          <p:nvPr/>
        </p:nvSpPr>
        <p:spPr>
          <a:xfrm>
            <a:off x="38100" y="5504153"/>
            <a:ext cx="12623800" cy="1384308"/>
          </a:xfrm>
          <a:prstGeom prst="round2SameRect">
            <a:avLst>
              <a:gd name="adj1" fmla="val 16667"/>
              <a:gd name="adj2" fmla="val 0"/>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72" dirty="0"/>
          </a:p>
        </p:txBody>
      </p:sp>
      <p:sp>
        <p:nvSpPr>
          <p:cNvPr id="11" name="TextBox 10">
            <a:extLst>
              <a:ext uri="{FF2B5EF4-FFF2-40B4-BE49-F238E27FC236}">
                <a16:creationId xmlns:a16="http://schemas.microsoft.com/office/drawing/2014/main" id="{EC532287-75A3-6F16-E712-CB789700571E}"/>
              </a:ext>
            </a:extLst>
          </p:cNvPr>
          <p:cNvSpPr txBox="1"/>
          <p:nvPr/>
        </p:nvSpPr>
        <p:spPr>
          <a:xfrm>
            <a:off x="1733549" y="131721"/>
            <a:ext cx="10858501" cy="584775"/>
          </a:xfrm>
          <a:prstGeom prst="rect">
            <a:avLst/>
          </a:prstGeom>
          <a:solidFill>
            <a:schemeClr val="accent4">
              <a:lumMod val="50000"/>
            </a:schemeClr>
          </a:solidFill>
        </p:spPr>
        <p:txBody>
          <a:bodyPr wrap="square" rtlCol="0">
            <a:spAutoFit/>
          </a:bodyPr>
          <a:lstStyle/>
          <a:p>
            <a:pPr algn="ctr"/>
            <a:r>
              <a:rPr lang="en-US" sz="32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  34.Passenger Count by Seat Class</a:t>
            </a:r>
            <a:endParaRPr lang="en-US" sz="28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endParaRPr>
          </a:p>
        </p:txBody>
      </p:sp>
      <p:pic>
        <p:nvPicPr>
          <p:cNvPr id="12" name="Picture 11" descr="A blue and white circular sign with a circular design&#10;&#10;AI-generated content may be incorrect.">
            <a:extLst>
              <a:ext uri="{FF2B5EF4-FFF2-40B4-BE49-F238E27FC236}">
                <a16:creationId xmlns:a16="http://schemas.microsoft.com/office/drawing/2014/main" id="{C5F70589-BAA7-B1C0-A159-B9B32503E6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8047" y="-240071"/>
            <a:ext cx="1411004" cy="1411004"/>
          </a:xfrm>
          <a:prstGeom prst="rect">
            <a:avLst/>
          </a:prstGeom>
        </p:spPr>
      </p:pic>
      <p:sp>
        <p:nvSpPr>
          <p:cNvPr id="13" name="Arrow: Right 12">
            <a:extLst>
              <a:ext uri="{FF2B5EF4-FFF2-40B4-BE49-F238E27FC236}">
                <a16:creationId xmlns:a16="http://schemas.microsoft.com/office/drawing/2014/main" id="{1B0109F9-9B20-E690-0FF1-EBE0ACBD7319}"/>
              </a:ext>
            </a:extLst>
          </p:cNvPr>
          <p:cNvSpPr/>
          <p:nvPr/>
        </p:nvSpPr>
        <p:spPr>
          <a:xfrm>
            <a:off x="1" y="1120494"/>
            <a:ext cx="1772667" cy="1575452"/>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8C71124C-0612-1DA7-3554-A40A52F38162}"/>
              </a:ext>
            </a:extLst>
          </p:cNvPr>
          <p:cNvSpPr txBox="1"/>
          <p:nvPr/>
        </p:nvSpPr>
        <p:spPr>
          <a:xfrm>
            <a:off x="-165386" y="1641052"/>
            <a:ext cx="1766604" cy="584775"/>
          </a:xfrm>
          <a:prstGeom prst="rect">
            <a:avLst/>
          </a:prstGeom>
          <a:noFill/>
        </p:spPr>
        <p:txBody>
          <a:bodyPr wrap="square" rtlCol="0">
            <a:spAutoFit/>
          </a:bodyPr>
          <a:lstStyle/>
          <a:p>
            <a:pPr algn="ctr"/>
            <a:r>
              <a:rPr lang="en-US" sz="3200" b="1" dirty="0"/>
              <a:t>QUERY</a:t>
            </a:r>
          </a:p>
        </p:txBody>
      </p:sp>
      <p:sp>
        <p:nvSpPr>
          <p:cNvPr id="6" name="TextBox 5">
            <a:extLst>
              <a:ext uri="{FF2B5EF4-FFF2-40B4-BE49-F238E27FC236}">
                <a16:creationId xmlns:a16="http://schemas.microsoft.com/office/drawing/2014/main" id="{E85D4CAA-5A4B-2537-6C4E-28157F1C5B5F}"/>
              </a:ext>
            </a:extLst>
          </p:cNvPr>
          <p:cNvSpPr txBox="1"/>
          <p:nvPr/>
        </p:nvSpPr>
        <p:spPr>
          <a:xfrm>
            <a:off x="247649" y="5580352"/>
            <a:ext cx="12363450" cy="1600438"/>
          </a:xfrm>
          <a:prstGeom prst="rect">
            <a:avLst/>
          </a:prstGeom>
          <a:noFill/>
        </p:spPr>
        <p:txBody>
          <a:bodyPr wrap="square" rtlCol="0">
            <a:spAutoFit/>
          </a:bodyPr>
          <a:lstStyle/>
          <a:p>
            <a:r>
              <a:rPr lang="en-US" b="1" dirty="0">
                <a:solidFill>
                  <a:schemeClr val="bg1"/>
                </a:solidFill>
                <a:latin typeface="Segoe UI Black" panose="020B0A02040204020203" pitchFamily="34" charset="0"/>
                <a:ea typeface="Segoe UI Black" panose="020B0A02040204020203" pitchFamily="34" charset="0"/>
              </a:rPr>
              <a:t>SUMMARY</a:t>
            </a:r>
            <a:r>
              <a:rPr lang="en-US" dirty="0">
                <a:solidFill>
                  <a:schemeClr val="bg1"/>
                </a:solidFill>
                <a:latin typeface="Segoe UI Black" panose="020B0A02040204020203" pitchFamily="34" charset="0"/>
                <a:ea typeface="Segoe UI Black" panose="020B0A02040204020203" pitchFamily="34" charset="0"/>
              </a:rPr>
              <a:t>;</a:t>
            </a:r>
            <a:r>
              <a:rPr lang="en-US" dirty="0"/>
              <a:t> </a:t>
            </a:r>
            <a:r>
              <a:rPr lang="en-US" sz="2000" b="1" dirty="0">
                <a:solidFill>
                  <a:schemeClr val="bg1"/>
                </a:solidFill>
                <a:latin typeface="Segoe UI Black" panose="020B0A02040204020203" pitchFamily="34" charset="0"/>
                <a:ea typeface="Segoe UI Black" panose="020B0A02040204020203" pitchFamily="34" charset="0"/>
              </a:rPr>
              <a:t>This query is used to find the total number of passengers for each seat class. The data is grouped by SeatClass from the Booking table. COUNT(*) calculates the number of passengers in each seat class. ORDER BY TotalPassengers DESC sorts the seat classes from highest to lowest passenger count.</a:t>
            </a:r>
          </a:p>
          <a:p>
            <a:r>
              <a:rPr lang="en-US" dirty="0"/>
              <a:t> </a:t>
            </a:r>
            <a:endParaRPr lang="en-US" dirty="0">
              <a:solidFill>
                <a:schemeClr val="bg1"/>
              </a:solidFill>
              <a:latin typeface="Segoe UI Black" panose="020B0A02040204020203" pitchFamily="34" charset="0"/>
              <a:ea typeface="Segoe UI Black" panose="020B0A02040204020203" pitchFamily="34" charset="0"/>
            </a:endParaRPr>
          </a:p>
        </p:txBody>
      </p:sp>
      <p:sp>
        <p:nvSpPr>
          <p:cNvPr id="8" name="TextBox 7">
            <a:extLst>
              <a:ext uri="{FF2B5EF4-FFF2-40B4-BE49-F238E27FC236}">
                <a16:creationId xmlns:a16="http://schemas.microsoft.com/office/drawing/2014/main" id="{76794A86-AAF3-1E5E-BFB9-729833DC8308}"/>
              </a:ext>
            </a:extLst>
          </p:cNvPr>
          <p:cNvSpPr txBox="1"/>
          <p:nvPr/>
        </p:nvSpPr>
        <p:spPr>
          <a:xfrm>
            <a:off x="2477092" y="1333274"/>
            <a:ext cx="7726766" cy="1200329"/>
          </a:xfrm>
          <a:prstGeom prst="rect">
            <a:avLst/>
          </a:prstGeom>
          <a:noFill/>
        </p:spPr>
        <p:txBody>
          <a:bodyPr wrap="square">
            <a:spAutoFit/>
          </a:bodyPr>
          <a:lstStyle/>
          <a:p>
            <a:r>
              <a:rPr lang="en-US" b="1" dirty="0">
                <a:latin typeface="Daytona" panose="020B0604030500040204" pitchFamily="34" charset="0"/>
                <a:ea typeface="Segoe UI Black" panose="020B0A02040204020203" pitchFamily="34" charset="0"/>
              </a:rPr>
              <a:t>SELECT SeatClass,COUNT(*) AS TotalPassengers</a:t>
            </a:r>
          </a:p>
          <a:p>
            <a:r>
              <a:rPr lang="en-US" b="1" dirty="0">
                <a:latin typeface="Daytona" panose="020B0604030500040204" pitchFamily="34" charset="0"/>
                <a:ea typeface="Segoe UI Black" panose="020B0A02040204020203" pitchFamily="34" charset="0"/>
              </a:rPr>
              <a:t>FROM Booking</a:t>
            </a:r>
          </a:p>
          <a:p>
            <a:r>
              <a:rPr lang="en-US" b="1" dirty="0">
                <a:latin typeface="Daytona" panose="020B0604030500040204" pitchFamily="34" charset="0"/>
                <a:ea typeface="Segoe UI Black" panose="020B0A02040204020203" pitchFamily="34" charset="0"/>
              </a:rPr>
              <a:t>GROUP BY SeatClass</a:t>
            </a:r>
          </a:p>
          <a:p>
            <a:r>
              <a:rPr lang="en-US" b="1" dirty="0">
                <a:latin typeface="Daytona" panose="020B0604030500040204" pitchFamily="34" charset="0"/>
                <a:ea typeface="Segoe UI Black" panose="020B0A02040204020203" pitchFamily="34" charset="0"/>
              </a:rPr>
              <a:t>order by TotalPassengers desc;</a:t>
            </a:r>
          </a:p>
        </p:txBody>
      </p:sp>
      <p:pic>
        <p:nvPicPr>
          <p:cNvPr id="4" name="Picture 3">
            <a:extLst>
              <a:ext uri="{FF2B5EF4-FFF2-40B4-BE49-F238E27FC236}">
                <a16:creationId xmlns:a16="http://schemas.microsoft.com/office/drawing/2014/main" id="{5BF79762-ECF2-8F88-0E18-76F3033B9156}"/>
              </a:ext>
            </a:extLst>
          </p:cNvPr>
          <p:cNvPicPr>
            <a:picLocks noChangeAspect="1"/>
          </p:cNvPicPr>
          <p:nvPr/>
        </p:nvPicPr>
        <p:blipFill>
          <a:blip r:embed="rId4"/>
          <a:stretch>
            <a:fillRect/>
          </a:stretch>
        </p:blipFill>
        <p:spPr>
          <a:xfrm>
            <a:off x="4825197" y="2743318"/>
            <a:ext cx="3170254" cy="2721248"/>
          </a:xfrm>
          <a:prstGeom prst="rect">
            <a:avLst/>
          </a:prstGeom>
          <a:ln w="19050">
            <a:solidFill>
              <a:schemeClr val="tx1"/>
            </a:solidFill>
          </a:ln>
        </p:spPr>
      </p:pic>
    </p:spTree>
    <p:extLst>
      <p:ext uri="{BB962C8B-B14F-4D97-AF65-F5344CB8AC3E}">
        <p14:creationId xmlns:p14="http://schemas.microsoft.com/office/powerpoint/2010/main" val="2782529396"/>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D2811E7C-62C9-64C7-94AF-AB806E65EEC8}"/>
            </a:ext>
          </a:extLst>
        </p:cNvPr>
        <p:cNvGrpSpPr/>
        <p:nvPr/>
      </p:nvGrpSpPr>
      <p:grpSpPr>
        <a:xfrm>
          <a:off x="0" y="0"/>
          <a:ext cx="0" cy="0"/>
          <a:chOff x="0" y="0"/>
          <a:chExt cx="0" cy="0"/>
        </a:xfrm>
      </p:grpSpPr>
      <p:sp>
        <p:nvSpPr>
          <p:cNvPr id="5" name="Rectangle: Top Corners Rounded 4">
            <a:extLst>
              <a:ext uri="{FF2B5EF4-FFF2-40B4-BE49-F238E27FC236}">
                <a16:creationId xmlns:a16="http://schemas.microsoft.com/office/drawing/2014/main" id="{BAA4E38F-497F-82A4-845B-C1CC0157BA8F}"/>
              </a:ext>
            </a:extLst>
          </p:cNvPr>
          <p:cNvSpPr/>
          <p:nvPr/>
        </p:nvSpPr>
        <p:spPr>
          <a:xfrm>
            <a:off x="1988736" y="989644"/>
            <a:ext cx="10469964" cy="1784240"/>
          </a:xfrm>
          <a:prstGeom prst="round2Same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1400" dirty="0"/>
          </a:p>
        </p:txBody>
      </p:sp>
      <p:sp>
        <p:nvSpPr>
          <p:cNvPr id="7" name="Rectangle: Top Corners Rounded 6">
            <a:extLst>
              <a:ext uri="{FF2B5EF4-FFF2-40B4-BE49-F238E27FC236}">
                <a16:creationId xmlns:a16="http://schemas.microsoft.com/office/drawing/2014/main" id="{5389D351-532F-2119-3A28-C39844D9F3C9}"/>
              </a:ext>
            </a:extLst>
          </p:cNvPr>
          <p:cNvSpPr/>
          <p:nvPr/>
        </p:nvSpPr>
        <p:spPr>
          <a:xfrm>
            <a:off x="38100" y="5656553"/>
            <a:ext cx="12623800" cy="1384308"/>
          </a:xfrm>
          <a:prstGeom prst="round2SameRect">
            <a:avLst>
              <a:gd name="adj1" fmla="val 16667"/>
              <a:gd name="adj2" fmla="val 0"/>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72" dirty="0"/>
          </a:p>
        </p:txBody>
      </p:sp>
      <p:sp>
        <p:nvSpPr>
          <p:cNvPr id="11" name="TextBox 10">
            <a:extLst>
              <a:ext uri="{FF2B5EF4-FFF2-40B4-BE49-F238E27FC236}">
                <a16:creationId xmlns:a16="http://schemas.microsoft.com/office/drawing/2014/main" id="{6E1356F1-EDC0-4B95-6E7F-88F4C1000A14}"/>
              </a:ext>
            </a:extLst>
          </p:cNvPr>
          <p:cNvSpPr txBox="1"/>
          <p:nvPr/>
        </p:nvSpPr>
        <p:spPr>
          <a:xfrm>
            <a:off x="1733549" y="131721"/>
            <a:ext cx="10858501" cy="584775"/>
          </a:xfrm>
          <a:prstGeom prst="rect">
            <a:avLst/>
          </a:prstGeom>
          <a:solidFill>
            <a:schemeClr val="accent4">
              <a:lumMod val="50000"/>
            </a:schemeClr>
          </a:solidFill>
        </p:spPr>
        <p:txBody>
          <a:bodyPr wrap="square" rtlCol="0">
            <a:spAutoFit/>
          </a:bodyPr>
          <a:lstStyle/>
          <a:p>
            <a:pPr algn="ctr"/>
            <a:r>
              <a:rPr lang="en-US" sz="32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  35. Total Distance Travelled by Each Passenger</a:t>
            </a:r>
            <a:endParaRPr lang="en-US" sz="28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endParaRPr>
          </a:p>
        </p:txBody>
      </p:sp>
      <p:pic>
        <p:nvPicPr>
          <p:cNvPr id="12" name="Picture 11" descr="A blue and white circular sign with a circular design&#10;&#10;AI-generated content may be incorrect.">
            <a:extLst>
              <a:ext uri="{FF2B5EF4-FFF2-40B4-BE49-F238E27FC236}">
                <a16:creationId xmlns:a16="http://schemas.microsoft.com/office/drawing/2014/main" id="{3AA03D18-3629-1CC0-B549-F9BC434C62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8047" y="-240071"/>
            <a:ext cx="1411004" cy="1411004"/>
          </a:xfrm>
          <a:prstGeom prst="rect">
            <a:avLst/>
          </a:prstGeom>
        </p:spPr>
      </p:pic>
      <p:sp>
        <p:nvSpPr>
          <p:cNvPr id="13" name="Arrow: Right 12">
            <a:extLst>
              <a:ext uri="{FF2B5EF4-FFF2-40B4-BE49-F238E27FC236}">
                <a16:creationId xmlns:a16="http://schemas.microsoft.com/office/drawing/2014/main" id="{889C6E30-A37A-461D-A78A-5EE28A1DD895}"/>
              </a:ext>
            </a:extLst>
          </p:cNvPr>
          <p:cNvSpPr/>
          <p:nvPr/>
        </p:nvSpPr>
        <p:spPr>
          <a:xfrm>
            <a:off x="1" y="1120494"/>
            <a:ext cx="1772667" cy="1575452"/>
          </a:xfrm>
          <a:prstGeom prst="rightArrow">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8BF4177E-B822-284B-327C-160D38471AA6}"/>
              </a:ext>
            </a:extLst>
          </p:cNvPr>
          <p:cNvSpPr txBox="1"/>
          <p:nvPr/>
        </p:nvSpPr>
        <p:spPr>
          <a:xfrm>
            <a:off x="-165386" y="1641052"/>
            <a:ext cx="1766604" cy="584775"/>
          </a:xfrm>
          <a:prstGeom prst="rect">
            <a:avLst/>
          </a:prstGeom>
          <a:noFill/>
        </p:spPr>
        <p:txBody>
          <a:bodyPr wrap="square" rtlCol="0">
            <a:spAutoFit/>
          </a:bodyPr>
          <a:lstStyle/>
          <a:p>
            <a:pPr algn="ctr"/>
            <a:r>
              <a:rPr lang="en-US" sz="3200" b="1" dirty="0"/>
              <a:t>QUERY</a:t>
            </a:r>
          </a:p>
        </p:txBody>
      </p:sp>
      <p:sp>
        <p:nvSpPr>
          <p:cNvPr id="6" name="TextBox 5">
            <a:extLst>
              <a:ext uri="{FF2B5EF4-FFF2-40B4-BE49-F238E27FC236}">
                <a16:creationId xmlns:a16="http://schemas.microsoft.com/office/drawing/2014/main" id="{71E3AB0C-886C-D7AB-EA03-387D7F2B82DE}"/>
              </a:ext>
            </a:extLst>
          </p:cNvPr>
          <p:cNvSpPr txBox="1"/>
          <p:nvPr/>
        </p:nvSpPr>
        <p:spPr>
          <a:xfrm>
            <a:off x="247649" y="5604712"/>
            <a:ext cx="12363450" cy="1754326"/>
          </a:xfrm>
          <a:prstGeom prst="rect">
            <a:avLst/>
          </a:prstGeom>
          <a:noFill/>
        </p:spPr>
        <p:txBody>
          <a:bodyPr wrap="square" rtlCol="0">
            <a:spAutoFit/>
          </a:bodyPr>
          <a:lstStyle/>
          <a:p>
            <a:r>
              <a:rPr lang="en-US" b="1" dirty="0">
                <a:solidFill>
                  <a:schemeClr val="bg1"/>
                </a:solidFill>
                <a:latin typeface="Segoe UI Black" panose="020B0A02040204020203" pitchFamily="34" charset="0"/>
                <a:ea typeface="Segoe UI Black" panose="020B0A02040204020203" pitchFamily="34" charset="0"/>
              </a:rPr>
              <a:t>SUMMARY</a:t>
            </a:r>
            <a:r>
              <a:rPr lang="en-US" dirty="0">
                <a:solidFill>
                  <a:schemeClr val="bg1"/>
                </a:solidFill>
                <a:latin typeface="Segoe UI Black" panose="020B0A02040204020203" pitchFamily="34" charset="0"/>
                <a:ea typeface="Segoe UI Black" panose="020B0A02040204020203" pitchFamily="34" charset="0"/>
              </a:rPr>
              <a:t>;</a:t>
            </a:r>
            <a:r>
              <a:rPr lang="en-US" dirty="0"/>
              <a:t> </a:t>
            </a:r>
            <a:r>
              <a:rPr lang="en-US" b="1" dirty="0">
                <a:solidFill>
                  <a:schemeClr val="bg1"/>
                </a:solidFill>
              </a:rPr>
              <a:t>This query calculates the total distance travelled by each passenger across all their journeys.</a:t>
            </a:r>
          </a:p>
          <a:p>
            <a:r>
              <a:rPr lang="en-US" b="1" dirty="0">
                <a:solidFill>
                  <a:schemeClr val="bg1"/>
                </a:solidFill>
              </a:rPr>
              <a:t>It joins the Booking and Route tables using TrainID. The distance travelled between source and destination stations is summed for every passenger. Results are grouped by PassengerName. Passengers are sorted in descending order based on total distance travelled. total number of rows returned: 160, meaning 160 passengers are included in the result</a:t>
            </a:r>
          </a:p>
          <a:p>
            <a:r>
              <a:rPr lang="en-US" dirty="0"/>
              <a:t> </a:t>
            </a:r>
            <a:endParaRPr lang="en-US" dirty="0">
              <a:solidFill>
                <a:schemeClr val="bg1"/>
              </a:solidFill>
              <a:latin typeface="Segoe UI Black" panose="020B0A02040204020203" pitchFamily="34" charset="0"/>
              <a:ea typeface="Segoe UI Black" panose="020B0A02040204020203" pitchFamily="34" charset="0"/>
            </a:endParaRPr>
          </a:p>
        </p:txBody>
      </p:sp>
      <p:sp>
        <p:nvSpPr>
          <p:cNvPr id="8" name="TextBox 7">
            <a:extLst>
              <a:ext uri="{FF2B5EF4-FFF2-40B4-BE49-F238E27FC236}">
                <a16:creationId xmlns:a16="http://schemas.microsoft.com/office/drawing/2014/main" id="{EE9DC90D-F969-4D5F-DA4E-755C436982C0}"/>
              </a:ext>
            </a:extLst>
          </p:cNvPr>
          <p:cNvSpPr txBox="1"/>
          <p:nvPr/>
        </p:nvSpPr>
        <p:spPr>
          <a:xfrm>
            <a:off x="2439051" y="977054"/>
            <a:ext cx="9657700" cy="1754326"/>
          </a:xfrm>
          <a:prstGeom prst="rect">
            <a:avLst/>
          </a:prstGeom>
          <a:noFill/>
        </p:spPr>
        <p:txBody>
          <a:bodyPr wrap="square">
            <a:spAutoFit/>
          </a:bodyPr>
          <a:lstStyle/>
          <a:p>
            <a:r>
              <a:rPr lang="en-US" b="1" dirty="0">
                <a:latin typeface="Daytona" panose="020B0604030500040204" pitchFamily="34" charset="0"/>
                <a:ea typeface="Segoe UI Black" panose="020B0A02040204020203" pitchFamily="34" charset="0"/>
              </a:rPr>
              <a:t>SELECT B.PassengerName,SUM(R.DistanceFromSource) AS TotalDistance</a:t>
            </a:r>
          </a:p>
          <a:p>
            <a:r>
              <a:rPr lang="en-US" b="1" dirty="0">
                <a:latin typeface="Daytona" panose="020B0604030500040204" pitchFamily="34" charset="0"/>
                <a:ea typeface="Segoe UI Black" panose="020B0A02040204020203" pitchFamily="34" charset="0"/>
              </a:rPr>
              <a:t>FROM Booking B</a:t>
            </a:r>
          </a:p>
          <a:p>
            <a:r>
              <a:rPr lang="en-US" b="1" dirty="0">
                <a:latin typeface="Daytona" panose="020B0604030500040204" pitchFamily="34" charset="0"/>
                <a:ea typeface="Segoe UI Black" panose="020B0A02040204020203" pitchFamily="34" charset="0"/>
              </a:rPr>
              <a:t>JOIN Route R ON B.TrainID = R.TrainID</a:t>
            </a:r>
          </a:p>
          <a:p>
            <a:r>
              <a:rPr lang="en-US" b="1" dirty="0">
                <a:latin typeface="Daytona" panose="020B0604030500040204" pitchFamily="34" charset="0"/>
                <a:ea typeface="Segoe UI Black" panose="020B0A02040204020203" pitchFamily="34" charset="0"/>
              </a:rPr>
              <a:t>WHERE R.StationName IN (B.ToStation, B.FromStation)</a:t>
            </a:r>
          </a:p>
          <a:p>
            <a:r>
              <a:rPr lang="en-US" b="1" dirty="0">
                <a:latin typeface="Daytona" panose="020B0604030500040204" pitchFamily="34" charset="0"/>
                <a:ea typeface="Segoe UI Black" panose="020B0A02040204020203" pitchFamily="34" charset="0"/>
              </a:rPr>
              <a:t>GROUP BY B.PassengerName</a:t>
            </a:r>
          </a:p>
          <a:p>
            <a:r>
              <a:rPr lang="en-US" b="1" dirty="0">
                <a:latin typeface="Daytona" panose="020B0604030500040204" pitchFamily="34" charset="0"/>
                <a:ea typeface="Segoe UI Black" panose="020B0A02040204020203" pitchFamily="34" charset="0"/>
              </a:rPr>
              <a:t>order by TotalDistance desc;</a:t>
            </a:r>
          </a:p>
        </p:txBody>
      </p:sp>
      <p:pic>
        <p:nvPicPr>
          <p:cNvPr id="3" name="Picture 2" descr="A screenshot of a computer&#10;&#10;AI-generated content may be incorrect.">
            <a:extLst>
              <a:ext uri="{FF2B5EF4-FFF2-40B4-BE49-F238E27FC236}">
                <a16:creationId xmlns:a16="http://schemas.microsoft.com/office/drawing/2014/main" id="{D96D4F5C-8EE3-C6F7-B34D-5F9CBEB95CAF}"/>
              </a:ext>
            </a:extLst>
          </p:cNvPr>
          <p:cNvPicPr>
            <a:picLocks noChangeAspect="1"/>
          </p:cNvPicPr>
          <p:nvPr/>
        </p:nvPicPr>
        <p:blipFill>
          <a:blip r:embed="rId4"/>
          <a:stretch>
            <a:fillRect/>
          </a:stretch>
        </p:blipFill>
        <p:spPr>
          <a:xfrm>
            <a:off x="4873770" y="2831245"/>
            <a:ext cx="3111207" cy="2860742"/>
          </a:xfrm>
          <a:prstGeom prst="rect">
            <a:avLst/>
          </a:prstGeom>
          <a:ln w="19050">
            <a:solidFill>
              <a:schemeClr val="tx1"/>
            </a:solidFill>
          </a:ln>
        </p:spPr>
      </p:pic>
    </p:spTree>
    <p:extLst>
      <p:ext uri="{BB962C8B-B14F-4D97-AF65-F5344CB8AC3E}">
        <p14:creationId xmlns:p14="http://schemas.microsoft.com/office/powerpoint/2010/main" val="882655329"/>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84F6A12A-BABC-9B28-4DAA-62C90FE20FA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990E0DC-73FC-02CD-CAF7-4160E1004110}"/>
              </a:ext>
            </a:extLst>
          </p:cNvPr>
          <p:cNvSpPr txBox="1"/>
          <p:nvPr/>
        </p:nvSpPr>
        <p:spPr>
          <a:xfrm>
            <a:off x="3740150" y="2823368"/>
            <a:ext cx="4794250" cy="923330"/>
          </a:xfrm>
          <a:prstGeom prst="rect">
            <a:avLst/>
          </a:prstGeom>
          <a:noFill/>
        </p:spPr>
        <p:txBody>
          <a:bodyPr wrap="square" rtlCol="0">
            <a:spAutoFit/>
          </a:bodyPr>
          <a:lstStyle/>
          <a:p>
            <a:pPr algn="ctr"/>
            <a:r>
              <a:rPr lang="en-US" sz="5400" u="sng" dirty="0">
                <a:solidFill>
                  <a:schemeClr val="bg1"/>
                </a:solidFill>
              </a:rPr>
              <a:t>THYANK YOU</a:t>
            </a:r>
          </a:p>
        </p:txBody>
      </p:sp>
    </p:spTree>
    <p:extLst>
      <p:ext uri="{BB962C8B-B14F-4D97-AF65-F5344CB8AC3E}">
        <p14:creationId xmlns:p14="http://schemas.microsoft.com/office/powerpoint/2010/main" val="2439365925"/>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1545</TotalTime>
  <Words>3924</Words>
  <Application>Microsoft Office PowerPoint</Application>
  <PresentationFormat>Custom</PresentationFormat>
  <Paragraphs>353</Paragraphs>
  <Slides>42</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42</vt:i4>
      </vt:variant>
    </vt:vector>
  </HeadingPairs>
  <TitlesOfParts>
    <vt:vector size="51" baseType="lpstr">
      <vt:lpstr>ADLaM Display</vt:lpstr>
      <vt:lpstr>Amasis MT Pro Black</vt:lpstr>
      <vt:lpstr>Aptos</vt:lpstr>
      <vt:lpstr>Aptos Display</vt:lpstr>
      <vt:lpstr>Aptos Slab ExtraBold</vt:lpstr>
      <vt:lpstr>Arial</vt:lpstr>
      <vt:lpstr>Daytona</vt:lpstr>
      <vt:lpstr>Segoe UI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BCS</dc:creator>
  <cp:lastModifiedBy>BCS</cp:lastModifiedBy>
  <cp:revision>5</cp:revision>
  <dcterms:created xsi:type="dcterms:W3CDTF">2025-12-23T11:23:20Z</dcterms:created>
  <dcterms:modified xsi:type="dcterms:W3CDTF">2025-12-27T15:51:57Z</dcterms:modified>
</cp:coreProperties>
</file>